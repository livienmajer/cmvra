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3" r:id="rId3"/>
  </p:sldMasterIdLst>
  <p:notesMasterIdLst>
    <p:notesMasterId r:id="rId48"/>
  </p:notesMasterIdLst>
  <p:sldIdLst>
    <p:sldId id="256" r:id="rId4"/>
    <p:sldId id="261" r:id="rId5"/>
    <p:sldId id="311" r:id="rId6"/>
    <p:sldId id="332" r:id="rId7"/>
    <p:sldId id="331" r:id="rId8"/>
    <p:sldId id="321" r:id="rId9"/>
    <p:sldId id="333" r:id="rId10"/>
    <p:sldId id="335" r:id="rId11"/>
    <p:sldId id="394" r:id="rId12"/>
    <p:sldId id="395" r:id="rId13"/>
    <p:sldId id="396" r:id="rId14"/>
    <p:sldId id="393" r:id="rId15"/>
    <p:sldId id="336" r:id="rId16"/>
    <p:sldId id="401" r:id="rId17"/>
    <p:sldId id="398" r:id="rId18"/>
    <p:sldId id="399" r:id="rId19"/>
    <p:sldId id="400" r:id="rId20"/>
    <p:sldId id="280" r:id="rId21"/>
    <p:sldId id="397" r:id="rId22"/>
    <p:sldId id="402" r:id="rId23"/>
    <p:sldId id="346" r:id="rId24"/>
    <p:sldId id="339" r:id="rId25"/>
    <p:sldId id="353" r:id="rId26"/>
    <p:sldId id="365" r:id="rId27"/>
    <p:sldId id="344" r:id="rId28"/>
    <p:sldId id="347" r:id="rId29"/>
    <p:sldId id="338" r:id="rId30"/>
    <p:sldId id="367" r:id="rId31"/>
    <p:sldId id="350" r:id="rId32"/>
    <p:sldId id="366" r:id="rId33"/>
    <p:sldId id="387" r:id="rId34"/>
    <p:sldId id="379" r:id="rId35"/>
    <p:sldId id="382" r:id="rId36"/>
    <p:sldId id="383" r:id="rId37"/>
    <p:sldId id="374" r:id="rId38"/>
    <p:sldId id="342" r:id="rId39"/>
    <p:sldId id="357" r:id="rId40"/>
    <p:sldId id="360" r:id="rId41"/>
    <p:sldId id="362" r:id="rId42"/>
    <p:sldId id="363" r:id="rId43"/>
    <p:sldId id="364" r:id="rId44"/>
    <p:sldId id="361" r:id="rId45"/>
    <p:sldId id="359" r:id="rId46"/>
    <p:sldId id="358" r:id="rId4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147" autoAdjust="0"/>
  </p:normalViewPr>
  <p:slideViewPr>
    <p:cSldViewPr snapToGrid="0">
      <p:cViewPr varScale="1">
        <p:scale>
          <a:sx n="118" d="100"/>
          <a:sy n="118" d="100"/>
        </p:scale>
        <p:origin x="586" y="6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8620FF-A6AD-436A-A783-C1B3C98B54D3}" type="doc">
      <dgm:prSet loTypeId="urn:microsoft.com/office/officeart/2005/8/layout/hProcess9" loCatId="process" qsTypeId="urn:microsoft.com/office/officeart/2005/8/quickstyle/simple1" qsCatId="simple" csTypeId="urn:microsoft.com/office/officeart/2005/8/colors/accent1_2" csCatId="accent1" phldr="1"/>
      <dgm:spPr/>
    </dgm:pt>
    <dgm:pt modelId="{A9B603A5-E31C-49D5-A31B-D287EABB485A}">
      <dgm:prSet phldrT="[Text]"/>
      <dgm:spPr/>
      <dgm:t>
        <a:bodyPr/>
        <a:lstStyle/>
        <a:p>
          <a:r>
            <a:rPr lang="de-DE" dirty="0"/>
            <a:t>Fine-tuning  CLIP-</a:t>
          </a:r>
          <a:r>
            <a:rPr lang="de-DE" dirty="0" err="1"/>
            <a:t>ViP</a:t>
          </a:r>
          <a:endParaRPr lang="de-DE" dirty="0"/>
        </a:p>
      </dgm:t>
    </dgm:pt>
    <dgm:pt modelId="{62F57E5C-94D2-400F-8F21-FB82A529F913}" type="parTrans" cxnId="{5E55928E-91B6-4EC0-A862-2ED7CAE9DEDF}">
      <dgm:prSet/>
      <dgm:spPr/>
      <dgm:t>
        <a:bodyPr/>
        <a:lstStyle/>
        <a:p>
          <a:endParaRPr lang="de-DE"/>
        </a:p>
      </dgm:t>
    </dgm:pt>
    <dgm:pt modelId="{B4D54B81-0A3E-4005-92D8-B695CD994F39}" type="sibTrans" cxnId="{5E55928E-91B6-4EC0-A862-2ED7CAE9DEDF}">
      <dgm:prSet/>
      <dgm:spPr/>
      <dgm:t>
        <a:bodyPr/>
        <a:lstStyle/>
        <a:p>
          <a:endParaRPr lang="de-DE"/>
        </a:p>
      </dgm:t>
    </dgm:pt>
    <dgm:pt modelId="{649D746D-F3DB-410B-9472-8E769F27E20A}">
      <dgm:prSet phldrT="[Text]"/>
      <dgm:spPr/>
      <dgm:t>
        <a:bodyPr/>
        <a:lstStyle/>
        <a:p>
          <a:r>
            <a:rPr lang="en-AU" noProof="0" dirty="0"/>
            <a:t>Alignment to RGB for different modality pairs</a:t>
          </a:r>
        </a:p>
      </dgm:t>
    </dgm:pt>
    <dgm:pt modelId="{CEDFEC8C-65BA-49D5-8009-6E3576095EBB}" type="parTrans" cxnId="{10101283-9AEC-46C4-8517-427684326338}">
      <dgm:prSet/>
      <dgm:spPr/>
      <dgm:t>
        <a:bodyPr/>
        <a:lstStyle/>
        <a:p>
          <a:endParaRPr lang="de-DE"/>
        </a:p>
      </dgm:t>
    </dgm:pt>
    <dgm:pt modelId="{E3F9DABC-73A0-4E6E-A29F-D1B4BFA008F8}" type="sibTrans" cxnId="{10101283-9AEC-46C4-8517-427684326338}">
      <dgm:prSet/>
      <dgm:spPr/>
      <dgm:t>
        <a:bodyPr/>
        <a:lstStyle/>
        <a:p>
          <a:endParaRPr lang="de-DE"/>
        </a:p>
      </dgm:t>
    </dgm:pt>
    <dgm:pt modelId="{B63B3BF1-B7DB-4E0C-B91D-63BE0CA54CBB}">
      <dgm:prSet phldrT="[Text]"/>
      <dgm:spPr/>
      <dgm:t>
        <a:bodyPr/>
        <a:lstStyle/>
        <a:p>
          <a:r>
            <a:rPr lang="en-AU" noProof="0" dirty="0"/>
            <a:t>Evaluation</a:t>
          </a:r>
        </a:p>
        <a:p>
          <a:r>
            <a:rPr lang="en-AU" noProof="0" dirty="0"/>
            <a:t>LEP</a:t>
          </a:r>
        </a:p>
        <a:p>
          <a:r>
            <a:rPr lang="en-AU" noProof="0" dirty="0"/>
            <a:t>Retrieval</a:t>
          </a:r>
        </a:p>
        <a:p>
          <a:r>
            <a:rPr lang="en-AU" noProof="0" dirty="0"/>
            <a:t>Fusion</a:t>
          </a:r>
          <a:endParaRPr lang="de-DE" dirty="0"/>
        </a:p>
      </dgm:t>
    </dgm:pt>
    <dgm:pt modelId="{5E336261-5CCE-4367-A518-A80F69113014}" type="parTrans" cxnId="{FF70C639-B2C3-4A6A-B0F0-F11B75735D2D}">
      <dgm:prSet/>
      <dgm:spPr/>
      <dgm:t>
        <a:bodyPr/>
        <a:lstStyle/>
        <a:p>
          <a:endParaRPr lang="de-DE"/>
        </a:p>
      </dgm:t>
    </dgm:pt>
    <dgm:pt modelId="{B70B6E94-A629-4EA1-9D98-C5E241B3DC00}" type="sibTrans" cxnId="{FF70C639-B2C3-4A6A-B0F0-F11B75735D2D}">
      <dgm:prSet/>
      <dgm:spPr/>
      <dgm:t>
        <a:bodyPr/>
        <a:lstStyle/>
        <a:p>
          <a:endParaRPr lang="de-DE"/>
        </a:p>
      </dgm:t>
    </dgm:pt>
    <dgm:pt modelId="{69C4B396-05ED-458F-9363-26DB698714A0}" type="pres">
      <dgm:prSet presAssocID="{898620FF-A6AD-436A-A783-C1B3C98B54D3}" presName="CompostProcess" presStyleCnt="0">
        <dgm:presLayoutVars>
          <dgm:dir/>
          <dgm:resizeHandles val="exact"/>
        </dgm:presLayoutVars>
      </dgm:prSet>
      <dgm:spPr/>
    </dgm:pt>
    <dgm:pt modelId="{F2EBD7EB-E9AB-4119-BFD9-F85C98BBCCC5}" type="pres">
      <dgm:prSet presAssocID="{898620FF-A6AD-436A-A783-C1B3C98B54D3}" presName="arrow" presStyleLbl="bgShp" presStyleIdx="0" presStyleCnt="1"/>
      <dgm:spPr/>
    </dgm:pt>
    <dgm:pt modelId="{443C0544-0115-4D38-9731-CC79947C6719}" type="pres">
      <dgm:prSet presAssocID="{898620FF-A6AD-436A-A783-C1B3C98B54D3}" presName="linearProcess" presStyleCnt="0"/>
      <dgm:spPr/>
    </dgm:pt>
    <dgm:pt modelId="{8E27EFE4-FC3A-482A-88F9-71C39DEB85DD}" type="pres">
      <dgm:prSet presAssocID="{A9B603A5-E31C-49D5-A31B-D287EABB485A}" presName="textNode" presStyleLbl="node1" presStyleIdx="0" presStyleCnt="3">
        <dgm:presLayoutVars>
          <dgm:bulletEnabled val="1"/>
        </dgm:presLayoutVars>
      </dgm:prSet>
      <dgm:spPr/>
    </dgm:pt>
    <dgm:pt modelId="{0C2A6BB1-478C-4E95-B4D7-E304AD29B4CC}" type="pres">
      <dgm:prSet presAssocID="{B4D54B81-0A3E-4005-92D8-B695CD994F39}" presName="sibTrans" presStyleCnt="0"/>
      <dgm:spPr/>
    </dgm:pt>
    <dgm:pt modelId="{D761A8D5-372B-4EE0-A453-0D40BF2B17E1}" type="pres">
      <dgm:prSet presAssocID="{649D746D-F3DB-410B-9472-8E769F27E20A}" presName="textNode" presStyleLbl="node1" presStyleIdx="1" presStyleCnt="3">
        <dgm:presLayoutVars>
          <dgm:bulletEnabled val="1"/>
        </dgm:presLayoutVars>
      </dgm:prSet>
      <dgm:spPr/>
    </dgm:pt>
    <dgm:pt modelId="{28BE85D3-1D4D-42F6-9FEC-CECCD533C801}" type="pres">
      <dgm:prSet presAssocID="{E3F9DABC-73A0-4E6E-A29F-D1B4BFA008F8}" presName="sibTrans" presStyleCnt="0"/>
      <dgm:spPr/>
    </dgm:pt>
    <dgm:pt modelId="{49F62A63-7438-42DA-8F56-8D7B309CA3C4}" type="pres">
      <dgm:prSet presAssocID="{B63B3BF1-B7DB-4E0C-B91D-63BE0CA54CBB}" presName="textNode" presStyleLbl="node1" presStyleIdx="2" presStyleCnt="3">
        <dgm:presLayoutVars>
          <dgm:bulletEnabled val="1"/>
        </dgm:presLayoutVars>
      </dgm:prSet>
      <dgm:spPr/>
    </dgm:pt>
  </dgm:ptLst>
  <dgm:cxnLst>
    <dgm:cxn modelId="{FF70C639-B2C3-4A6A-B0F0-F11B75735D2D}" srcId="{898620FF-A6AD-436A-A783-C1B3C98B54D3}" destId="{B63B3BF1-B7DB-4E0C-B91D-63BE0CA54CBB}" srcOrd="2" destOrd="0" parTransId="{5E336261-5CCE-4367-A518-A80F69113014}" sibTransId="{B70B6E94-A629-4EA1-9D98-C5E241B3DC00}"/>
    <dgm:cxn modelId="{10101283-9AEC-46C4-8517-427684326338}" srcId="{898620FF-A6AD-436A-A783-C1B3C98B54D3}" destId="{649D746D-F3DB-410B-9472-8E769F27E20A}" srcOrd="1" destOrd="0" parTransId="{CEDFEC8C-65BA-49D5-8009-6E3576095EBB}" sibTransId="{E3F9DABC-73A0-4E6E-A29F-D1B4BFA008F8}"/>
    <dgm:cxn modelId="{5E55928E-91B6-4EC0-A862-2ED7CAE9DEDF}" srcId="{898620FF-A6AD-436A-A783-C1B3C98B54D3}" destId="{A9B603A5-E31C-49D5-A31B-D287EABB485A}" srcOrd="0" destOrd="0" parTransId="{62F57E5C-94D2-400F-8F21-FB82A529F913}" sibTransId="{B4D54B81-0A3E-4005-92D8-B695CD994F39}"/>
    <dgm:cxn modelId="{FF5C3890-14A3-4350-808E-3AF99A6573BD}" type="presOf" srcId="{B63B3BF1-B7DB-4E0C-B91D-63BE0CA54CBB}" destId="{49F62A63-7438-42DA-8F56-8D7B309CA3C4}" srcOrd="0" destOrd="0" presId="urn:microsoft.com/office/officeart/2005/8/layout/hProcess9"/>
    <dgm:cxn modelId="{F245A792-7D12-43EA-8EC3-D8BABC8D3817}" type="presOf" srcId="{898620FF-A6AD-436A-A783-C1B3C98B54D3}" destId="{69C4B396-05ED-458F-9363-26DB698714A0}" srcOrd="0" destOrd="0" presId="urn:microsoft.com/office/officeart/2005/8/layout/hProcess9"/>
    <dgm:cxn modelId="{2DFE63A5-21D9-4ACE-A8F9-4B51AD686642}" type="presOf" srcId="{A9B603A5-E31C-49D5-A31B-D287EABB485A}" destId="{8E27EFE4-FC3A-482A-88F9-71C39DEB85DD}" srcOrd="0" destOrd="0" presId="urn:microsoft.com/office/officeart/2005/8/layout/hProcess9"/>
    <dgm:cxn modelId="{1F3FA2FC-62B6-4C99-BEA0-658C0C794339}" type="presOf" srcId="{649D746D-F3DB-410B-9472-8E769F27E20A}" destId="{D761A8D5-372B-4EE0-A453-0D40BF2B17E1}" srcOrd="0" destOrd="0" presId="urn:microsoft.com/office/officeart/2005/8/layout/hProcess9"/>
    <dgm:cxn modelId="{5BCE7443-E3FC-4EA9-BFE8-39439621C131}" type="presParOf" srcId="{69C4B396-05ED-458F-9363-26DB698714A0}" destId="{F2EBD7EB-E9AB-4119-BFD9-F85C98BBCCC5}" srcOrd="0" destOrd="0" presId="urn:microsoft.com/office/officeart/2005/8/layout/hProcess9"/>
    <dgm:cxn modelId="{872D27BB-BE4E-4B47-97EC-A40035CE551F}" type="presParOf" srcId="{69C4B396-05ED-458F-9363-26DB698714A0}" destId="{443C0544-0115-4D38-9731-CC79947C6719}" srcOrd="1" destOrd="0" presId="urn:microsoft.com/office/officeart/2005/8/layout/hProcess9"/>
    <dgm:cxn modelId="{F47CA12C-C5D3-4867-A01E-1AC21997EB05}" type="presParOf" srcId="{443C0544-0115-4D38-9731-CC79947C6719}" destId="{8E27EFE4-FC3A-482A-88F9-71C39DEB85DD}" srcOrd="0" destOrd="0" presId="urn:microsoft.com/office/officeart/2005/8/layout/hProcess9"/>
    <dgm:cxn modelId="{F179D808-4C61-47F7-9445-DC370F69BA74}" type="presParOf" srcId="{443C0544-0115-4D38-9731-CC79947C6719}" destId="{0C2A6BB1-478C-4E95-B4D7-E304AD29B4CC}" srcOrd="1" destOrd="0" presId="urn:microsoft.com/office/officeart/2005/8/layout/hProcess9"/>
    <dgm:cxn modelId="{4296EC96-B052-44A6-9CA5-F6DDC1D3FB35}" type="presParOf" srcId="{443C0544-0115-4D38-9731-CC79947C6719}" destId="{D761A8D5-372B-4EE0-A453-0D40BF2B17E1}" srcOrd="2" destOrd="0" presId="urn:microsoft.com/office/officeart/2005/8/layout/hProcess9"/>
    <dgm:cxn modelId="{369F6DE8-64FD-49C1-A2A6-2E8D9C00EE06}" type="presParOf" srcId="{443C0544-0115-4D38-9731-CC79947C6719}" destId="{28BE85D3-1D4D-42F6-9FEC-CECCD533C801}" srcOrd="3" destOrd="0" presId="urn:microsoft.com/office/officeart/2005/8/layout/hProcess9"/>
    <dgm:cxn modelId="{18FE4597-04CA-47AC-B6B1-5CD6F3006583}" type="presParOf" srcId="{443C0544-0115-4D38-9731-CC79947C6719}" destId="{49F62A63-7438-42DA-8F56-8D7B309CA3C4}"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8620FF-A6AD-436A-A783-C1B3C98B54D3}" type="doc">
      <dgm:prSet loTypeId="urn:microsoft.com/office/officeart/2005/8/layout/hProcess9" loCatId="process" qsTypeId="urn:microsoft.com/office/officeart/2005/8/quickstyle/simple1" qsCatId="simple" csTypeId="urn:microsoft.com/office/officeart/2005/8/colors/accent1_2" csCatId="accent1" phldr="1"/>
      <dgm:spPr/>
    </dgm:pt>
    <dgm:pt modelId="{A9B603A5-E31C-49D5-A31B-D287EABB485A}">
      <dgm:prSet phldrT="[Text]"/>
      <dgm:spPr>
        <a:solidFill>
          <a:schemeClr val="bg2"/>
        </a:solidFill>
      </dgm:spPr>
      <dgm:t>
        <a:bodyPr/>
        <a:lstStyle/>
        <a:p>
          <a:r>
            <a:rPr lang="de-DE" dirty="0"/>
            <a:t>Finetuning  CLIP-VIP</a:t>
          </a:r>
        </a:p>
      </dgm:t>
    </dgm:pt>
    <dgm:pt modelId="{62F57E5C-94D2-400F-8F21-FB82A529F913}" type="parTrans" cxnId="{5E55928E-91B6-4EC0-A862-2ED7CAE9DEDF}">
      <dgm:prSet/>
      <dgm:spPr/>
      <dgm:t>
        <a:bodyPr/>
        <a:lstStyle/>
        <a:p>
          <a:endParaRPr lang="de-DE"/>
        </a:p>
      </dgm:t>
    </dgm:pt>
    <dgm:pt modelId="{B4D54B81-0A3E-4005-92D8-B695CD994F39}" type="sibTrans" cxnId="{5E55928E-91B6-4EC0-A862-2ED7CAE9DEDF}">
      <dgm:prSet/>
      <dgm:spPr/>
      <dgm:t>
        <a:bodyPr/>
        <a:lstStyle/>
        <a:p>
          <a:endParaRPr lang="de-DE"/>
        </a:p>
      </dgm:t>
    </dgm:pt>
    <dgm:pt modelId="{649D746D-F3DB-410B-9472-8E769F27E20A}">
      <dgm:prSet phldrT="[Text]"/>
      <dgm:spPr>
        <a:solidFill>
          <a:schemeClr val="accent1"/>
        </a:solidFill>
      </dgm:spPr>
      <dgm:t>
        <a:bodyPr/>
        <a:lstStyle/>
        <a:p>
          <a:r>
            <a:rPr lang="en-AU" noProof="0" dirty="0"/>
            <a:t>Alignment to RGB for different modality pairs</a:t>
          </a:r>
        </a:p>
      </dgm:t>
    </dgm:pt>
    <dgm:pt modelId="{CEDFEC8C-65BA-49D5-8009-6E3576095EBB}" type="parTrans" cxnId="{10101283-9AEC-46C4-8517-427684326338}">
      <dgm:prSet/>
      <dgm:spPr/>
      <dgm:t>
        <a:bodyPr/>
        <a:lstStyle/>
        <a:p>
          <a:endParaRPr lang="de-DE"/>
        </a:p>
      </dgm:t>
    </dgm:pt>
    <dgm:pt modelId="{E3F9DABC-73A0-4E6E-A29F-D1B4BFA008F8}" type="sibTrans" cxnId="{10101283-9AEC-46C4-8517-427684326338}">
      <dgm:prSet/>
      <dgm:spPr/>
      <dgm:t>
        <a:bodyPr/>
        <a:lstStyle/>
        <a:p>
          <a:endParaRPr lang="de-DE"/>
        </a:p>
      </dgm:t>
    </dgm:pt>
    <dgm:pt modelId="{B63B3BF1-B7DB-4E0C-B91D-63BE0CA54CBB}">
      <dgm:prSet phldrT="[Text]"/>
      <dgm:spPr>
        <a:solidFill>
          <a:schemeClr val="bg2"/>
        </a:solidFill>
      </dgm:spPr>
      <dgm:t>
        <a:bodyPr/>
        <a:lstStyle/>
        <a:p>
          <a:r>
            <a:rPr lang="en-AU" noProof="0" dirty="0"/>
            <a:t>Linear Classifier</a:t>
          </a:r>
        </a:p>
        <a:p>
          <a:r>
            <a:rPr lang="en-AU" noProof="0" dirty="0"/>
            <a:t>Evaluation</a:t>
          </a:r>
          <a:endParaRPr lang="de-DE" dirty="0"/>
        </a:p>
      </dgm:t>
    </dgm:pt>
    <dgm:pt modelId="{5E336261-5CCE-4367-A518-A80F69113014}" type="parTrans" cxnId="{FF70C639-B2C3-4A6A-B0F0-F11B75735D2D}">
      <dgm:prSet/>
      <dgm:spPr/>
      <dgm:t>
        <a:bodyPr/>
        <a:lstStyle/>
        <a:p>
          <a:endParaRPr lang="de-DE"/>
        </a:p>
      </dgm:t>
    </dgm:pt>
    <dgm:pt modelId="{B70B6E94-A629-4EA1-9D98-C5E241B3DC00}" type="sibTrans" cxnId="{FF70C639-B2C3-4A6A-B0F0-F11B75735D2D}">
      <dgm:prSet/>
      <dgm:spPr/>
      <dgm:t>
        <a:bodyPr/>
        <a:lstStyle/>
        <a:p>
          <a:endParaRPr lang="de-DE"/>
        </a:p>
      </dgm:t>
    </dgm:pt>
    <dgm:pt modelId="{69C4B396-05ED-458F-9363-26DB698714A0}" type="pres">
      <dgm:prSet presAssocID="{898620FF-A6AD-436A-A783-C1B3C98B54D3}" presName="CompostProcess" presStyleCnt="0">
        <dgm:presLayoutVars>
          <dgm:dir/>
          <dgm:resizeHandles val="exact"/>
        </dgm:presLayoutVars>
      </dgm:prSet>
      <dgm:spPr/>
    </dgm:pt>
    <dgm:pt modelId="{F2EBD7EB-E9AB-4119-BFD9-F85C98BBCCC5}" type="pres">
      <dgm:prSet presAssocID="{898620FF-A6AD-436A-A783-C1B3C98B54D3}" presName="arrow" presStyleLbl="bgShp" presStyleIdx="0" presStyleCnt="1"/>
      <dgm:spPr/>
    </dgm:pt>
    <dgm:pt modelId="{443C0544-0115-4D38-9731-CC79947C6719}" type="pres">
      <dgm:prSet presAssocID="{898620FF-A6AD-436A-A783-C1B3C98B54D3}" presName="linearProcess" presStyleCnt="0"/>
      <dgm:spPr/>
    </dgm:pt>
    <dgm:pt modelId="{8E27EFE4-FC3A-482A-88F9-71C39DEB85DD}" type="pres">
      <dgm:prSet presAssocID="{A9B603A5-E31C-49D5-A31B-D287EABB485A}" presName="textNode" presStyleLbl="node1" presStyleIdx="0" presStyleCnt="3">
        <dgm:presLayoutVars>
          <dgm:bulletEnabled val="1"/>
        </dgm:presLayoutVars>
      </dgm:prSet>
      <dgm:spPr/>
    </dgm:pt>
    <dgm:pt modelId="{0C2A6BB1-478C-4E95-B4D7-E304AD29B4CC}" type="pres">
      <dgm:prSet presAssocID="{B4D54B81-0A3E-4005-92D8-B695CD994F39}" presName="sibTrans" presStyleCnt="0"/>
      <dgm:spPr/>
    </dgm:pt>
    <dgm:pt modelId="{D761A8D5-372B-4EE0-A453-0D40BF2B17E1}" type="pres">
      <dgm:prSet presAssocID="{649D746D-F3DB-410B-9472-8E769F27E20A}" presName="textNode" presStyleLbl="node1" presStyleIdx="1" presStyleCnt="3">
        <dgm:presLayoutVars>
          <dgm:bulletEnabled val="1"/>
        </dgm:presLayoutVars>
      </dgm:prSet>
      <dgm:spPr/>
    </dgm:pt>
    <dgm:pt modelId="{28BE85D3-1D4D-42F6-9FEC-CECCD533C801}" type="pres">
      <dgm:prSet presAssocID="{E3F9DABC-73A0-4E6E-A29F-D1B4BFA008F8}" presName="sibTrans" presStyleCnt="0"/>
      <dgm:spPr/>
    </dgm:pt>
    <dgm:pt modelId="{49F62A63-7438-42DA-8F56-8D7B309CA3C4}" type="pres">
      <dgm:prSet presAssocID="{B63B3BF1-B7DB-4E0C-B91D-63BE0CA54CBB}" presName="textNode" presStyleLbl="node1" presStyleIdx="2" presStyleCnt="3">
        <dgm:presLayoutVars>
          <dgm:bulletEnabled val="1"/>
        </dgm:presLayoutVars>
      </dgm:prSet>
      <dgm:spPr/>
    </dgm:pt>
  </dgm:ptLst>
  <dgm:cxnLst>
    <dgm:cxn modelId="{FF70C639-B2C3-4A6A-B0F0-F11B75735D2D}" srcId="{898620FF-A6AD-436A-A783-C1B3C98B54D3}" destId="{B63B3BF1-B7DB-4E0C-B91D-63BE0CA54CBB}" srcOrd="2" destOrd="0" parTransId="{5E336261-5CCE-4367-A518-A80F69113014}" sibTransId="{B70B6E94-A629-4EA1-9D98-C5E241B3DC00}"/>
    <dgm:cxn modelId="{10101283-9AEC-46C4-8517-427684326338}" srcId="{898620FF-A6AD-436A-A783-C1B3C98B54D3}" destId="{649D746D-F3DB-410B-9472-8E769F27E20A}" srcOrd="1" destOrd="0" parTransId="{CEDFEC8C-65BA-49D5-8009-6E3576095EBB}" sibTransId="{E3F9DABC-73A0-4E6E-A29F-D1B4BFA008F8}"/>
    <dgm:cxn modelId="{5E55928E-91B6-4EC0-A862-2ED7CAE9DEDF}" srcId="{898620FF-A6AD-436A-A783-C1B3C98B54D3}" destId="{A9B603A5-E31C-49D5-A31B-D287EABB485A}" srcOrd="0" destOrd="0" parTransId="{62F57E5C-94D2-400F-8F21-FB82A529F913}" sibTransId="{B4D54B81-0A3E-4005-92D8-B695CD994F39}"/>
    <dgm:cxn modelId="{FF5C3890-14A3-4350-808E-3AF99A6573BD}" type="presOf" srcId="{B63B3BF1-B7DB-4E0C-B91D-63BE0CA54CBB}" destId="{49F62A63-7438-42DA-8F56-8D7B309CA3C4}" srcOrd="0" destOrd="0" presId="urn:microsoft.com/office/officeart/2005/8/layout/hProcess9"/>
    <dgm:cxn modelId="{F245A792-7D12-43EA-8EC3-D8BABC8D3817}" type="presOf" srcId="{898620FF-A6AD-436A-A783-C1B3C98B54D3}" destId="{69C4B396-05ED-458F-9363-26DB698714A0}" srcOrd="0" destOrd="0" presId="urn:microsoft.com/office/officeart/2005/8/layout/hProcess9"/>
    <dgm:cxn modelId="{2DFE63A5-21D9-4ACE-A8F9-4B51AD686642}" type="presOf" srcId="{A9B603A5-E31C-49D5-A31B-D287EABB485A}" destId="{8E27EFE4-FC3A-482A-88F9-71C39DEB85DD}" srcOrd="0" destOrd="0" presId="urn:microsoft.com/office/officeart/2005/8/layout/hProcess9"/>
    <dgm:cxn modelId="{1F3FA2FC-62B6-4C99-BEA0-658C0C794339}" type="presOf" srcId="{649D746D-F3DB-410B-9472-8E769F27E20A}" destId="{D761A8D5-372B-4EE0-A453-0D40BF2B17E1}" srcOrd="0" destOrd="0" presId="urn:microsoft.com/office/officeart/2005/8/layout/hProcess9"/>
    <dgm:cxn modelId="{5BCE7443-E3FC-4EA9-BFE8-39439621C131}" type="presParOf" srcId="{69C4B396-05ED-458F-9363-26DB698714A0}" destId="{F2EBD7EB-E9AB-4119-BFD9-F85C98BBCCC5}" srcOrd="0" destOrd="0" presId="urn:microsoft.com/office/officeart/2005/8/layout/hProcess9"/>
    <dgm:cxn modelId="{872D27BB-BE4E-4B47-97EC-A40035CE551F}" type="presParOf" srcId="{69C4B396-05ED-458F-9363-26DB698714A0}" destId="{443C0544-0115-4D38-9731-CC79947C6719}" srcOrd="1" destOrd="0" presId="urn:microsoft.com/office/officeart/2005/8/layout/hProcess9"/>
    <dgm:cxn modelId="{F47CA12C-C5D3-4867-A01E-1AC21997EB05}" type="presParOf" srcId="{443C0544-0115-4D38-9731-CC79947C6719}" destId="{8E27EFE4-FC3A-482A-88F9-71C39DEB85DD}" srcOrd="0" destOrd="0" presId="urn:microsoft.com/office/officeart/2005/8/layout/hProcess9"/>
    <dgm:cxn modelId="{F179D808-4C61-47F7-9445-DC370F69BA74}" type="presParOf" srcId="{443C0544-0115-4D38-9731-CC79947C6719}" destId="{0C2A6BB1-478C-4E95-B4D7-E304AD29B4CC}" srcOrd="1" destOrd="0" presId="urn:microsoft.com/office/officeart/2005/8/layout/hProcess9"/>
    <dgm:cxn modelId="{4296EC96-B052-44A6-9CA5-F6DDC1D3FB35}" type="presParOf" srcId="{443C0544-0115-4D38-9731-CC79947C6719}" destId="{D761A8D5-372B-4EE0-A453-0D40BF2B17E1}" srcOrd="2" destOrd="0" presId="urn:microsoft.com/office/officeart/2005/8/layout/hProcess9"/>
    <dgm:cxn modelId="{369F6DE8-64FD-49C1-A2A6-2E8D9C00EE06}" type="presParOf" srcId="{443C0544-0115-4D38-9731-CC79947C6719}" destId="{28BE85D3-1D4D-42F6-9FEC-CECCD533C801}" srcOrd="3" destOrd="0" presId="urn:microsoft.com/office/officeart/2005/8/layout/hProcess9"/>
    <dgm:cxn modelId="{18FE4597-04CA-47AC-B6B1-5CD6F3006583}" type="presParOf" srcId="{443C0544-0115-4D38-9731-CC79947C6719}" destId="{49F62A63-7438-42DA-8F56-8D7B309CA3C4}"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8620FF-A6AD-436A-A783-C1B3C98B54D3}" type="doc">
      <dgm:prSet loTypeId="urn:microsoft.com/office/officeart/2005/8/layout/hProcess9" loCatId="process" qsTypeId="urn:microsoft.com/office/officeart/2005/8/quickstyle/simple1" qsCatId="simple" csTypeId="urn:microsoft.com/office/officeart/2005/8/colors/accent1_2" csCatId="accent1" phldr="1"/>
      <dgm:spPr/>
    </dgm:pt>
    <dgm:pt modelId="{A9B603A5-E31C-49D5-A31B-D287EABB485A}">
      <dgm:prSet phldrT="[Text]"/>
      <dgm:spPr>
        <a:solidFill>
          <a:schemeClr val="bg2"/>
        </a:solidFill>
      </dgm:spPr>
      <dgm:t>
        <a:bodyPr/>
        <a:lstStyle/>
        <a:p>
          <a:r>
            <a:rPr lang="de-DE" dirty="0"/>
            <a:t>Finetuning  CLIP-VIP</a:t>
          </a:r>
        </a:p>
      </dgm:t>
    </dgm:pt>
    <dgm:pt modelId="{62F57E5C-94D2-400F-8F21-FB82A529F913}" type="parTrans" cxnId="{5E55928E-91B6-4EC0-A862-2ED7CAE9DEDF}">
      <dgm:prSet/>
      <dgm:spPr/>
      <dgm:t>
        <a:bodyPr/>
        <a:lstStyle/>
        <a:p>
          <a:endParaRPr lang="de-DE"/>
        </a:p>
      </dgm:t>
    </dgm:pt>
    <dgm:pt modelId="{B4D54B81-0A3E-4005-92D8-B695CD994F39}" type="sibTrans" cxnId="{5E55928E-91B6-4EC0-A862-2ED7CAE9DEDF}">
      <dgm:prSet/>
      <dgm:spPr/>
      <dgm:t>
        <a:bodyPr/>
        <a:lstStyle/>
        <a:p>
          <a:endParaRPr lang="de-DE"/>
        </a:p>
      </dgm:t>
    </dgm:pt>
    <dgm:pt modelId="{649D746D-F3DB-410B-9472-8E769F27E20A}">
      <dgm:prSet phldrT="[Text]"/>
      <dgm:spPr>
        <a:solidFill>
          <a:schemeClr val="accent1"/>
        </a:solidFill>
      </dgm:spPr>
      <dgm:t>
        <a:bodyPr/>
        <a:lstStyle/>
        <a:p>
          <a:r>
            <a:rPr lang="en-AU" noProof="0" dirty="0"/>
            <a:t>Alignment to RGB for different modality pairs</a:t>
          </a:r>
        </a:p>
      </dgm:t>
    </dgm:pt>
    <dgm:pt modelId="{CEDFEC8C-65BA-49D5-8009-6E3576095EBB}" type="parTrans" cxnId="{10101283-9AEC-46C4-8517-427684326338}">
      <dgm:prSet/>
      <dgm:spPr/>
      <dgm:t>
        <a:bodyPr/>
        <a:lstStyle/>
        <a:p>
          <a:endParaRPr lang="de-DE"/>
        </a:p>
      </dgm:t>
    </dgm:pt>
    <dgm:pt modelId="{E3F9DABC-73A0-4E6E-A29F-D1B4BFA008F8}" type="sibTrans" cxnId="{10101283-9AEC-46C4-8517-427684326338}">
      <dgm:prSet/>
      <dgm:spPr/>
      <dgm:t>
        <a:bodyPr/>
        <a:lstStyle/>
        <a:p>
          <a:endParaRPr lang="de-DE"/>
        </a:p>
      </dgm:t>
    </dgm:pt>
    <dgm:pt modelId="{B63B3BF1-B7DB-4E0C-B91D-63BE0CA54CBB}">
      <dgm:prSet phldrT="[Text]"/>
      <dgm:spPr>
        <a:solidFill>
          <a:schemeClr val="bg2"/>
        </a:solidFill>
      </dgm:spPr>
      <dgm:t>
        <a:bodyPr/>
        <a:lstStyle/>
        <a:p>
          <a:r>
            <a:rPr lang="en-AU" noProof="0" dirty="0"/>
            <a:t>Linear Classifier</a:t>
          </a:r>
        </a:p>
        <a:p>
          <a:r>
            <a:rPr lang="en-AU" noProof="0" dirty="0"/>
            <a:t>Evaluation</a:t>
          </a:r>
          <a:endParaRPr lang="de-DE" dirty="0"/>
        </a:p>
      </dgm:t>
    </dgm:pt>
    <dgm:pt modelId="{5E336261-5CCE-4367-A518-A80F69113014}" type="parTrans" cxnId="{FF70C639-B2C3-4A6A-B0F0-F11B75735D2D}">
      <dgm:prSet/>
      <dgm:spPr/>
      <dgm:t>
        <a:bodyPr/>
        <a:lstStyle/>
        <a:p>
          <a:endParaRPr lang="de-DE"/>
        </a:p>
      </dgm:t>
    </dgm:pt>
    <dgm:pt modelId="{B70B6E94-A629-4EA1-9D98-C5E241B3DC00}" type="sibTrans" cxnId="{FF70C639-B2C3-4A6A-B0F0-F11B75735D2D}">
      <dgm:prSet/>
      <dgm:spPr/>
      <dgm:t>
        <a:bodyPr/>
        <a:lstStyle/>
        <a:p>
          <a:endParaRPr lang="de-DE"/>
        </a:p>
      </dgm:t>
    </dgm:pt>
    <dgm:pt modelId="{69C4B396-05ED-458F-9363-26DB698714A0}" type="pres">
      <dgm:prSet presAssocID="{898620FF-A6AD-436A-A783-C1B3C98B54D3}" presName="CompostProcess" presStyleCnt="0">
        <dgm:presLayoutVars>
          <dgm:dir/>
          <dgm:resizeHandles val="exact"/>
        </dgm:presLayoutVars>
      </dgm:prSet>
      <dgm:spPr/>
    </dgm:pt>
    <dgm:pt modelId="{F2EBD7EB-E9AB-4119-BFD9-F85C98BBCCC5}" type="pres">
      <dgm:prSet presAssocID="{898620FF-A6AD-436A-A783-C1B3C98B54D3}" presName="arrow" presStyleLbl="bgShp" presStyleIdx="0" presStyleCnt="1"/>
      <dgm:spPr/>
    </dgm:pt>
    <dgm:pt modelId="{443C0544-0115-4D38-9731-CC79947C6719}" type="pres">
      <dgm:prSet presAssocID="{898620FF-A6AD-436A-A783-C1B3C98B54D3}" presName="linearProcess" presStyleCnt="0"/>
      <dgm:spPr/>
    </dgm:pt>
    <dgm:pt modelId="{8E27EFE4-FC3A-482A-88F9-71C39DEB85DD}" type="pres">
      <dgm:prSet presAssocID="{A9B603A5-E31C-49D5-A31B-D287EABB485A}" presName="textNode" presStyleLbl="node1" presStyleIdx="0" presStyleCnt="3">
        <dgm:presLayoutVars>
          <dgm:bulletEnabled val="1"/>
        </dgm:presLayoutVars>
      </dgm:prSet>
      <dgm:spPr/>
    </dgm:pt>
    <dgm:pt modelId="{0C2A6BB1-478C-4E95-B4D7-E304AD29B4CC}" type="pres">
      <dgm:prSet presAssocID="{B4D54B81-0A3E-4005-92D8-B695CD994F39}" presName="sibTrans" presStyleCnt="0"/>
      <dgm:spPr/>
    </dgm:pt>
    <dgm:pt modelId="{D761A8D5-372B-4EE0-A453-0D40BF2B17E1}" type="pres">
      <dgm:prSet presAssocID="{649D746D-F3DB-410B-9472-8E769F27E20A}" presName="textNode" presStyleLbl="node1" presStyleIdx="1" presStyleCnt="3">
        <dgm:presLayoutVars>
          <dgm:bulletEnabled val="1"/>
        </dgm:presLayoutVars>
      </dgm:prSet>
      <dgm:spPr/>
    </dgm:pt>
    <dgm:pt modelId="{28BE85D3-1D4D-42F6-9FEC-CECCD533C801}" type="pres">
      <dgm:prSet presAssocID="{E3F9DABC-73A0-4E6E-A29F-D1B4BFA008F8}" presName="sibTrans" presStyleCnt="0"/>
      <dgm:spPr/>
    </dgm:pt>
    <dgm:pt modelId="{49F62A63-7438-42DA-8F56-8D7B309CA3C4}" type="pres">
      <dgm:prSet presAssocID="{B63B3BF1-B7DB-4E0C-B91D-63BE0CA54CBB}" presName="textNode" presStyleLbl="node1" presStyleIdx="2" presStyleCnt="3">
        <dgm:presLayoutVars>
          <dgm:bulletEnabled val="1"/>
        </dgm:presLayoutVars>
      </dgm:prSet>
      <dgm:spPr/>
    </dgm:pt>
  </dgm:ptLst>
  <dgm:cxnLst>
    <dgm:cxn modelId="{FF70C639-B2C3-4A6A-B0F0-F11B75735D2D}" srcId="{898620FF-A6AD-436A-A783-C1B3C98B54D3}" destId="{B63B3BF1-B7DB-4E0C-B91D-63BE0CA54CBB}" srcOrd="2" destOrd="0" parTransId="{5E336261-5CCE-4367-A518-A80F69113014}" sibTransId="{B70B6E94-A629-4EA1-9D98-C5E241B3DC00}"/>
    <dgm:cxn modelId="{10101283-9AEC-46C4-8517-427684326338}" srcId="{898620FF-A6AD-436A-A783-C1B3C98B54D3}" destId="{649D746D-F3DB-410B-9472-8E769F27E20A}" srcOrd="1" destOrd="0" parTransId="{CEDFEC8C-65BA-49D5-8009-6E3576095EBB}" sibTransId="{E3F9DABC-73A0-4E6E-A29F-D1B4BFA008F8}"/>
    <dgm:cxn modelId="{5E55928E-91B6-4EC0-A862-2ED7CAE9DEDF}" srcId="{898620FF-A6AD-436A-A783-C1B3C98B54D3}" destId="{A9B603A5-E31C-49D5-A31B-D287EABB485A}" srcOrd="0" destOrd="0" parTransId="{62F57E5C-94D2-400F-8F21-FB82A529F913}" sibTransId="{B4D54B81-0A3E-4005-92D8-B695CD994F39}"/>
    <dgm:cxn modelId="{FF5C3890-14A3-4350-808E-3AF99A6573BD}" type="presOf" srcId="{B63B3BF1-B7DB-4E0C-B91D-63BE0CA54CBB}" destId="{49F62A63-7438-42DA-8F56-8D7B309CA3C4}" srcOrd="0" destOrd="0" presId="urn:microsoft.com/office/officeart/2005/8/layout/hProcess9"/>
    <dgm:cxn modelId="{F245A792-7D12-43EA-8EC3-D8BABC8D3817}" type="presOf" srcId="{898620FF-A6AD-436A-A783-C1B3C98B54D3}" destId="{69C4B396-05ED-458F-9363-26DB698714A0}" srcOrd="0" destOrd="0" presId="urn:microsoft.com/office/officeart/2005/8/layout/hProcess9"/>
    <dgm:cxn modelId="{2DFE63A5-21D9-4ACE-A8F9-4B51AD686642}" type="presOf" srcId="{A9B603A5-E31C-49D5-A31B-D287EABB485A}" destId="{8E27EFE4-FC3A-482A-88F9-71C39DEB85DD}" srcOrd="0" destOrd="0" presId="urn:microsoft.com/office/officeart/2005/8/layout/hProcess9"/>
    <dgm:cxn modelId="{1F3FA2FC-62B6-4C99-BEA0-658C0C794339}" type="presOf" srcId="{649D746D-F3DB-410B-9472-8E769F27E20A}" destId="{D761A8D5-372B-4EE0-A453-0D40BF2B17E1}" srcOrd="0" destOrd="0" presId="urn:microsoft.com/office/officeart/2005/8/layout/hProcess9"/>
    <dgm:cxn modelId="{5BCE7443-E3FC-4EA9-BFE8-39439621C131}" type="presParOf" srcId="{69C4B396-05ED-458F-9363-26DB698714A0}" destId="{F2EBD7EB-E9AB-4119-BFD9-F85C98BBCCC5}" srcOrd="0" destOrd="0" presId="urn:microsoft.com/office/officeart/2005/8/layout/hProcess9"/>
    <dgm:cxn modelId="{872D27BB-BE4E-4B47-97EC-A40035CE551F}" type="presParOf" srcId="{69C4B396-05ED-458F-9363-26DB698714A0}" destId="{443C0544-0115-4D38-9731-CC79947C6719}" srcOrd="1" destOrd="0" presId="urn:microsoft.com/office/officeart/2005/8/layout/hProcess9"/>
    <dgm:cxn modelId="{F47CA12C-C5D3-4867-A01E-1AC21997EB05}" type="presParOf" srcId="{443C0544-0115-4D38-9731-CC79947C6719}" destId="{8E27EFE4-FC3A-482A-88F9-71C39DEB85DD}" srcOrd="0" destOrd="0" presId="urn:microsoft.com/office/officeart/2005/8/layout/hProcess9"/>
    <dgm:cxn modelId="{F179D808-4C61-47F7-9445-DC370F69BA74}" type="presParOf" srcId="{443C0544-0115-4D38-9731-CC79947C6719}" destId="{0C2A6BB1-478C-4E95-B4D7-E304AD29B4CC}" srcOrd="1" destOrd="0" presId="urn:microsoft.com/office/officeart/2005/8/layout/hProcess9"/>
    <dgm:cxn modelId="{4296EC96-B052-44A6-9CA5-F6DDC1D3FB35}" type="presParOf" srcId="{443C0544-0115-4D38-9731-CC79947C6719}" destId="{D761A8D5-372B-4EE0-A453-0D40BF2B17E1}" srcOrd="2" destOrd="0" presId="urn:microsoft.com/office/officeart/2005/8/layout/hProcess9"/>
    <dgm:cxn modelId="{369F6DE8-64FD-49C1-A2A6-2E8D9C00EE06}" type="presParOf" srcId="{443C0544-0115-4D38-9731-CC79947C6719}" destId="{28BE85D3-1D4D-42F6-9FEC-CECCD533C801}" srcOrd="3" destOrd="0" presId="urn:microsoft.com/office/officeart/2005/8/layout/hProcess9"/>
    <dgm:cxn modelId="{18FE4597-04CA-47AC-B6B1-5CD6F3006583}" type="presParOf" srcId="{443C0544-0115-4D38-9731-CC79947C6719}" destId="{49F62A63-7438-42DA-8F56-8D7B309CA3C4}"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8620FF-A6AD-436A-A783-C1B3C98B54D3}" type="doc">
      <dgm:prSet loTypeId="urn:microsoft.com/office/officeart/2005/8/layout/hProcess9" loCatId="process" qsTypeId="urn:microsoft.com/office/officeart/2005/8/quickstyle/simple1" qsCatId="simple" csTypeId="urn:microsoft.com/office/officeart/2005/8/colors/accent1_2" csCatId="accent1" phldr="1"/>
      <dgm:spPr/>
    </dgm:pt>
    <dgm:pt modelId="{A9B603A5-E31C-49D5-A31B-D287EABB485A}">
      <dgm:prSet phldrT="[Text]"/>
      <dgm:spPr>
        <a:solidFill>
          <a:schemeClr val="bg2"/>
        </a:solidFill>
      </dgm:spPr>
      <dgm:t>
        <a:bodyPr/>
        <a:lstStyle/>
        <a:p>
          <a:r>
            <a:rPr lang="de-DE" dirty="0"/>
            <a:t>Finetuning  CLIP-VIP</a:t>
          </a:r>
        </a:p>
      </dgm:t>
    </dgm:pt>
    <dgm:pt modelId="{62F57E5C-94D2-400F-8F21-FB82A529F913}" type="parTrans" cxnId="{5E55928E-91B6-4EC0-A862-2ED7CAE9DEDF}">
      <dgm:prSet/>
      <dgm:spPr/>
      <dgm:t>
        <a:bodyPr/>
        <a:lstStyle/>
        <a:p>
          <a:endParaRPr lang="de-DE"/>
        </a:p>
      </dgm:t>
    </dgm:pt>
    <dgm:pt modelId="{B4D54B81-0A3E-4005-92D8-B695CD994F39}" type="sibTrans" cxnId="{5E55928E-91B6-4EC0-A862-2ED7CAE9DEDF}">
      <dgm:prSet/>
      <dgm:spPr/>
      <dgm:t>
        <a:bodyPr/>
        <a:lstStyle/>
        <a:p>
          <a:endParaRPr lang="de-DE"/>
        </a:p>
      </dgm:t>
    </dgm:pt>
    <dgm:pt modelId="{649D746D-F3DB-410B-9472-8E769F27E20A}">
      <dgm:prSet phldrT="[Text]"/>
      <dgm:spPr>
        <a:solidFill>
          <a:schemeClr val="accent1"/>
        </a:solidFill>
      </dgm:spPr>
      <dgm:t>
        <a:bodyPr/>
        <a:lstStyle/>
        <a:p>
          <a:r>
            <a:rPr lang="en-AU" noProof="0" dirty="0"/>
            <a:t>Alignment to RGB for different modality pairs</a:t>
          </a:r>
        </a:p>
      </dgm:t>
    </dgm:pt>
    <dgm:pt modelId="{CEDFEC8C-65BA-49D5-8009-6E3576095EBB}" type="parTrans" cxnId="{10101283-9AEC-46C4-8517-427684326338}">
      <dgm:prSet/>
      <dgm:spPr/>
      <dgm:t>
        <a:bodyPr/>
        <a:lstStyle/>
        <a:p>
          <a:endParaRPr lang="de-DE"/>
        </a:p>
      </dgm:t>
    </dgm:pt>
    <dgm:pt modelId="{E3F9DABC-73A0-4E6E-A29F-D1B4BFA008F8}" type="sibTrans" cxnId="{10101283-9AEC-46C4-8517-427684326338}">
      <dgm:prSet/>
      <dgm:spPr/>
      <dgm:t>
        <a:bodyPr/>
        <a:lstStyle/>
        <a:p>
          <a:endParaRPr lang="de-DE"/>
        </a:p>
      </dgm:t>
    </dgm:pt>
    <dgm:pt modelId="{B63B3BF1-B7DB-4E0C-B91D-63BE0CA54CBB}">
      <dgm:prSet phldrT="[Text]"/>
      <dgm:spPr>
        <a:solidFill>
          <a:schemeClr val="bg2"/>
        </a:solidFill>
      </dgm:spPr>
      <dgm:t>
        <a:bodyPr/>
        <a:lstStyle/>
        <a:p>
          <a:r>
            <a:rPr lang="en-AU" noProof="0" dirty="0"/>
            <a:t>Linear Classifier</a:t>
          </a:r>
        </a:p>
        <a:p>
          <a:r>
            <a:rPr lang="en-AU" noProof="0" dirty="0"/>
            <a:t>Evaluation</a:t>
          </a:r>
          <a:endParaRPr lang="de-DE" dirty="0"/>
        </a:p>
      </dgm:t>
    </dgm:pt>
    <dgm:pt modelId="{5E336261-5CCE-4367-A518-A80F69113014}" type="parTrans" cxnId="{FF70C639-B2C3-4A6A-B0F0-F11B75735D2D}">
      <dgm:prSet/>
      <dgm:spPr/>
      <dgm:t>
        <a:bodyPr/>
        <a:lstStyle/>
        <a:p>
          <a:endParaRPr lang="de-DE"/>
        </a:p>
      </dgm:t>
    </dgm:pt>
    <dgm:pt modelId="{B70B6E94-A629-4EA1-9D98-C5E241B3DC00}" type="sibTrans" cxnId="{FF70C639-B2C3-4A6A-B0F0-F11B75735D2D}">
      <dgm:prSet/>
      <dgm:spPr/>
      <dgm:t>
        <a:bodyPr/>
        <a:lstStyle/>
        <a:p>
          <a:endParaRPr lang="de-DE"/>
        </a:p>
      </dgm:t>
    </dgm:pt>
    <dgm:pt modelId="{69C4B396-05ED-458F-9363-26DB698714A0}" type="pres">
      <dgm:prSet presAssocID="{898620FF-A6AD-436A-A783-C1B3C98B54D3}" presName="CompostProcess" presStyleCnt="0">
        <dgm:presLayoutVars>
          <dgm:dir/>
          <dgm:resizeHandles val="exact"/>
        </dgm:presLayoutVars>
      </dgm:prSet>
      <dgm:spPr/>
    </dgm:pt>
    <dgm:pt modelId="{F2EBD7EB-E9AB-4119-BFD9-F85C98BBCCC5}" type="pres">
      <dgm:prSet presAssocID="{898620FF-A6AD-436A-A783-C1B3C98B54D3}" presName="arrow" presStyleLbl="bgShp" presStyleIdx="0" presStyleCnt="1"/>
      <dgm:spPr/>
    </dgm:pt>
    <dgm:pt modelId="{443C0544-0115-4D38-9731-CC79947C6719}" type="pres">
      <dgm:prSet presAssocID="{898620FF-A6AD-436A-A783-C1B3C98B54D3}" presName="linearProcess" presStyleCnt="0"/>
      <dgm:spPr/>
    </dgm:pt>
    <dgm:pt modelId="{8E27EFE4-FC3A-482A-88F9-71C39DEB85DD}" type="pres">
      <dgm:prSet presAssocID="{A9B603A5-E31C-49D5-A31B-D287EABB485A}" presName="textNode" presStyleLbl="node1" presStyleIdx="0" presStyleCnt="3">
        <dgm:presLayoutVars>
          <dgm:bulletEnabled val="1"/>
        </dgm:presLayoutVars>
      </dgm:prSet>
      <dgm:spPr/>
    </dgm:pt>
    <dgm:pt modelId="{0C2A6BB1-478C-4E95-B4D7-E304AD29B4CC}" type="pres">
      <dgm:prSet presAssocID="{B4D54B81-0A3E-4005-92D8-B695CD994F39}" presName="sibTrans" presStyleCnt="0"/>
      <dgm:spPr/>
    </dgm:pt>
    <dgm:pt modelId="{D761A8D5-372B-4EE0-A453-0D40BF2B17E1}" type="pres">
      <dgm:prSet presAssocID="{649D746D-F3DB-410B-9472-8E769F27E20A}" presName="textNode" presStyleLbl="node1" presStyleIdx="1" presStyleCnt="3">
        <dgm:presLayoutVars>
          <dgm:bulletEnabled val="1"/>
        </dgm:presLayoutVars>
      </dgm:prSet>
      <dgm:spPr/>
    </dgm:pt>
    <dgm:pt modelId="{28BE85D3-1D4D-42F6-9FEC-CECCD533C801}" type="pres">
      <dgm:prSet presAssocID="{E3F9DABC-73A0-4E6E-A29F-D1B4BFA008F8}" presName="sibTrans" presStyleCnt="0"/>
      <dgm:spPr/>
    </dgm:pt>
    <dgm:pt modelId="{49F62A63-7438-42DA-8F56-8D7B309CA3C4}" type="pres">
      <dgm:prSet presAssocID="{B63B3BF1-B7DB-4E0C-B91D-63BE0CA54CBB}" presName="textNode" presStyleLbl="node1" presStyleIdx="2" presStyleCnt="3">
        <dgm:presLayoutVars>
          <dgm:bulletEnabled val="1"/>
        </dgm:presLayoutVars>
      </dgm:prSet>
      <dgm:spPr/>
    </dgm:pt>
  </dgm:ptLst>
  <dgm:cxnLst>
    <dgm:cxn modelId="{FF70C639-B2C3-4A6A-B0F0-F11B75735D2D}" srcId="{898620FF-A6AD-436A-A783-C1B3C98B54D3}" destId="{B63B3BF1-B7DB-4E0C-B91D-63BE0CA54CBB}" srcOrd="2" destOrd="0" parTransId="{5E336261-5CCE-4367-A518-A80F69113014}" sibTransId="{B70B6E94-A629-4EA1-9D98-C5E241B3DC00}"/>
    <dgm:cxn modelId="{10101283-9AEC-46C4-8517-427684326338}" srcId="{898620FF-A6AD-436A-A783-C1B3C98B54D3}" destId="{649D746D-F3DB-410B-9472-8E769F27E20A}" srcOrd="1" destOrd="0" parTransId="{CEDFEC8C-65BA-49D5-8009-6E3576095EBB}" sibTransId="{E3F9DABC-73A0-4E6E-A29F-D1B4BFA008F8}"/>
    <dgm:cxn modelId="{5E55928E-91B6-4EC0-A862-2ED7CAE9DEDF}" srcId="{898620FF-A6AD-436A-A783-C1B3C98B54D3}" destId="{A9B603A5-E31C-49D5-A31B-D287EABB485A}" srcOrd="0" destOrd="0" parTransId="{62F57E5C-94D2-400F-8F21-FB82A529F913}" sibTransId="{B4D54B81-0A3E-4005-92D8-B695CD994F39}"/>
    <dgm:cxn modelId="{FF5C3890-14A3-4350-808E-3AF99A6573BD}" type="presOf" srcId="{B63B3BF1-B7DB-4E0C-B91D-63BE0CA54CBB}" destId="{49F62A63-7438-42DA-8F56-8D7B309CA3C4}" srcOrd="0" destOrd="0" presId="urn:microsoft.com/office/officeart/2005/8/layout/hProcess9"/>
    <dgm:cxn modelId="{F245A792-7D12-43EA-8EC3-D8BABC8D3817}" type="presOf" srcId="{898620FF-A6AD-436A-A783-C1B3C98B54D3}" destId="{69C4B396-05ED-458F-9363-26DB698714A0}" srcOrd="0" destOrd="0" presId="urn:microsoft.com/office/officeart/2005/8/layout/hProcess9"/>
    <dgm:cxn modelId="{2DFE63A5-21D9-4ACE-A8F9-4B51AD686642}" type="presOf" srcId="{A9B603A5-E31C-49D5-A31B-D287EABB485A}" destId="{8E27EFE4-FC3A-482A-88F9-71C39DEB85DD}" srcOrd="0" destOrd="0" presId="urn:microsoft.com/office/officeart/2005/8/layout/hProcess9"/>
    <dgm:cxn modelId="{1F3FA2FC-62B6-4C99-BEA0-658C0C794339}" type="presOf" srcId="{649D746D-F3DB-410B-9472-8E769F27E20A}" destId="{D761A8D5-372B-4EE0-A453-0D40BF2B17E1}" srcOrd="0" destOrd="0" presId="urn:microsoft.com/office/officeart/2005/8/layout/hProcess9"/>
    <dgm:cxn modelId="{5BCE7443-E3FC-4EA9-BFE8-39439621C131}" type="presParOf" srcId="{69C4B396-05ED-458F-9363-26DB698714A0}" destId="{F2EBD7EB-E9AB-4119-BFD9-F85C98BBCCC5}" srcOrd="0" destOrd="0" presId="urn:microsoft.com/office/officeart/2005/8/layout/hProcess9"/>
    <dgm:cxn modelId="{872D27BB-BE4E-4B47-97EC-A40035CE551F}" type="presParOf" srcId="{69C4B396-05ED-458F-9363-26DB698714A0}" destId="{443C0544-0115-4D38-9731-CC79947C6719}" srcOrd="1" destOrd="0" presId="urn:microsoft.com/office/officeart/2005/8/layout/hProcess9"/>
    <dgm:cxn modelId="{F47CA12C-C5D3-4867-A01E-1AC21997EB05}" type="presParOf" srcId="{443C0544-0115-4D38-9731-CC79947C6719}" destId="{8E27EFE4-FC3A-482A-88F9-71C39DEB85DD}" srcOrd="0" destOrd="0" presId="urn:microsoft.com/office/officeart/2005/8/layout/hProcess9"/>
    <dgm:cxn modelId="{F179D808-4C61-47F7-9445-DC370F69BA74}" type="presParOf" srcId="{443C0544-0115-4D38-9731-CC79947C6719}" destId="{0C2A6BB1-478C-4E95-B4D7-E304AD29B4CC}" srcOrd="1" destOrd="0" presId="urn:microsoft.com/office/officeart/2005/8/layout/hProcess9"/>
    <dgm:cxn modelId="{4296EC96-B052-44A6-9CA5-F6DDC1D3FB35}" type="presParOf" srcId="{443C0544-0115-4D38-9731-CC79947C6719}" destId="{D761A8D5-372B-4EE0-A453-0D40BF2B17E1}" srcOrd="2" destOrd="0" presId="urn:microsoft.com/office/officeart/2005/8/layout/hProcess9"/>
    <dgm:cxn modelId="{369F6DE8-64FD-49C1-A2A6-2E8D9C00EE06}" type="presParOf" srcId="{443C0544-0115-4D38-9731-CC79947C6719}" destId="{28BE85D3-1D4D-42F6-9FEC-CECCD533C801}" srcOrd="3" destOrd="0" presId="urn:microsoft.com/office/officeart/2005/8/layout/hProcess9"/>
    <dgm:cxn modelId="{18FE4597-04CA-47AC-B6B1-5CD6F3006583}" type="presParOf" srcId="{443C0544-0115-4D38-9731-CC79947C6719}" destId="{49F62A63-7438-42DA-8F56-8D7B309CA3C4}"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98620FF-A6AD-436A-A783-C1B3C98B54D3}" type="doc">
      <dgm:prSet loTypeId="urn:microsoft.com/office/officeart/2005/8/layout/hProcess9" loCatId="process" qsTypeId="urn:microsoft.com/office/officeart/2005/8/quickstyle/simple1" qsCatId="simple" csTypeId="urn:microsoft.com/office/officeart/2005/8/colors/accent1_2" csCatId="accent1" phldr="1"/>
      <dgm:spPr/>
    </dgm:pt>
    <dgm:pt modelId="{A9B603A5-E31C-49D5-A31B-D287EABB485A}">
      <dgm:prSet phldrT="[Text]"/>
      <dgm:spPr>
        <a:solidFill>
          <a:schemeClr val="bg2"/>
        </a:solidFill>
      </dgm:spPr>
      <dgm:t>
        <a:bodyPr/>
        <a:lstStyle/>
        <a:p>
          <a:r>
            <a:rPr lang="de-DE" dirty="0"/>
            <a:t>Finetuning  CLIP-VIP</a:t>
          </a:r>
        </a:p>
      </dgm:t>
    </dgm:pt>
    <dgm:pt modelId="{62F57E5C-94D2-400F-8F21-FB82A529F913}" type="parTrans" cxnId="{5E55928E-91B6-4EC0-A862-2ED7CAE9DEDF}">
      <dgm:prSet/>
      <dgm:spPr/>
      <dgm:t>
        <a:bodyPr/>
        <a:lstStyle/>
        <a:p>
          <a:endParaRPr lang="de-DE"/>
        </a:p>
      </dgm:t>
    </dgm:pt>
    <dgm:pt modelId="{B4D54B81-0A3E-4005-92D8-B695CD994F39}" type="sibTrans" cxnId="{5E55928E-91B6-4EC0-A862-2ED7CAE9DEDF}">
      <dgm:prSet/>
      <dgm:spPr/>
      <dgm:t>
        <a:bodyPr/>
        <a:lstStyle/>
        <a:p>
          <a:endParaRPr lang="de-DE"/>
        </a:p>
      </dgm:t>
    </dgm:pt>
    <dgm:pt modelId="{649D746D-F3DB-410B-9472-8E769F27E20A}">
      <dgm:prSet phldrT="[Text]"/>
      <dgm:spPr>
        <a:solidFill>
          <a:schemeClr val="bg2"/>
        </a:solidFill>
      </dgm:spPr>
      <dgm:t>
        <a:bodyPr/>
        <a:lstStyle/>
        <a:p>
          <a:r>
            <a:rPr lang="en-AU" noProof="0" dirty="0"/>
            <a:t>Alignment to RGB for different modality pairs</a:t>
          </a:r>
        </a:p>
      </dgm:t>
    </dgm:pt>
    <dgm:pt modelId="{CEDFEC8C-65BA-49D5-8009-6E3576095EBB}" type="parTrans" cxnId="{10101283-9AEC-46C4-8517-427684326338}">
      <dgm:prSet/>
      <dgm:spPr/>
      <dgm:t>
        <a:bodyPr/>
        <a:lstStyle/>
        <a:p>
          <a:endParaRPr lang="de-DE"/>
        </a:p>
      </dgm:t>
    </dgm:pt>
    <dgm:pt modelId="{E3F9DABC-73A0-4E6E-A29F-D1B4BFA008F8}" type="sibTrans" cxnId="{10101283-9AEC-46C4-8517-427684326338}">
      <dgm:prSet/>
      <dgm:spPr/>
      <dgm:t>
        <a:bodyPr/>
        <a:lstStyle/>
        <a:p>
          <a:endParaRPr lang="de-DE"/>
        </a:p>
      </dgm:t>
    </dgm:pt>
    <dgm:pt modelId="{B63B3BF1-B7DB-4E0C-B91D-63BE0CA54CBB}">
      <dgm:prSet phldrT="[Text]"/>
      <dgm:spPr>
        <a:solidFill>
          <a:schemeClr val="accent1"/>
        </a:solidFill>
      </dgm:spPr>
      <dgm:t>
        <a:bodyPr/>
        <a:lstStyle/>
        <a:p>
          <a:r>
            <a:rPr lang="en-AU" noProof="0" dirty="0"/>
            <a:t>Linear Classifier</a:t>
          </a:r>
        </a:p>
        <a:p>
          <a:r>
            <a:rPr lang="en-AU" noProof="0" dirty="0"/>
            <a:t>Evaluation</a:t>
          </a:r>
          <a:endParaRPr lang="de-DE" dirty="0"/>
        </a:p>
      </dgm:t>
    </dgm:pt>
    <dgm:pt modelId="{5E336261-5CCE-4367-A518-A80F69113014}" type="parTrans" cxnId="{FF70C639-B2C3-4A6A-B0F0-F11B75735D2D}">
      <dgm:prSet/>
      <dgm:spPr/>
      <dgm:t>
        <a:bodyPr/>
        <a:lstStyle/>
        <a:p>
          <a:endParaRPr lang="de-DE"/>
        </a:p>
      </dgm:t>
    </dgm:pt>
    <dgm:pt modelId="{B70B6E94-A629-4EA1-9D98-C5E241B3DC00}" type="sibTrans" cxnId="{FF70C639-B2C3-4A6A-B0F0-F11B75735D2D}">
      <dgm:prSet/>
      <dgm:spPr/>
      <dgm:t>
        <a:bodyPr/>
        <a:lstStyle/>
        <a:p>
          <a:endParaRPr lang="de-DE"/>
        </a:p>
      </dgm:t>
    </dgm:pt>
    <dgm:pt modelId="{69C4B396-05ED-458F-9363-26DB698714A0}" type="pres">
      <dgm:prSet presAssocID="{898620FF-A6AD-436A-A783-C1B3C98B54D3}" presName="CompostProcess" presStyleCnt="0">
        <dgm:presLayoutVars>
          <dgm:dir/>
          <dgm:resizeHandles val="exact"/>
        </dgm:presLayoutVars>
      </dgm:prSet>
      <dgm:spPr/>
    </dgm:pt>
    <dgm:pt modelId="{F2EBD7EB-E9AB-4119-BFD9-F85C98BBCCC5}" type="pres">
      <dgm:prSet presAssocID="{898620FF-A6AD-436A-A783-C1B3C98B54D3}" presName="arrow" presStyleLbl="bgShp" presStyleIdx="0" presStyleCnt="1" custLinFactNeighborX="14387" custLinFactNeighborY="34717"/>
      <dgm:spPr/>
    </dgm:pt>
    <dgm:pt modelId="{443C0544-0115-4D38-9731-CC79947C6719}" type="pres">
      <dgm:prSet presAssocID="{898620FF-A6AD-436A-A783-C1B3C98B54D3}" presName="linearProcess" presStyleCnt="0"/>
      <dgm:spPr/>
    </dgm:pt>
    <dgm:pt modelId="{8E27EFE4-FC3A-482A-88F9-71C39DEB85DD}" type="pres">
      <dgm:prSet presAssocID="{A9B603A5-E31C-49D5-A31B-D287EABB485A}" presName="textNode" presStyleLbl="node1" presStyleIdx="0" presStyleCnt="3">
        <dgm:presLayoutVars>
          <dgm:bulletEnabled val="1"/>
        </dgm:presLayoutVars>
      </dgm:prSet>
      <dgm:spPr/>
    </dgm:pt>
    <dgm:pt modelId="{0C2A6BB1-478C-4E95-B4D7-E304AD29B4CC}" type="pres">
      <dgm:prSet presAssocID="{B4D54B81-0A3E-4005-92D8-B695CD994F39}" presName="sibTrans" presStyleCnt="0"/>
      <dgm:spPr/>
    </dgm:pt>
    <dgm:pt modelId="{D761A8D5-372B-4EE0-A453-0D40BF2B17E1}" type="pres">
      <dgm:prSet presAssocID="{649D746D-F3DB-410B-9472-8E769F27E20A}" presName="textNode" presStyleLbl="node1" presStyleIdx="1" presStyleCnt="3">
        <dgm:presLayoutVars>
          <dgm:bulletEnabled val="1"/>
        </dgm:presLayoutVars>
      </dgm:prSet>
      <dgm:spPr/>
    </dgm:pt>
    <dgm:pt modelId="{28BE85D3-1D4D-42F6-9FEC-CECCD533C801}" type="pres">
      <dgm:prSet presAssocID="{E3F9DABC-73A0-4E6E-A29F-D1B4BFA008F8}" presName="sibTrans" presStyleCnt="0"/>
      <dgm:spPr/>
    </dgm:pt>
    <dgm:pt modelId="{49F62A63-7438-42DA-8F56-8D7B309CA3C4}" type="pres">
      <dgm:prSet presAssocID="{B63B3BF1-B7DB-4E0C-B91D-63BE0CA54CBB}" presName="textNode" presStyleLbl="node1" presStyleIdx="2" presStyleCnt="3">
        <dgm:presLayoutVars>
          <dgm:bulletEnabled val="1"/>
        </dgm:presLayoutVars>
      </dgm:prSet>
      <dgm:spPr/>
    </dgm:pt>
  </dgm:ptLst>
  <dgm:cxnLst>
    <dgm:cxn modelId="{FF70C639-B2C3-4A6A-B0F0-F11B75735D2D}" srcId="{898620FF-A6AD-436A-A783-C1B3C98B54D3}" destId="{B63B3BF1-B7DB-4E0C-B91D-63BE0CA54CBB}" srcOrd="2" destOrd="0" parTransId="{5E336261-5CCE-4367-A518-A80F69113014}" sibTransId="{B70B6E94-A629-4EA1-9D98-C5E241B3DC00}"/>
    <dgm:cxn modelId="{10101283-9AEC-46C4-8517-427684326338}" srcId="{898620FF-A6AD-436A-A783-C1B3C98B54D3}" destId="{649D746D-F3DB-410B-9472-8E769F27E20A}" srcOrd="1" destOrd="0" parTransId="{CEDFEC8C-65BA-49D5-8009-6E3576095EBB}" sibTransId="{E3F9DABC-73A0-4E6E-A29F-D1B4BFA008F8}"/>
    <dgm:cxn modelId="{5E55928E-91B6-4EC0-A862-2ED7CAE9DEDF}" srcId="{898620FF-A6AD-436A-A783-C1B3C98B54D3}" destId="{A9B603A5-E31C-49D5-A31B-D287EABB485A}" srcOrd="0" destOrd="0" parTransId="{62F57E5C-94D2-400F-8F21-FB82A529F913}" sibTransId="{B4D54B81-0A3E-4005-92D8-B695CD994F39}"/>
    <dgm:cxn modelId="{FF5C3890-14A3-4350-808E-3AF99A6573BD}" type="presOf" srcId="{B63B3BF1-B7DB-4E0C-B91D-63BE0CA54CBB}" destId="{49F62A63-7438-42DA-8F56-8D7B309CA3C4}" srcOrd="0" destOrd="0" presId="urn:microsoft.com/office/officeart/2005/8/layout/hProcess9"/>
    <dgm:cxn modelId="{F245A792-7D12-43EA-8EC3-D8BABC8D3817}" type="presOf" srcId="{898620FF-A6AD-436A-A783-C1B3C98B54D3}" destId="{69C4B396-05ED-458F-9363-26DB698714A0}" srcOrd="0" destOrd="0" presId="urn:microsoft.com/office/officeart/2005/8/layout/hProcess9"/>
    <dgm:cxn modelId="{2DFE63A5-21D9-4ACE-A8F9-4B51AD686642}" type="presOf" srcId="{A9B603A5-E31C-49D5-A31B-D287EABB485A}" destId="{8E27EFE4-FC3A-482A-88F9-71C39DEB85DD}" srcOrd="0" destOrd="0" presId="urn:microsoft.com/office/officeart/2005/8/layout/hProcess9"/>
    <dgm:cxn modelId="{1F3FA2FC-62B6-4C99-BEA0-658C0C794339}" type="presOf" srcId="{649D746D-F3DB-410B-9472-8E769F27E20A}" destId="{D761A8D5-372B-4EE0-A453-0D40BF2B17E1}" srcOrd="0" destOrd="0" presId="urn:microsoft.com/office/officeart/2005/8/layout/hProcess9"/>
    <dgm:cxn modelId="{5BCE7443-E3FC-4EA9-BFE8-39439621C131}" type="presParOf" srcId="{69C4B396-05ED-458F-9363-26DB698714A0}" destId="{F2EBD7EB-E9AB-4119-BFD9-F85C98BBCCC5}" srcOrd="0" destOrd="0" presId="urn:microsoft.com/office/officeart/2005/8/layout/hProcess9"/>
    <dgm:cxn modelId="{872D27BB-BE4E-4B47-97EC-A40035CE551F}" type="presParOf" srcId="{69C4B396-05ED-458F-9363-26DB698714A0}" destId="{443C0544-0115-4D38-9731-CC79947C6719}" srcOrd="1" destOrd="0" presId="urn:microsoft.com/office/officeart/2005/8/layout/hProcess9"/>
    <dgm:cxn modelId="{F47CA12C-C5D3-4867-A01E-1AC21997EB05}" type="presParOf" srcId="{443C0544-0115-4D38-9731-CC79947C6719}" destId="{8E27EFE4-FC3A-482A-88F9-71C39DEB85DD}" srcOrd="0" destOrd="0" presId="urn:microsoft.com/office/officeart/2005/8/layout/hProcess9"/>
    <dgm:cxn modelId="{F179D808-4C61-47F7-9445-DC370F69BA74}" type="presParOf" srcId="{443C0544-0115-4D38-9731-CC79947C6719}" destId="{0C2A6BB1-478C-4E95-B4D7-E304AD29B4CC}" srcOrd="1" destOrd="0" presId="urn:microsoft.com/office/officeart/2005/8/layout/hProcess9"/>
    <dgm:cxn modelId="{4296EC96-B052-44A6-9CA5-F6DDC1D3FB35}" type="presParOf" srcId="{443C0544-0115-4D38-9731-CC79947C6719}" destId="{D761A8D5-372B-4EE0-A453-0D40BF2B17E1}" srcOrd="2" destOrd="0" presId="urn:microsoft.com/office/officeart/2005/8/layout/hProcess9"/>
    <dgm:cxn modelId="{369F6DE8-64FD-49C1-A2A6-2E8D9C00EE06}" type="presParOf" srcId="{443C0544-0115-4D38-9731-CC79947C6719}" destId="{28BE85D3-1D4D-42F6-9FEC-CECCD533C801}" srcOrd="3" destOrd="0" presId="urn:microsoft.com/office/officeart/2005/8/layout/hProcess9"/>
    <dgm:cxn modelId="{18FE4597-04CA-47AC-B6B1-5CD6F3006583}" type="presParOf" srcId="{443C0544-0115-4D38-9731-CC79947C6719}" destId="{49F62A63-7438-42DA-8F56-8D7B309CA3C4}"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98620FF-A6AD-436A-A783-C1B3C98B54D3}" type="doc">
      <dgm:prSet loTypeId="urn:microsoft.com/office/officeart/2005/8/layout/hProcess9" loCatId="process" qsTypeId="urn:microsoft.com/office/officeart/2005/8/quickstyle/simple1" qsCatId="simple" csTypeId="urn:microsoft.com/office/officeart/2005/8/colors/accent1_2" csCatId="accent1" phldr="1"/>
      <dgm:spPr/>
    </dgm:pt>
    <dgm:pt modelId="{A9B603A5-E31C-49D5-A31B-D287EABB485A}">
      <dgm:prSet phldrT="[Text]"/>
      <dgm:spPr>
        <a:solidFill>
          <a:schemeClr val="bg2"/>
        </a:solidFill>
      </dgm:spPr>
      <dgm:t>
        <a:bodyPr/>
        <a:lstStyle/>
        <a:p>
          <a:r>
            <a:rPr lang="de-DE" dirty="0"/>
            <a:t>Finetuning  CLIP-VIP</a:t>
          </a:r>
        </a:p>
      </dgm:t>
    </dgm:pt>
    <dgm:pt modelId="{62F57E5C-94D2-400F-8F21-FB82A529F913}" type="parTrans" cxnId="{5E55928E-91B6-4EC0-A862-2ED7CAE9DEDF}">
      <dgm:prSet/>
      <dgm:spPr/>
      <dgm:t>
        <a:bodyPr/>
        <a:lstStyle/>
        <a:p>
          <a:endParaRPr lang="de-DE"/>
        </a:p>
      </dgm:t>
    </dgm:pt>
    <dgm:pt modelId="{B4D54B81-0A3E-4005-92D8-B695CD994F39}" type="sibTrans" cxnId="{5E55928E-91B6-4EC0-A862-2ED7CAE9DEDF}">
      <dgm:prSet/>
      <dgm:spPr/>
      <dgm:t>
        <a:bodyPr/>
        <a:lstStyle/>
        <a:p>
          <a:endParaRPr lang="de-DE"/>
        </a:p>
      </dgm:t>
    </dgm:pt>
    <dgm:pt modelId="{649D746D-F3DB-410B-9472-8E769F27E20A}">
      <dgm:prSet phldrT="[Text]"/>
      <dgm:spPr>
        <a:solidFill>
          <a:schemeClr val="bg2"/>
        </a:solidFill>
      </dgm:spPr>
      <dgm:t>
        <a:bodyPr/>
        <a:lstStyle/>
        <a:p>
          <a:r>
            <a:rPr lang="en-AU" noProof="0" dirty="0"/>
            <a:t>Alignment to RGB for different modality pairs</a:t>
          </a:r>
        </a:p>
      </dgm:t>
    </dgm:pt>
    <dgm:pt modelId="{CEDFEC8C-65BA-49D5-8009-6E3576095EBB}" type="parTrans" cxnId="{10101283-9AEC-46C4-8517-427684326338}">
      <dgm:prSet/>
      <dgm:spPr/>
      <dgm:t>
        <a:bodyPr/>
        <a:lstStyle/>
        <a:p>
          <a:endParaRPr lang="de-DE"/>
        </a:p>
      </dgm:t>
    </dgm:pt>
    <dgm:pt modelId="{E3F9DABC-73A0-4E6E-A29F-D1B4BFA008F8}" type="sibTrans" cxnId="{10101283-9AEC-46C4-8517-427684326338}">
      <dgm:prSet/>
      <dgm:spPr/>
      <dgm:t>
        <a:bodyPr/>
        <a:lstStyle/>
        <a:p>
          <a:endParaRPr lang="de-DE"/>
        </a:p>
      </dgm:t>
    </dgm:pt>
    <dgm:pt modelId="{B63B3BF1-B7DB-4E0C-B91D-63BE0CA54CBB}">
      <dgm:prSet phldrT="[Text]"/>
      <dgm:spPr>
        <a:solidFill>
          <a:schemeClr val="accent1"/>
        </a:solidFill>
      </dgm:spPr>
      <dgm:t>
        <a:bodyPr/>
        <a:lstStyle/>
        <a:p>
          <a:r>
            <a:rPr lang="en-AU" noProof="0" dirty="0"/>
            <a:t>Linear Classifier</a:t>
          </a:r>
        </a:p>
        <a:p>
          <a:r>
            <a:rPr lang="en-AU" noProof="0" dirty="0"/>
            <a:t>Evaluation</a:t>
          </a:r>
          <a:endParaRPr lang="de-DE" dirty="0"/>
        </a:p>
      </dgm:t>
    </dgm:pt>
    <dgm:pt modelId="{5E336261-5CCE-4367-A518-A80F69113014}" type="parTrans" cxnId="{FF70C639-B2C3-4A6A-B0F0-F11B75735D2D}">
      <dgm:prSet/>
      <dgm:spPr/>
      <dgm:t>
        <a:bodyPr/>
        <a:lstStyle/>
        <a:p>
          <a:endParaRPr lang="de-DE"/>
        </a:p>
      </dgm:t>
    </dgm:pt>
    <dgm:pt modelId="{B70B6E94-A629-4EA1-9D98-C5E241B3DC00}" type="sibTrans" cxnId="{FF70C639-B2C3-4A6A-B0F0-F11B75735D2D}">
      <dgm:prSet/>
      <dgm:spPr/>
      <dgm:t>
        <a:bodyPr/>
        <a:lstStyle/>
        <a:p>
          <a:endParaRPr lang="de-DE"/>
        </a:p>
      </dgm:t>
    </dgm:pt>
    <dgm:pt modelId="{69C4B396-05ED-458F-9363-26DB698714A0}" type="pres">
      <dgm:prSet presAssocID="{898620FF-A6AD-436A-A783-C1B3C98B54D3}" presName="CompostProcess" presStyleCnt="0">
        <dgm:presLayoutVars>
          <dgm:dir/>
          <dgm:resizeHandles val="exact"/>
        </dgm:presLayoutVars>
      </dgm:prSet>
      <dgm:spPr/>
    </dgm:pt>
    <dgm:pt modelId="{F2EBD7EB-E9AB-4119-BFD9-F85C98BBCCC5}" type="pres">
      <dgm:prSet presAssocID="{898620FF-A6AD-436A-A783-C1B3C98B54D3}" presName="arrow" presStyleLbl="bgShp" presStyleIdx="0" presStyleCnt="1"/>
      <dgm:spPr/>
    </dgm:pt>
    <dgm:pt modelId="{443C0544-0115-4D38-9731-CC79947C6719}" type="pres">
      <dgm:prSet presAssocID="{898620FF-A6AD-436A-A783-C1B3C98B54D3}" presName="linearProcess" presStyleCnt="0"/>
      <dgm:spPr/>
    </dgm:pt>
    <dgm:pt modelId="{8E27EFE4-FC3A-482A-88F9-71C39DEB85DD}" type="pres">
      <dgm:prSet presAssocID="{A9B603A5-E31C-49D5-A31B-D287EABB485A}" presName="textNode" presStyleLbl="node1" presStyleIdx="0" presStyleCnt="3">
        <dgm:presLayoutVars>
          <dgm:bulletEnabled val="1"/>
        </dgm:presLayoutVars>
      </dgm:prSet>
      <dgm:spPr/>
    </dgm:pt>
    <dgm:pt modelId="{0C2A6BB1-478C-4E95-B4D7-E304AD29B4CC}" type="pres">
      <dgm:prSet presAssocID="{B4D54B81-0A3E-4005-92D8-B695CD994F39}" presName="sibTrans" presStyleCnt="0"/>
      <dgm:spPr/>
    </dgm:pt>
    <dgm:pt modelId="{D761A8D5-372B-4EE0-A453-0D40BF2B17E1}" type="pres">
      <dgm:prSet presAssocID="{649D746D-F3DB-410B-9472-8E769F27E20A}" presName="textNode" presStyleLbl="node1" presStyleIdx="1" presStyleCnt="3">
        <dgm:presLayoutVars>
          <dgm:bulletEnabled val="1"/>
        </dgm:presLayoutVars>
      </dgm:prSet>
      <dgm:spPr/>
    </dgm:pt>
    <dgm:pt modelId="{28BE85D3-1D4D-42F6-9FEC-CECCD533C801}" type="pres">
      <dgm:prSet presAssocID="{E3F9DABC-73A0-4E6E-A29F-D1B4BFA008F8}" presName="sibTrans" presStyleCnt="0"/>
      <dgm:spPr/>
    </dgm:pt>
    <dgm:pt modelId="{49F62A63-7438-42DA-8F56-8D7B309CA3C4}" type="pres">
      <dgm:prSet presAssocID="{B63B3BF1-B7DB-4E0C-B91D-63BE0CA54CBB}" presName="textNode" presStyleLbl="node1" presStyleIdx="2" presStyleCnt="3">
        <dgm:presLayoutVars>
          <dgm:bulletEnabled val="1"/>
        </dgm:presLayoutVars>
      </dgm:prSet>
      <dgm:spPr/>
    </dgm:pt>
  </dgm:ptLst>
  <dgm:cxnLst>
    <dgm:cxn modelId="{FF70C639-B2C3-4A6A-B0F0-F11B75735D2D}" srcId="{898620FF-A6AD-436A-A783-C1B3C98B54D3}" destId="{B63B3BF1-B7DB-4E0C-B91D-63BE0CA54CBB}" srcOrd="2" destOrd="0" parTransId="{5E336261-5CCE-4367-A518-A80F69113014}" sibTransId="{B70B6E94-A629-4EA1-9D98-C5E241B3DC00}"/>
    <dgm:cxn modelId="{10101283-9AEC-46C4-8517-427684326338}" srcId="{898620FF-A6AD-436A-A783-C1B3C98B54D3}" destId="{649D746D-F3DB-410B-9472-8E769F27E20A}" srcOrd="1" destOrd="0" parTransId="{CEDFEC8C-65BA-49D5-8009-6E3576095EBB}" sibTransId="{E3F9DABC-73A0-4E6E-A29F-D1B4BFA008F8}"/>
    <dgm:cxn modelId="{5E55928E-91B6-4EC0-A862-2ED7CAE9DEDF}" srcId="{898620FF-A6AD-436A-A783-C1B3C98B54D3}" destId="{A9B603A5-E31C-49D5-A31B-D287EABB485A}" srcOrd="0" destOrd="0" parTransId="{62F57E5C-94D2-400F-8F21-FB82A529F913}" sibTransId="{B4D54B81-0A3E-4005-92D8-B695CD994F39}"/>
    <dgm:cxn modelId="{FF5C3890-14A3-4350-808E-3AF99A6573BD}" type="presOf" srcId="{B63B3BF1-B7DB-4E0C-B91D-63BE0CA54CBB}" destId="{49F62A63-7438-42DA-8F56-8D7B309CA3C4}" srcOrd="0" destOrd="0" presId="urn:microsoft.com/office/officeart/2005/8/layout/hProcess9"/>
    <dgm:cxn modelId="{F245A792-7D12-43EA-8EC3-D8BABC8D3817}" type="presOf" srcId="{898620FF-A6AD-436A-A783-C1B3C98B54D3}" destId="{69C4B396-05ED-458F-9363-26DB698714A0}" srcOrd="0" destOrd="0" presId="urn:microsoft.com/office/officeart/2005/8/layout/hProcess9"/>
    <dgm:cxn modelId="{2DFE63A5-21D9-4ACE-A8F9-4B51AD686642}" type="presOf" srcId="{A9B603A5-E31C-49D5-A31B-D287EABB485A}" destId="{8E27EFE4-FC3A-482A-88F9-71C39DEB85DD}" srcOrd="0" destOrd="0" presId="urn:microsoft.com/office/officeart/2005/8/layout/hProcess9"/>
    <dgm:cxn modelId="{1F3FA2FC-62B6-4C99-BEA0-658C0C794339}" type="presOf" srcId="{649D746D-F3DB-410B-9472-8E769F27E20A}" destId="{D761A8D5-372B-4EE0-A453-0D40BF2B17E1}" srcOrd="0" destOrd="0" presId="urn:microsoft.com/office/officeart/2005/8/layout/hProcess9"/>
    <dgm:cxn modelId="{5BCE7443-E3FC-4EA9-BFE8-39439621C131}" type="presParOf" srcId="{69C4B396-05ED-458F-9363-26DB698714A0}" destId="{F2EBD7EB-E9AB-4119-BFD9-F85C98BBCCC5}" srcOrd="0" destOrd="0" presId="urn:microsoft.com/office/officeart/2005/8/layout/hProcess9"/>
    <dgm:cxn modelId="{872D27BB-BE4E-4B47-97EC-A40035CE551F}" type="presParOf" srcId="{69C4B396-05ED-458F-9363-26DB698714A0}" destId="{443C0544-0115-4D38-9731-CC79947C6719}" srcOrd="1" destOrd="0" presId="urn:microsoft.com/office/officeart/2005/8/layout/hProcess9"/>
    <dgm:cxn modelId="{F47CA12C-C5D3-4867-A01E-1AC21997EB05}" type="presParOf" srcId="{443C0544-0115-4D38-9731-CC79947C6719}" destId="{8E27EFE4-FC3A-482A-88F9-71C39DEB85DD}" srcOrd="0" destOrd="0" presId="urn:microsoft.com/office/officeart/2005/8/layout/hProcess9"/>
    <dgm:cxn modelId="{F179D808-4C61-47F7-9445-DC370F69BA74}" type="presParOf" srcId="{443C0544-0115-4D38-9731-CC79947C6719}" destId="{0C2A6BB1-478C-4E95-B4D7-E304AD29B4CC}" srcOrd="1" destOrd="0" presId="urn:microsoft.com/office/officeart/2005/8/layout/hProcess9"/>
    <dgm:cxn modelId="{4296EC96-B052-44A6-9CA5-F6DDC1D3FB35}" type="presParOf" srcId="{443C0544-0115-4D38-9731-CC79947C6719}" destId="{D761A8D5-372B-4EE0-A453-0D40BF2B17E1}" srcOrd="2" destOrd="0" presId="urn:microsoft.com/office/officeart/2005/8/layout/hProcess9"/>
    <dgm:cxn modelId="{369F6DE8-64FD-49C1-A2A6-2E8D9C00EE06}" type="presParOf" srcId="{443C0544-0115-4D38-9731-CC79947C6719}" destId="{28BE85D3-1D4D-42F6-9FEC-CECCD533C801}" srcOrd="3" destOrd="0" presId="urn:microsoft.com/office/officeart/2005/8/layout/hProcess9"/>
    <dgm:cxn modelId="{18FE4597-04CA-47AC-B6B1-5CD6F3006583}" type="presParOf" srcId="{443C0544-0115-4D38-9731-CC79947C6719}" destId="{49F62A63-7438-42DA-8F56-8D7B309CA3C4}"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98620FF-A6AD-436A-A783-C1B3C98B54D3}" type="doc">
      <dgm:prSet loTypeId="urn:microsoft.com/office/officeart/2005/8/layout/hProcess9" loCatId="process" qsTypeId="urn:microsoft.com/office/officeart/2005/8/quickstyle/simple1" qsCatId="simple" csTypeId="urn:microsoft.com/office/officeart/2005/8/colors/accent1_2" csCatId="accent1" phldr="1"/>
      <dgm:spPr/>
    </dgm:pt>
    <dgm:pt modelId="{A9B603A5-E31C-49D5-A31B-D287EABB485A}">
      <dgm:prSet phldrT="[Text]"/>
      <dgm:spPr>
        <a:solidFill>
          <a:schemeClr val="bg2"/>
        </a:solidFill>
      </dgm:spPr>
      <dgm:t>
        <a:bodyPr/>
        <a:lstStyle/>
        <a:p>
          <a:r>
            <a:rPr lang="de-DE" dirty="0"/>
            <a:t>Finetuning  CLIP-VIP</a:t>
          </a:r>
        </a:p>
      </dgm:t>
    </dgm:pt>
    <dgm:pt modelId="{62F57E5C-94D2-400F-8F21-FB82A529F913}" type="parTrans" cxnId="{5E55928E-91B6-4EC0-A862-2ED7CAE9DEDF}">
      <dgm:prSet/>
      <dgm:spPr/>
      <dgm:t>
        <a:bodyPr/>
        <a:lstStyle/>
        <a:p>
          <a:endParaRPr lang="de-DE"/>
        </a:p>
      </dgm:t>
    </dgm:pt>
    <dgm:pt modelId="{B4D54B81-0A3E-4005-92D8-B695CD994F39}" type="sibTrans" cxnId="{5E55928E-91B6-4EC0-A862-2ED7CAE9DEDF}">
      <dgm:prSet/>
      <dgm:spPr/>
      <dgm:t>
        <a:bodyPr/>
        <a:lstStyle/>
        <a:p>
          <a:endParaRPr lang="de-DE"/>
        </a:p>
      </dgm:t>
    </dgm:pt>
    <dgm:pt modelId="{649D746D-F3DB-410B-9472-8E769F27E20A}">
      <dgm:prSet phldrT="[Text]"/>
      <dgm:spPr>
        <a:solidFill>
          <a:schemeClr val="bg2"/>
        </a:solidFill>
      </dgm:spPr>
      <dgm:t>
        <a:bodyPr/>
        <a:lstStyle/>
        <a:p>
          <a:r>
            <a:rPr lang="en-AU" noProof="0" dirty="0"/>
            <a:t>Alignment to RGB for different modality pairs</a:t>
          </a:r>
        </a:p>
      </dgm:t>
    </dgm:pt>
    <dgm:pt modelId="{CEDFEC8C-65BA-49D5-8009-6E3576095EBB}" type="parTrans" cxnId="{10101283-9AEC-46C4-8517-427684326338}">
      <dgm:prSet/>
      <dgm:spPr/>
      <dgm:t>
        <a:bodyPr/>
        <a:lstStyle/>
        <a:p>
          <a:endParaRPr lang="de-DE"/>
        </a:p>
      </dgm:t>
    </dgm:pt>
    <dgm:pt modelId="{E3F9DABC-73A0-4E6E-A29F-D1B4BFA008F8}" type="sibTrans" cxnId="{10101283-9AEC-46C4-8517-427684326338}">
      <dgm:prSet/>
      <dgm:spPr/>
      <dgm:t>
        <a:bodyPr/>
        <a:lstStyle/>
        <a:p>
          <a:endParaRPr lang="de-DE"/>
        </a:p>
      </dgm:t>
    </dgm:pt>
    <dgm:pt modelId="{B63B3BF1-B7DB-4E0C-B91D-63BE0CA54CBB}">
      <dgm:prSet phldrT="[Text]"/>
      <dgm:spPr>
        <a:solidFill>
          <a:schemeClr val="accent1"/>
        </a:solidFill>
      </dgm:spPr>
      <dgm:t>
        <a:bodyPr/>
        <a:lstStyle/>
        <a:p>
          <a:r>
            <a:rPr lang="en-AU" noProof="0" dirty="0"/>
            <a:t>Linear Classifier</a:t>
          </a:r>
        </a:p>
        <a:p>
          <a:r>
            <a:rPr lang="en-AU" noProof="0" dirty="0"/>
            <a:t>Evaluation</a:t>
          </a:r>
          <a:endParaRPr lang="de-DE" dirty="0"/>
        </a:p>
      </dgm:t>
    </dgm:pt>
    <dgm:pt modelId="{5E336261-5CCE-4367-A518-A80F69113014}" type="parTrans" cxnId="{FF70C639-B2C3-4A6A-B0F0-F11B75735D2D}">
      <dgm:prSet/>
      <dgm:spPr/>
      <dgm:t>
        <a:bodyPr/>
        <a:lstStyle/>
        <a:p>
          <a:endParaRPr lang="de-DE"/>
        </a:p>
      </dgm:t>
    </dgm:pt>
    <dgm:pt modelId="{B70B6E94-A629-4EA1-9D98-C5E241B3DC00}" type="sibTrans" cxnId="{FF70C639-B2C3-4A6A-B0F0-F11B75735D2D}">
      <dgm:prSet/>
      <dgm:spPr/>
      <dgm:t>
        <a:bodyPr/>
        <a:lstStyle/>
        <a:p>
          <a:endParaRPr lang="de-DE"/>
        </a:p>
      </dgm:t>
    </dgm:pt>
    <dgm:pt modelId="{69C4B396-05ED-458F-9363-26DB698714A0}" type="pres">
      <dgm:prSet presAssocID="{898620FF-A6AD-436A-A783-C1B3C98B54D3}" presName="CompostProcess" presStyleCnt="0">
        <dgm:presLayoutVars>
          <dgm:dir/>
          <dgm:resizeHandles val="exact"/>
        </dgm:presLayoutVars>
      </dgm:prSet>
      <dgm:spPr/>
    </dgm:pt>
    <dgm:pt modelId="{F2EBD7EB-E9AB-4119-BFD9-F85C98BBCCC5}" type="pres">
      <dgm:prSet presAssocID="{898620FF-A6AD-436A-A783-C1B3C98B54D3}" presName="arrow" presStyleLbl="bgShp" presStyleIdx="0" presStyleCnt="1"/>
      <dgm:spPr/>
    </dgm:pt>
    <dgm:pt modelId="{443C0544-0115-4D38-9731-CC79947C6719}" type="pres">
      <dgm:prSet presAssocID="{898620FF-A6AD-436A-A783-C1B3C98B54D3}" presName="linearProcess" presStyleCnt="0"/>
      <dgm:spPr/>
    </dgm:pt>
    <dgm:pt modelId="{8E27EFE4-FC3A-482A-88F9-71C39DEB85DD}" type="pres">
      <dgm:prSet presAssocID="{A9B603A5-E31C-49D5-A31B-D287EABB485A}" presName="textNode" presStyleLbl="node1" presStyleIdx="0" presStyleCnt="3">
        <dgm:presLayoutVars>
          <dgm:bulletEnabled val="1"/>
        </dgm:presLayoutVars>
      </dgm:prSet>
      <dgm:spPr/>
    </dgm:pt>
    <dgm:pt modelId="{0C2A6BB1-478C-4E95-B4D7-E304AD29B4CC}" type="pres">
      <dgm:prSet presAssocID="{B4D54B81-0A3E-4005-92D8-B695CD994F39}" presName="sibTrans" presStyleCnt="0"/>
      <dgm:spPr/>
    </dgm:pt>
    <dgm:pt modelId="{D761A8D5-372B-4EE0-A453-0D40BF2B17E1}" type="pres">
      <dgm:prSet presAssocID="{649D746D-F3DB-410B-9472-8E769F27E20A}" presName="textNode" presStyleLbl="node1" presStyleIdx="1" presStyleCnt="3">
        <dgm:presLayoutVars>
          <dgm:bulletEnabled val="1"/>
        </dgm:presLayoutVars>
      </dgm:prSet>
      <dgm:spPr/>
    </dgm:pt>
    <dgm:pt modelId="{28BE85D3-1D4D-42F6-9FEC-CECCD533C801}" type="pres">
      <dgm:prSet presAssocID="{E3F9DABC-73A0-4E6E-A29F-D1B4BFA008F8}" presName="sibTrans" presStyleCnt="0"/>
      <dgm:spPr/>
    </dgm:pt>
    <dgm:pt modelId="{49F62A63-7438-42DA-8F56-8D7B309CA3C4}" type="pres">
      <dgm:prSet presAssocID="{B63B3BF1-B7DB-4E0C-B91D-63BE0CA54CBB}" presName="textNode" presStyleLbl="node1" presStyleIdx="2" presStyleCnt="3">
        <dgm:presLayoutVars>
          <dgm:bulletEnabled val="1"/>
        </dgm:presLayoutVars>
      </dgm:prSet>
      <dgm:spPr/>
    </dgm:pt>
  </dgm:ptLst>
  <dgm:cxnLst>
    <dgm:cxn modelId="{FF70C639-B2C3-4A6A-B0F0-F11B75735D2D}" srcId="{898620FF-A6AD-436A-A783-C1B3C98B54D3}" destId="{B63B3BF1-B7DB-4E0C-B91D-63BE0CA54CBB}" srcOrd="2" destOrd="0" parTransId="{5E336261-5CCE-4367-A518-A80F69113014}" sibTransId="{B70B6E94-A629-4EA1-9D98-C5E241B3DC00}"/>
    <dgm:cxn modelId="{10101283-9AEC-46C4-8517-427684326338}" srcId="{898620FF-A6AD-436A-A783-C1B3C98B54D3}" destId="{649D746D-F3DB-410B-9472-8E769F27E20A}" srcOrd="1" destOrd="0" parTransId="{CEDFEC8C-65BA-49D5-8009-6E3576095EBB}" sibTransId="{E3F9DABC-73A0-4E6E-A29F-D1B4BFA008F8}"/>
    <dgm:cxn modelId="{5E55928E-91B6-4EC0-A862-2ED7CAE9DEDF}" srcId="{898620FF-A6AD-436A-A783-C1B3C98B54D3}" destId="{A9B603A5-E31C-49D5-A31B-D287EABB485A}" srcOrd="0" destOrd="0" parTransId="{62F57E5C-94D2-400F-8F21-FB82A529F913}" sibTransId="{B4D54B81-0A3E-4005-92D8-B695CD994F39}"/>
    <dgm:cxn modelId="{FF5C3890-14A3-4350-808E-3AF99A6573BD}" type="presOf" srcId="{B63B3BF1-B7DB-4E0C-B91D-63BE0CA54CBB}" destId="{49F62A63-7438-42DA-8F56-8D7B309CA3C4}" srcOrd="0" destOrd="0" presId="urn:microsoft.com/office/officeart/2005/8/layout/hProcess9"/>
    <dgm:cxn modelId="{F245A792-7D12-43EA-8EC3-D8BABC8D3817}" type="presOf" srcId="{898620FF-A6AD-436A-A783-C1B3C98B54D3}" destId="{69C4B396-05ED-458F-9363-26DB698714A0}" srcOrd="0" destOrd="0" presId="urn:microsoft.com/office/officeart/2005/8/layout/hProcess9"/>
    <dgm:cxn modelId="{2DFE63A5-21D9-4ACE-A8F9-4B51AD686642}" type="presOf" srcId="{A9B603A5-E31C-49D5-A31B-D287EABB485A}" destId="{8E27EFE4-FC3A-482A-88F9-71C39DEB85DD}" srcOrd="0" destOrd="0" presId="urn:microsoft.com/office/officeart/2005/8/layout/hProcess9"/>
    <dgm:cxn modelId="{1F3FA2FC-62B6-4C99-BEA0-658C0C794339}" type="presOf" srcId="{649D746D-F3DB-410B-9472-8E769F27E20A}" destId="{D761A8D5-372B-4EE0-A453-0D40BF2B17E1}" srcOrd="0" destOrd="0" presId="urn:microsoft.com/office/officeart/2005/8/layout/hProcess9"/>
    <dgm:cxn modelId="{5BCE7443-E3FC-4EA9-BFE8-39439621C131}" type="presParOf" srcId="{69C4B396-05ED-458F-9363-26DB698714A0}" destId="{F2EBD7EB-E9AB-4119-BFD9-F85C98BBCCC5}" srcOrd="0" destOrd="0" presId="urn:microsoft.com/office/officeart/2005/8/layout/hProcess9"/>
    <dgm:cxn modelId="{872D27BB-BE4E-4B47-97EC-A40035CE551F}" type="presParOf" srcId="{69C4B396-05ED-458F-9363-26DB698714A0}" destId="{443C0544-0115-4D38-9731-CC79947C6719}" srcOrd="1" destOrd="0" presId="urn:microsoft.com/office/officeart/2005/8/layout/hProcess9"/>
    <dgm:cxn modelId="{F47CA12C-C5D3-4867-A01E-1AC21997EB05}" type="presParOf" srcId="{443C0544-0115-4D38-9731-CC79947C6719}" destId="{8E27EFE4-FC3A-482A-88F9-71C39DEB85DD}" srcOrd="0" destOrd="0" presId="urn:microsoft.com/office/officeart/2005/8/layout/hProcess9"/>
    <dgm:cxn modelId="{F179D808-4C61-47F7-9445-DC370F69BA74}" type="presParOf" srcId="{443C0544-0115-4D38-9731-CC79947C6719}" destId="{0C2A6BB1-478C-4E95-B4D7-E304AD29B4CC}" srcOrd="1" destOrd="0" presId="urn:microsoft.com/office/officeart/2005/8/layout/hProcess9"/>
    <dgm:cxn modelId="{4296EC96-B052-44A6-9CA5-F6DDC1D3FB35}" type="presParOf" srcId="{443C0544-0115-4D38-9731-CC79947C6719}" destId="{D761A8D5-372B-4EE0-A453-0D40BF2B17E1}" srcOrd="2" destOrd="0" presId="urn:microsoft.com/office/officeart/2005/8/layout/hProcess9"/>
    <dgm:cxn modelId="{369F6DE8-64FD-49C1-A2A6-2E8D9C00EE06}" type="presParOf" srcId="{443C0544-0115-4D38-9731-CC79947C6719}" destId="{28BE85D3-1D4D-42F6-9FEC-CECCD533C801}" srcOrd="3" destOrd="0" presId="urn:microsoft.com/office/officeart/2005/8/layout/hProcess9"/>
    <dgm:cxn modelId="{18FE4597-04CA-47AC-B6B1-5CD6F3006583}" type="presParOf" srcId="{443C0544-0115-4D38-9731-CC79947C6719}" destId="{49F62A63-7438-42DA-8F56-8D7B309CA3C4}"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98620FF-A6AD-436A-A783-C1B3C98B54D3}" type="doc">
      <dgm:prSet loTypeId="urn:microsoft.com/office/officeart/2005/8/layout/hProcess9" loCatId="process" qsTypeId="urn:microsoft.com/office/officeart/2005/8/quickstyle/simple1" qsCatId="simple" csTypeId="urn:microsoft.com/office/officeart/2005/8/colors/accent1_2" csCatId="accent1" phldr="1"/>
      <dgm:spPr/>
    </dgm:pt>
    <dgm:pt modelId="{A9B603A5-E31C-49D5-A31B-D287EABB485A}">
      <dgm:prSet phldrT="[Text]"/>
      <dgm:spPr>
        <a:solidFill>
          <a:schemeClr val="bg2"/>
        </a:solidFill>
      </dgm:spPr>
      <dgm:t>
        <a:bodyPr/>
        <a:lstStyle/>
        <a:p>
          <a:r>
            <a:rPr lang="de-DE" dirty="0"/>
            <a:t>Finetuning  CLIP-VIP</a:t>
          </a:r>
        </a:p>
      </dgm:t>
    </dgm:pt>
    <dgm:pt modelId="{62F57E5C-94D2-400F-8F21-FB82A529F913}" type="parTrans" cxnId="{5E55928E-91B6-4EC0-A862-2ED7CAE9DEDF}">
      <dgm:prSet/>
      <dgm:spPr/>
      <dgm:t>
        <a:bodyPr/>
        <a:lstStyle/>
        <a:p>
          <a:endParaRPr lang="de-DE"/>
        </a:p>
      </dgm:t>
    </dgm:pt>
    <dgm:pt modelId="{B4D54B81-0A3E-4005-92D8-B695CD994F39}" type="sibTrans" cxnId="{5E55928E-91B6-4EC0-A862-2ED7CAE9DEDF}">
      <dgm:prSet/>
      <dgm:spPr/>
      <dgm:t>
        <a:bodyPr/>
        <a:lstStyle/>
        <a:p>
          <a:endParaRPr lang="de-DE"/>
        </a:p>
      </dgm:t>
    </dgm:pt>
    <dgm:pt modelId="{649D746D-F3DB-410B-9472-8E769F27E20A}">
      <dgm:prSet phldrT="[Text]"/>
      <dgm:spPr>
        <a:solidFill>
          <a:schemeClr val="bg2"/>
        </a:solidFill>
      </dgm:spPr>
      <dgm:t>
        <a:bodyPr/>
        <a:lstStyle/>
        <a:p>
          <a:r>
            <a:rPr lang="en-AU" noProof="0" dirty="0"/>
            <a:t>Alignment to RGB for different modality pairs</a:t>
          </a:r>
        </a:p>
      </dgm:t>
    </dgm:pt>
    <dgm:pt modelId="{CEDFEC8C-65BA-49D5-8009-6E3576095EBB}" type="parTrans" cxnId="{10101283-9AEC-46C4-8517-427684326338}">
      <dgm:prSet/>
      <dgm:spPr/>
      <dgm:t>
        <a:bodyPr/>
        <a:lstStyle/>
        <a:p>
          <a:endParaRPr lang="de-DE"/>
        </a:p>
      </dgm:t>
    </dgm:pt>
    <dgm:pt modelId="{E3F9DABC-73A0-4E6E-A29F-D1B4BFA008F8}" type="sibTrans" cxnId="{10101283-9AEC-46C4-8517-427684326338}">
      <dgm:prSet/>
      <dgm:spPr/>
      <dgm:t>
        <a:bodyPr/>
        <a:lstStyle/>
        <a:p>
          <a:endParaRPr lang="de-DE"/>
        </a:p>
      </dgm:t>
    </dgm:pt>
    <dgm:pt modelId="{B63B3BF1-B7DB-4E0C-B91D-63BE0CA54CBB}">
      <dgm:prSet phldrT="[Text]"/>
      <dgm:spPr>
        <a:solidFill>
          <a:schemeClr val="accent1"/>
        </a:solidFill>
      </dgm:spPr>
      <dgm:t>
        <a:bodyPr/>
        <a:lstStyle/>
        <a:p>
          <a:r>
            <a:rPr lang="en-AU" noProof="0" dirty="0"/>
            <a:t>Linear Classifier</a:t>
          </a:r>
        </a:p>
        <a:p>
          <a:r>
            <a:rPr lang="en-AU" noProof="0" dirty="0"/>
            <a:t>Evaluation</a:t>
          </a:r>
          <a:endParaRPr lang="de-DE" dirty="0"/>
        </a:p>
      </dgm:t>
    </dgm:pt>
    <dgm:pt modelId="{5E336261-5CCE-4367-A518-A80F69113014}" type="parTrans" cxnId="{FF70C639-B2C3-4A6A-B0F0-F11B75735D2D}">
      <dgm:prSet/>
      <dgm:spPr/>
      <dgm:t>
        <a:bodyPr/>
        <a:lstStyle/>
        <a:p>
          <a:endParaRPr lang="de-DE"/>
        </a:p>
      </dgm:t>
    </dgm:pt>
    <dgm:pt modelId="{B70B6E94-A629-4EA1-9D98-C5E241B3DC00}" type="sibTrans" cxnId="{FF70C639-B2C3-4A6A-B0F0-F11B75735D2D}">
      <dgm:prSet/>
      <dgm:spPr/>
      <dgm:t>
        <a:bodyPr/>
        <a:lstStyle/>
        <a:p>
          <a:endParaRPr lang="de-DE"/>
        </a:p>
      </dgm:t>
    </dgm:pt>
    <dgm:pt modelId="{69C4B396-05ED-458F-9363-26DB698714A0}" type="pres">
      <dgm:prSet presAssocID="{898620FF-A6AD-436A-A783-C1B3C98B54D3}" presName="CompostProcess" presStyleCnt="0">
        <dgm:presLayoutVars>
          <dgm:dir/>
          <dgm:resizeHandles val="exact"/>
        </dgm:presLayoutVars>
      </dgm:prSet>
      <dgm:spPr/>
    </dgm:pt>
    <dgm:pt modelId="{F2EBD7EB-E9AB-4119-BFD9-F85C98BBCCC5}" type="pres">
      <dgm:prSet presAssocID="{898620FF-A6AD-436A-A783-C1B3C98B54D3}" presName="arrow" presStyleLbl="bgShp" presStyleIdx="0" presStyleCnt="1"/>
      <dgm:spPr/>
    </dgm:pt>
    <dgm:pt modelId="{443C0544-0115-4D38-9731-CC79947C6719}" type="pres">
      <dgm:prSet presAssocID="{898620FF-A6AD-436A-A783-C1B3C98B54D3}" presName="linearProcess" presStyleCnt="0"/>
      <dgm:spPr/>
    </dgm:pt>
    <dgm:pt modelId="{8E27EFE4-FC3A-482A-88F9-71C39DEB85DD}" type="pres">
      <dgm:prSet presAssocID="{A9B603A5-E31C-49D5-A31B-D287EABB485A}" presName="textNode" presStyleLbl="node1" presStyleIdx="0" presStyleCnt="3">
        <dgm:presLayoutVars>
          <dgm:bulletEnabled val="1"/>
        </dgm:presLayoutVars>
      </dgm:prSet>
      <dgm:spPr/>
    </dgm:pt>
    <dgm:pt modelId="{0C2A6BB1-478C-4E95-B4D7-E304AD29B4CC}" type="pres">
      <dgm:prSet presAssocID="{B4D54B81-0A3E-4005-92D8-B695CD994F39}" presName="sibTrans" presStyleCnt="0"/>
      <dgm:spPr/>
    </dgm:pt>
    <dgm:pt modelId="{D761A8D5-372B-4EE0-A453-0D40BF2B17E1}" type="pres">
      <dgm:prSet presAssocID="{649D746D-F3DB-410B-9472-8E769F27E20A}" presName="textNode" presStyleLbl="node1" presStyleIdx="1" presStyleCnt="3">
        <dgm:presLayoutVars>
          <dgm:bulletEnabled val="1"/>
        </dgm:presLayoutVars>
      </dgm:prSet>
      <dgm:spPr/>
    </dgm:pt>
    <dgm:pt modelId="{28BE85D3-1D4D-42F6-9FEC-CECCD533C801}" type="pres">
      <dgm:prSet presAssocID="{E3F9DABC-73A0-4E6E-A29F-D1B4BFA008F8}" presName="sibTrans" presStyleCnt="0"/>
      <dgm:spPr/>
    </dgm:pt>
    <dgm:pt modelId="{49F62A63-7438-42DA-8F56-8D7B309CA3C4}" type="pres">
      <dgm:prSet presAssocID="{B63B3BF1-B7DB-4E0C-B91D-63BE0CA54CBB}" presName="textNode" presStyleLbl="node1" presStyleIdx="2" presStyleCnt="3">
        <dgm:presLayoutVars>
          <dgm:bulletEnabled val="1"/>
        </dgm:presLayoutVars>
      </dgm:prSet>
      <dgm:spPr/>
    </dgm:pt>
  </dgm:ptLst>
  <dgm:cxnLst>
    <dgm:cxn modelId="{FF70C639-B2C3-4A6A-B0F0-F11B75735D2D}" srcId="{898620FF-A6AD-436A-A783-C1B3C98B54D3}" destId="{B63B3BF1-B7DB-4E0C-B91D-63BE0CA54CBB}" srcOrd="2" destOrd="0" parTransId="{5E336261-5CCE-4367-A518-A80F69113014}" sibTransId="{B70B6E94-A629-4EA1-9D98-C5E241B3DC00}"/>
    <dgm:cxn modelId="{10101283-9AEC-46C4-8517-427684326338}" srcId="{898620FF-A6AD-436A-A783-C1B3C98B54D3}" destId="{649D746D-F3DB-410B-9472-8E769F27E20A}" srcOrd="1" destOrd="0" parTransId="{CEDFEC8C-65BA-49D5-8009-6E3576095EBB}" sibTransId="{E3F9DABC-73A0-4E6E-A29F-D1B4BFA008F8}"/>
    <dgm:cxn modelId="{5E55928E-91B6-4EC0-A862-2ED7CAE9DEDF}" srcId="{898620FF-A6AD-436A-A783-C1B3C98B54D3}" destId="{A9B603A5-E31C-49D5-A31B-D287EABB485A}" srcOrd="0" destOrd="0" parTransId="{62F57E5C-94D2-400F-8F21-FB82A529F913}" sibTransId="{B4D54B81-0A3E-4005-92D8-B695CD994F39}"/>
    <dgm:cxn modelId="{FF5C3890-14A3-4350-808E-3AF99A6573BD}" type="presOf" srcId="{B63B3BF1-B7DB-4E0C-B91D-63BE0CA54CBB}" destId="{49F62A63-7438-42DA-8F56-8D7B309CA3C4}" srcOrd="0" destOrd="0" presId="urn:microsoft.com/office/officeart/2005/8/layout/hProcess9"/>
    <dgm:cxn modelId="{F245A792-7D12-43EA-8EC3-D8BABC8D3817}" type="presOf" srcId="{898620FF-A6AD-436A-A783-C1B3C98B54D3}" destId="{69C4B396-05ED-458F-9363-26DB698714A0}" srcOrd="0" destOrd="0" presId="urn:microsoft.com/office/officeart/2005/8/layout/hProcess9"/>
    <dgm:cxn modelId="{2DFE63A5-21D9-4ACE-A8F9-4B51AD686642}" type="presOf" srcId="{A9B603A5-E31C-49D5-A31B-D287EABB485A}" destId="{8E27EFE4-FC3A-482A-88F9-71C39DEB85DD}" srcOrd="0" destOrd="0" presId="urn:microsoft.com/office/officeart/2005/8/layout/hProcess9"/>
    <dgm:cxn modelId="{1F3FA2FC-62B6-4C99-BEA0-658C0C794339}" type="presOf" srcId="{649D746D-F3DB-410B-9472-8E769F27E20A}" destId="{D761A8D5-372B-4EE0-A453-0D40BF2B17E1}" srcOrd="0" destOrd="0" presId="urn:microsoft.com/office/officeart/2005/8/layout/hProcess9"/>
    <dgm:cxn modelId="{5BCE7443-E3FC-4EA9-BFE8-39439621C131}" type="presParOf" srcId="{69C4B396-05ED-458F-9363-26DB698714A0}" destId="{F2EBD7EB-E9AB-4119-BFD9-F85C98BBCCC5}" srcOrd="0" destOrd="0" presId="urn:microsoft.com/office/officeart/2005/8/layout/hProcess9"/>
    <dgm:cxn modelId="{872D27BB-BE4E-4B47-97EC-A40035CE551F}" type="presParOf" srcId="{69C4B396-05ED-458F-9363-26DB698714A0}" destId="{443C0544-0115-4D38-9731-CC79947C6719}" srcOrd="1" destOrd="0" presId="urn:microsoft.com/office/officeart/2005/8/layout/hProcess9"/>
    <dgm:cxn modelId="{F47CA12C-C5D3-4867-A01E-1AC21997EB05}" type="presParOf" srcId="{443C0544-0115-4D38-9731-CC79947C6719}" destId="{8E27EFE4-FC3A-482A-88F9-71C39DEB85DD}" srcOrd="0" destOrd="0" presId="urn:microsoft.com/office/officeart/2005/8/layout/hProcess9"/>
    <dgm:cxn modelId="{F179D808-4C61-47F7-9445-DC370F69BA74}" type="presParOf" srcId="{443C0544-0115-4D38-9731-CC79947C6719}" destId="{0C2A6BB1-478C-4E95-B4D7-E304AD29B4CC}" srcOrd="1" destOrd="0" presId="urn:microsoft.com/office/officeart/2005/8/layout/hProcess9"/>
    <dgm:cxn modelId="{4296EC96-B052-44A6-9CA5-F6DDC1D3FB35}" type="presParOf" srcId="{443C0544-0115-4D38-9731-CC79947C6719}" destId="{D761A8D5-372B-4EE0-A453-0D40BF2B17E1}" srcOrd="2" destOrd="0" presId="urn:microsoft.com/office/officeart/2005/8/layout/hProcess9"/>
    <dgm:cxn modelId="{369F6DE8-64FD-49C1-A2A6-2E8D9C00EE06}" type="presParOf" srcId="{443C0544-0115-4D38-9731-CC79947C6719}" destId="{28BE85D3-1D4D-42F6-9FEC-CECCD533C801}" srcOrd="3" destOrd="0" presId="urn:microsoft.com/office/officeart/2005/8/layout/hProcess9"/>
    <dgm:cxn modelId="{18FE4597-04CA-47AC-B6B1-5CD6F3006583}" type="presParOf" srcId="{443C0544-0115-4D38-9731-CC79947C6719}" destId="{49F62A63-7438-42DA-8F56-8D7B309CA3C4}"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98620FF-A6AD-436A-A783-C1B3C98B54D3}" type="doc">
      <dgm:prSet loTypeId="urn:microsoft.com/office/officeart/2005/8/layout/hProcess9" loCatId="process" qsTypeId="urn:microsoft.com/office/officeart/2005/8/quickstyle/simple1" qsCatId="simple" csTypeId="urn:microsoft.com/office/officeart/2005/8/colors/accent1_2" csCatId="accent1" phldr="1"/>
      <dgm:spPr/>
    </dgm:pt>
    <dgm:pt modelId="{A9B603A5-E31C-49D5-A31B-D287EABB485A}">
      <dgm:prSet phldrT="[Text]"/>
      <dgm:spPr>
        <a:solidFill>
          <a:schemeClr val="bg2"/>
        </a:solidFill>
      </dgm:spPr>
      <dgm:t>
        <a:bodyPr/>
        <a:lstStyle/>
        <a:p>
          <a:r>
            <a:rPr lang="de-DE" dirty="0"/>
            <a:t>Finetuning  CLIP-VIP</a:t>
          </a:r>
        </a:p>
      </dgm:t>
    </dgm:pt>
    <dgm:pt modelId="{62F57E5C-94D2-400F-8F21-FB82A529F913}" type="parTrans" cxnId="{5E55928E-91B6-4EC0-A862-2ED7CAE9DEDF}">
      <dgm:prSet/>
      <dgm:spPr/>
      <dgm:t>
        <a:bodyPr/>
        <a:lstStyle/>
        <a:p>
          <a:endParaRPr lang="de-DE"/>
        </a:p>
      </dgm:t>
    </dgm:pt>
    <dgm:pt modelId="{B4D54B81-0A3E-4005-92D8-B695CD994F39}" type="sibTrans" cxnId="{5E55928E-91B6-4EC0-A862-2ED7CAE9DEDF}">
      <dgm:prSet/>
      <dgm:spPr/>
      <dgm:t>
        <a:bodyPr/>
        <a:lstStyle/>
        <a:p>
          <a:endParaRPr lang="de-DE"/>
        </a:p>
      </dgm:t>
    </dgm:pt>
    <dgm:pt modelId="{649D746D-F3DB-410B-9472-8E769F27E20A}">
      <dgm:prSet phldrT="[Text]"/>
      <dgm:spPr>
        <a:solidFill>
          <a:schemeClr val="bg2"/>
        </a:solidFill>
      </dgm:spPr>
      <dgm:t>
        <a:bodyPr/>
        <a:lstStyle/>
        <a:p>
          <a:r>
            <a:rPr lang="en-AU" noProof="0" dirty="0"/>
            <a:t>Alignment to RGB for different modality pairs</a:t>
          </a:r>
        </a:p>
      </dgm:t>
    </dgm:pt>
    <dgm:pt modelId="{CEDFEC8C-65BA-49D5-8009-6E3576095EBB}" type="parTrans" cxnId="{10101283-9AEC-46C4-8517-427684326338}">
      <dgm:prSet/>
      <dgm:spPr/>
      <dgm:t>
        <a:bodyPr/>
        <a:lstStyle/>
        <a:p>
          <a:endParaRPr lang="de-DE"/>
        </a:p>
      </dgm:t>
    </dgm:pt>
    <dgm:pt modelId="{E3F9DABC-73A0-4E6E-A29F-D1B4BFA008F8}" type="sibTrans" cxnId="{10101283-9AEC-46C4-8517-427684326338}">
      <dgm:prSet/>
      <dgm:spPr/>
      <dgm:t>
        <a:bodyPr/>
        <a:lstStyle/>
        <a:p>
          <a:endParaRPr lang="de-DE"/>
        </a:p>
      </dgm:t>
    </dgm:pt>
    <dgm:pt modelId="{B63B3BF1-B7DB-4E0C-B91D-63BE0CA54CBB}">
      <dgm:prSet phldrT="[Text]"/>
      <dgm:spPr>
        <a:solidFill>
          <a:schemeClr val="accent1"/>
        </a:solidFill>
      </dgm:spPr>
      <dgm:t>
        <a:bodyPr/>
        <a:lstStyle/>
        <a:p>
          <a:r>
            <a:rPr lang="en-AU" noProof="0" dirty="0"/>
            <a:t>Linear Classifier</a:t>
          </a:r>
        </a:p>
        <a:p>
          <a:r>
            <a:rPr lang="en-AU" noProof="0" dirty="0"/>
            <a:t>Evaluation</a:t>
          </a:r>
          <a:endParaRPr lang="de-DE" dirty="0"/>
        </a:p>
      </dgm:t>
    </dgm:pt>
    <dgm:pt modelId="{5E336261-5CCE-4367-A518-A80F69113014}" type="parTrans" cxnId="{FF70C639-B2C3-4A6A-B0F0-F11B75735D2D}">
      <dgm:prSet/>
      <dgm:spPr/>
      <dgm:t>
        <a:bodyPr/>
        <a:lstStyle/>
        <a:p>
          <a:endParaRPr lang="de-DE"/>
        </a:p>
      </dgm:t>
    </dgm:pt>
    <dgm:pt modelId="{B70B6E94-A629-4EA1-9D98-C5E241B3DC00}" type="sibTrans" cxnId="{FF70C639-B2C3-4A6A-B0F0-F11B75735D2D}">
      <dgm:prSet/>
      <dgm:spPr/>
      <dgm:t>
        <a:bodyPr/>
        <a:lstStyle/>
        <a:p>
          <a:endParaRPr lang="de-DE"/>
        </a:p>
      </dgm:t>
    </dgm:pt>
    <dgm:pt modelId="{69C4B396-05ED-458F-9363-26DB698714A0}" type="pres">
      <dgm:prSet presAssocID="{898620FF-A6AD-436A-A783-C1B3C98B54D3}" presName="CompostProcess" presStyleCnt="0">
        <dgm:presLayoutVars>
          <dgm:dir/>
          <dgm:resizeHandles val="exact"/>
        </dgm:presLayoutVars>
      </dgm:prSet>
      <dgm:spPr/>
    </dgm:pt>
    <dgm:pt modelId="{F2EBD7EB-E9AB-4119-BFD9-F85C98BBCCC5}" type="pres">
      <dgm:prSet presAssocID="{898620FF-A6AD-436A-A783-C1B3C98B54D3}" presName="arrow" presStyleLbl="bgShp" presStyleIdx="0" presStyleCnt="1"/>
      <dgm:spPr/>
    </dgm:pt>
    <dgm:pt modelId="{443C0544-0115-4D38-9731-CC79947C6719}" type="pres">
      <dgm:prSet presAssocID="{898620FF-A6AD-436A-A783-C1B3C98B54D3}" presName="linearProcess" presStyleCnt="0"/>
      <dgm:spPr/>
    </dgm:pt>
    <dgm:pt modelId="{8E27EFE4-FC3A-482A-88F9-71C39DEB85DD}" type="pres">
      <dgm:prSet presAssocID="{A9B603A5-E31C-49D5-A31B-D287EABB485A}" presName="textNode" presStyleLbl="node1" presStyleIdx="0" presStyleCnt="3">
        <dgm:presLayoutVars>
          <dgm:bulletEnabled val="1"/>
        </dgm:presLayoutVars>
      </dgm:prSet>
      <dgm:spPr/>
    </dgm:pt>
    <dgm:pt modelId="{0C2A6BB1-478C-4E95-B4D7-E304AD29B4CC}" type="pres">
      <dgm:prSet presAssocID="{B4D54B81-0A3E-4005-92D8-B695CD994F39}" presName="sibTrans" presStyleCnt="0"/>
      <dgm:spPr/>
    </dgm:pt>
    <dgm:pt modelId="{D761A8D5-372B-4EE0-A453-0D40BF2B17E1}" type="pres">
      <dgm:prSet presAssocID="{649D746D-F3DB-410B-9472-8E769F27E20A}" presName="textNode" presStyleLbl="node1" presStyleIdx="1" presStyleCnt="3">
        <dgm:presLayoutVars>
          <dgm:bulletEnabled val="1"/>
        </dgm:presLayoutVars>
      </dgm:prSet>
      <dgm:spPr/>
    </dgm:pt>
    <dgm:pt modelId="{28BE85D3-1D4D-42F6-9FEC-CECCD533C801}" type="pres">
      <dgm:prSet presAssocID="{E3F9DABC-73A0-4E6E-A29F-D1B4BFA008F8}" presName="sibTrans" presStyleCnt="0"/>
      <dgm:spPr/>
    </dgm:pt>
    <dgm:pt modelId="{49F62A63-7438-42DA-8F56-8D7B309CA3C4}" type="pres">
      <dgm:prSet presAssocID="{B63B3BF1-B7DB-4E0C-B91D-63BE0CA54CBB}" presName="textNode" presStyleLbl="node1" presStyleIdx="2" presStyleCnt="3">
        <dgm:presLayoutVars>
          <dgm:bulletEnabled val="1"/>
        </dgm:presLayoutVars>
      </dgm:prSet>
      <dgm:spPr/>
    </dgm:pt>
  </dgm:ptLst>
  <dgm:cxnLst>
    <dgm:cxn modelId="{FF70C639-B2C3-4A6A-B0F0-F11B75735D2D}" srcId="{898620FF-A6AD-436A-A783-C1B3C98B54D3}" destId="{B63B3BF1-B7DB-4E0C-B91D-63BE0CA54CBB}" srcOrd="2" destOrd="0" parTransId="{5E336261-5CCE-4367-A518-A80F69113014}" sibTransId="{B70B6E94-A629-4EA1-9D98-C5E241B3DC00}"/>
    <dgm:cxn modelId="{10101283-9AEC-46C4-8517-427684326338}" srcId="{898620FF-A6AD-436A-A783-C1B3C98B54D3}" destId="{649D746D-F3DB-410B-9472-8E769F27E20A}" srcOrd="1" destOrd="0" parTransId="{CEDFEC8C-65BA-49D5-8009-6E3576095EBB}" sibTransId="{E3F9DABC-73A0-4E6E-A29F-D1B4BFA008F8}"/>
    <dgm:cxn modelId="{5E55928E-91B6-4EC0-A862-2ED7CAE9DEDF}" srcId="{898620FF-A6AD-436A-A783-C1B3C98B54D3}" destId="{A9B603A5-E31C-49D5-A31B-D287EABB485A}" srcOrd="0" destOrd="0" parTransId="{62F57E5C-94D2-400F-8F21-FB82A529F913}" sibTransId="{B4D54B81-0A3E-4005-92D8-B695CD994F39}"/>
    <dgm:cxn modelId="{FF5C3890-14A3-4350-808E-3AF99A6573BD}" type="presOf" srcId="{B63B3BF1-B7DB-4E0C-B91D-63BE0CA54CBB}" destId="{49F62A63-7438-42DA-8F56-8D7B309CA3C4}" srcOrd="0" destOrd="0" presId="urn:microsoft.com/office/officeart/2005/8/layout/hProcess9"/>
    <dgm:cxn modelId="{F245A792-7D12-43EA-8EC3-D8BABC8D3817}" type="presOf" srcId="{898620FF-A6AD-436A-A783-C1B3C98B54D3}" destId="{69C4B396-05ED-458F-9363-26DB698714A0}" srcOrd="0" destOrd="0" presId="urn:microsoft.com/office/officeart/2005/8/layout/hProcess9"/>
    <dgm:cxn modelId="{2DFE63A5-21D9-4ACE-A8F9-4B51AD686642}" type="presOf" srcId="{A9B603A5-E31C-49D5-A31B-D287EABB485A}" destId="{8E27EFE4-FC3A-482A-88F9-71C39DEB85DD}" srcOrd="0" destOrd="0" presId="urn:microsoft.com/office/officeart/2005/8/layout/hProcess9"/>
    <dgm:cxn modelId="{1F3FA2FC-62B6-4C99-BEA0-658C0C794339}" type="presOf" srcId="{649D746D-F3DB-410B-9472-8E769F27E20A}" destId="{D761A8D5-372B-4EE0-A453-0D40BF2B17E1}" srcOrd="0" destOrd="0" presId="urn:microsoft.com/office/officeart/2005/8/layout/hProcess9"/>
    <dgm:cxn modelId="{5BCE7443-E3FC-4EA9-BFE8-39439621C131}" type="presParOf" srcId="{69C4B396-05ED-458F-9363-26DB698714A0}" destId="{F2EBD7EB-E9AB-4119-BFD9-F85C98BBCCC5}" srcOrd="0" destOrd="0" presId="urn:microsoft.com/office/officeart/2005/8/layout/hProcess9"/>
    <dgm:cxn modelId="{872D27BB-BE4E-4B47-97EC-A40035CE551F}" type="presParOf" srcId="{69C4B396-05ED-458F-9363-26DB698714A0}" destId="{443C0544-0115-4D38-9731-CC79947C6719}" srcOrd="1" destOrd="0" presId="urn:microsoft.com/office/officeart/2005/8/layout/hProcess9"/>
    <dgm:cxn modelId="{F47CA12C-C5D3-4867-A01E-1AC21997EB05}" type="presParOf" srcId="{443C0544-0115-4D38-9731-CC79947C6719}" destId="{8E27EFE4-FC3A-482A-88F9-71C39DEB85DD}" srcOrd="0" destOrd="0" presId="urn:microsoft.com/office/officeart/2005/8/layout/hProcess9"/>
    <dgm:cxn modelId="{F179D808-4C61-47F7-9445-DC370F69BA74}" type="presParOf" srcId="{443C0544-0115-4D38-9731-CC79947C6719}" destId="{0C2A6BB1-478C-4E95-B4D7-E304AD29B4CC}" srcOrd="1" destOrd="0" presId="urn:microsoft.com/office/officeart/2005/8/layout/hProcess9"/>
    <dgm:cxn modelId="{4296EC96-B052-44A6-9CA5-F6DDC1D3FB35}" type="presParOf" srcId="{443C0544-0115-4D38-9731-CC79947C6719}" destId="{D761A8D5-372B-4EE0-A453-0D40BF2B17E1}" srcOrd="2" destOrd="0" presId="urn:microsoft.com/office/officeart/2005/8/layout/hProcess9"/>
    <dgm:cxn modelId="{369F6DE8-64FD-49C1-A2A6-2E8D9C00EE06}" type="presParOf" srcId="{443C0544-0115-4D38-9731-CC79947C6719}" destId="{28BE85D3-1D4D-42F6-9FEC-CECCD533C801}" srcOrd="3" destOrd="0" presId="urn:microsoft.com/office/officeart/2005/8/layout/hProcess9"/>
    <dgm:cxn modelId="{18FE4597-04CA-47AC-B6B1-5CD6F3006583}" type="presParOf" srcId="{443C0544-0115-4D38-9731-CC79947C6719}" destId="{49F62A63-7438-42DA-8F56-8D7B309CA3C4}"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98620FF-A6AD-436A-A783-C1B3C98B54D3}" type="doc">
      <dgm:prSet loTypeId="urn:microsoft.com/office/officeart/2005/8/layout/hProcess9" loCatId="process" qsTypeId="urn:microsoft.com/office/officeart/2005/8/quickstyle/simple1" qsCatId="simple" csTypeId="urn:microsoft.com/office/officeart/2005/8/colors/accent1_2" csCatId="accent1" phldr="1"/>
      <dgm:spPr/>
    </dgm:pt>
    <dgm:pt modelId="{A9B603A5-E31C-49D5-A31B-D287EABB485A}">
      <dgm:prSet phldrT="[Text]"/>
      <dgm:spPr>
        <a:solidFill>
          <a:schemeClr val="bg2"/>
        </a:solidFill>
      </dgm:spPr>
      <dgm:t>
        <a:bodyPr/>
        <a:lstStyle/>
        <a:p>
          <a:r>
            <a:rPr lang="de-DE" dirty="0"/>
            <a:t>Finetuning  CLIP-VIP</a:t>
          </a:r>
        </a:p>
      </dgm:t>
    </dgm:pt>
    <dgm:pt modelId="{62F57E5C-94D2-400F-8F21-FB82A529F913}" type="parTrans" cxnId="{5E55928E-91B6-4EC0-A862-2ED7CAE9DEDF}">
      <dgm:prSet/>
      <dgm:spPr/>
      <dgm:t>
        <a:bodyPr/>
        <a:lstStyle/>
        <a:p>
          <a:endParaRPr lang="de-DE"/>
        </a:p>
      </dgm:t>
    </dgm:pt>
    <dgm:pt modelId="{B4D54B81-0A3E-4005-92D8-B695CD994F39}" type="sibTrans" cxnId="{5E55928E-91B6-4EC0-A862-2ED7CAE9DEDF}">
      <dgm:prSet/>
      <dgm:spPr/>
      <dgm:t>
        <a:bodyPr/>
        <a:lstStyle/>
        <a:p>
          <a:endParaRPr lang="de-DE"/>
        </a:p>
      </dgm:t>
    </dgm:pt>
    <dgm:pt modelId="{649D746D-F3DB-410B-9472-8E769F27E20A}">
      <dgm:prSet phldrT="[Text]"/>
      <dgm:spPr>
        <a:solidFill>
          <a:schemeClr val="bg2"/>
        </a:solidFill>
      </dgm:spPr>
      <dgm:t>
        <a:bodyPr/>
        <a:lstStyle/>
        <a:p>
          <a:r>
            <a:rPr lang="en-AU" noProof="0" dirty="0"/>
            <a:t>Alignment to RGB for different modality pairs</a:t>
          </a:r>
        </a:p>
      </dgm:t>
    </dgm:pt>
    <dgm:pt modelId="{CEDFEC8C-65BA-49D5-8009-6E3576095EBB}" type="parTrans" cxnId="{10101283-9AEC-46C4-8517-427684326338}">
      <dgm:prSet/>
      <dgm:spPr/>
      <dgm:t>
        <a:bodyPr/>
        <a:lstStyle/>
        <a:p>
          <a:endParaRPr lang="de-DE"/>
        </a:p>
      </dgm:t>
    </dgm:pt>
    <dgm:pt modelId="{E3F9DABC-73A0-4E6E-A29F-D1B4BFA008F8}" type="sibTrans" cxnId="{10101283-9AEC-46C4-8517-427684326338}">
      <dgm:prSet/>
      <dgm:spPr/>
      <dgm:t>
        <a:bodyPr/>
        <a:lstStyle/>
        <a:p>
          <a:endParaRPr lang="de-DE"/>
        </a:p>
      </dgm:t>
    </dgm:pt>
    <dgm:pt modelId="{B63B3BF1-B7DB-4E0C-B91D-63BE0CA54CBB}">
      <dgm:prSet phldrT="[Text]"/>
      <dgm:spPr>
        <a:solidFill>
          <a:schemeClr val="accent1"/>
        </a:solidFill>
      </dgm:spPr>
      <dgm:t>
        <a:bodyPr/>
        <a:lstStyle/>
        <a:p>
          <a:r>
            <a:rPr lang="en-AU" noProof="0" dirty="0"/>
            <a:t>Linear Classifier</a:t>
          </a:r>
        </a:p>
        <a:p>
          <a:r>
            <a:rPr lang="en-AU" noProof="0" dirty="0"/>
            <a:t>Evaluation</a:t>
          </a:r>
          <a:endParaRPr lang="de-DE" dirty="0"/>
        </a:p>
      </dgm:t>
    </dgm:pt>
    <dgm:pt modelId="{5E336261-5CCE-4367-A518-A80F69113014}" type="parTrans" cxnId="{FF70C639-B2C3-4A6A-B0F0-F11B75735D2D}">
      <dgm:prSet/>
      <dgm:spPr/>
      <dgm:t>
        <a:bodyPr/>
        <a:lstStyle/>
        <a:p>
          <a:endParaRPr lang="de-DE"/>
        </a:p>
      </dgm:t>
    </dgm:pt>
    <dgm:pt modelId="{B70B6E94-A629-4EA1-9D98-C5E241B3DC00}" type="sibTrans" cxnId="{FF70C639-B2C3-4A6A-B0F0-F11B75735D2D}">
      <dgm:prSet/>
      <dgm:spPr/>
      <dgm:t>
        <a:bodyPr/>
        <a:lstStyle/>
        <a:p>
          <a:endParaRPr lang="de-DE"/>
        </a:p>
      </dgm:t>
    </dgm:pt>
    <dgm:pt modelId="{69C4B396-05ED-458F-9363-26DB698714A0}" type="pres">
      <dgm:prSet presAssocID="{898620FF-A6AD-436A-A783-C1B3C98B54D3}" presName="CompostProcess" presStyleCnt="0">
        <dgm:presLayoutVars>
          <dgm:dir/>
          <dgm:resizeHandles val="exact"/>
        </dgm:presLayoutVars>
      </dgm:prSet>
      <dgm:spPr/>
    </dgm:pt>
    <dgm:pt modelId="{F2EBD7EB-E9AB-4119-BFD9-F85C98BBCCC5}" type="pres">
      <dgm:prSet presAssocID="{898620FF-A6AD-436A-A783-C1B3C98B54D3}" presName="arrow" presStyleLbl="bgShp" presStyleIdx="0" presStyleCnt="1"/>
      <dgm:spPr/>
    </dgm:pt>
    <dgm:pt modelId="{443C0544-0115-4D38-9731-CC79947C6719}" type="pres">
      <dgm:prSet presAssocID="{898620FF-A6AD-436A-A783-C1B3C98B54D3}" presName="linearProcess" presStyleCnt="0"/>
      <dgm:spPr/>
    </dgm:pt>
    <dgm:pt modelId="{8E27EFE4-FC3A-482A-88F9-71C39DEB85DD}" type="pres">
      <dgm:prSet presAssocID="{A9B603A5-E31C-49D5-A31B-D287EABB485A}" presName="textNode" presStyleLbl="node1" presStyleIdx="0" presStyleCnt="3">
        <dgm:presLayoutVars>
          <dgm:bulletEnabled val="1"/>
        </dgm:presLayoutVars>
      </dgm:prSet>
      <dgm:spPr/>
    </dgm:pt>
    <dgm:pt modelId="{0C2A6BB1-478C-4E95-B4D7-E304AD29B4CC}" type="pres">
      <dgm:prSet presAssocID="{B4D54B81-0A3E-4005-92D8-B695CD994F39}" presName="sibTrans" presStyleCnt="0"/>
      <dgm:spPr/>
    </dgm:pt>
    <dgm:pt modelId="{D761A8D5-372B-4EE0-A453-0D40BF2B17E1}" type="pres">
      <dgm:prSet presAssocID="{649D746D-F3DB-410B-9472-8E769F27E20A}" presName="textNode" presStyleLbl="node1" presStyleIdx="1" presStyleCnt="3">
        <dgm:presLayoutVars>
          <dgm:bulletEnabled val="1"/>
        </dgm:presLayoutVars>
      </dgm:prSet>
      <dgm:spPr/>
    </dgm:pt>
    <dgm:pt modelId="{28BE85D3-1D4D-42F6-9FEC-CECCD533C801}" type="pres">
      <dgm:prSet presAssocID="{E3F9DABC-73A0-4E6E-A29F-D1B4BFA008F8}" presName="sibTrans" presStyleCnt="0"/>
      <dgm:spPr/>
    </dgm:pt>
    <dgm:pt modelId="{49F62A63-7438-42DA-8F56-8D7B309CA3C4}" type="pres">
      <dgm:prSet presAssocID="{B63B3BF1-B7DB-4E0C-B91D-63BE0CA54CBB}" presName="textNode" presStyleLbl="node1" presStyleIdx="2" presStyleCnt="3">
        <dgm:presLayoutVars>
          <dgm:bulletEnabled val="1"/>
        </dgm:presLayoutVars>
      </dgm:prSet>
      <dgm:spPr/>
    </dgm:pt>
  </dgm:ptLst>
  <dgm:cxnLst>
    <dgm:cxn modelId="{FF70C639-B2C3-4A6A-B0F0-F11B75735D2D}" srcId="{898620FF-A6AD-436A-A783-C1B3C98B54D3}" destId="{B63B3BF1-B7DB-4E0C-B91D-63BE0CA54CBB}" srcOrd="2" destOrd="0" parTransId="{5E336261-5CCE-4367-A518-A80F69113014}" sibTransId="{B70B6E94-A629-4EA1-9D98-C5E241B3DC00}"/>
    <dgm:cxn modelId="{10101283-9AEC-46C4-8517-427684326338}" srcId="{898620FF-A6AD-436A-A783-C1B3C98B54D3}" destId="{649D746D-F3DB-410B-9472-8E769F27E20A}" srcOrd="1" destOrd="0" parTransId="{CEDFEC8C-65BA-49D5-8009-6E3576095EBB}" sibTransId="{E3F9DABC-73A0-4E6E-A29F-D1B4BFA008F8}"/>
    <dgm:cxn modelId="{5E55928E-91B6-4EC0-A862-2ED7CAE9DEDF}" srcId="{898620FF-A6AD-436A-A783-C1B3C98B54D3}" destId="{A9B603A5-E31C-49D5-A31B-D287EABB485A}" srcOrd="0" destOrd="0" parTransId="{62F57E5C-94D2-400F-8F21-FB82A529F913}" sibTransId="{B4D54B81-0A3E-4005-92D8-B695CD994F39}"/>
    <dgm:cxn modelId="{FF5C3890-14A3-4350-808E-3AF99A6573BD}" type="presOf" srcId="{B63B3BF1-B7DB-4E0C-B91D-63BE0CA54CBB}" destId="{49F62A63-7438-42DA-8F56-8D7B309CA3C4}" srcOrd="0" destOrd="0" presId="urn:microsoft.com/office/officeart/2005/8/layout/hProcess9"/>
    <dgm:cxn modelId="{F245A792-7D12-43EA-8EC3-D8BABC8D3817}" type="presOf" srcId="{898620FF-A6AD-436A-A783-C1B3C98B54D3}" destId="{69C4B396-05ED-458F-9363-26DB698714A0}" srcOrd="0" destOrd="0" presId="urn:microsoft.com/office/officeart/2005/8/layout/hProcess9"/>
    <dgm:cxn modelId="{2DFE63A5-21D9-4ACE-A8F9-4B51AD686642}" type="presOf" srcId="{A9B603A5-E31C-49D5-A31B-D287EABB485A}" destId="{8E27EFE4-FC3A-482A-88F9-71C39DEB85DD}" srcOrd="0" destOrd="0" presId="urn:microsoft.com/office/officeart/2005/8/layout/hProcess9"/>
    <dgm:cxn modelId="{1F3FA2FC-62B6-4C99-BEA0-658C0C794339}" type="presOf" srcId="{649D746D-F3DB-410B-9472-8E769F27E20A}" destId="{D761A8D5-372B-4EE0-A453-0D40BF2B17E1}" srcOrd="0" destOrd="0" presId="urn:microsoft.com/office/officeart/2005/8/layout/hProcess9"/>
    <dgm:cxn modelId="{5BCE7443-E3FC-4EA9-BFE8-39439621C131}" type="presParOf" srcId="{69C4B396-05ED-458F-9363-26DB698714A0}" destId="{F2EBD7EB-E9AB-4119-BFD9-F85C98BBCCC5}" srcOrd="0" destOrd="0" presId="urn:microsoft.com/office/officeart/2005/8/layout/hProcess9"/>
    <dgm:cxn modelId="{872D27BB-BE4E-4B47-97EC-A40035CE551F}" type="presParOf" srcId="{69C4B396-05ED-458F-9363-26DB698714A0}" destId="{443C0544-0115-4D38-9731-CC79947C6719}" srcOrd="1" destOrd="0" presId="urn:microsoft.com/office/officeart/2005/8/layout/hProcess9"/>
    <dgm:cxn modelId="{F47CA12C-C5D3-4867-A01E-1AC21997EB05}" type="presParOf" srcId="{443C0544-0115-4D38-9731-CC79947C6719}" destId="{8E27EFE4-FC3A-482A-88F9-71C39DEB85DD}" srcOrd="0" destOrd="0" presId="urn:microsoft.com/office/officeart/2005/8/layout/hProcess9"/>
    <dgm:cxn modelId="{F179D808-4C61-47F7-9445-DC370F69BA74}" type="presParOf" srcId="{443C0544-0115-4D38-9731-CC79947C6719}" destId="{0C2A6BB1-478C-4E95-B4D7-E304AD29B4CC}" srcOrd="1" destOrd="0" presId="urn:microsoft.com/office/officeart/2005/8/layout/hProcess9"/>
    <dgm:cxn modelId="{4296EC96-B052-44A6-9CA5-F6DDC1D3FB35}" type="presParOf" srcId="{443C0544-0115-4D38-9731-CC79947C6719}" destId="{D761A8D5-372B-4EE0-A453-0D40BF2B17E1}" srcOrd="2" destOrd="0" presId="urn:microsoft.com/office/officeart/2005/8/layout/hProcess9"/>
    <dgm:cxn modelId="{369F6DE8-64FD-49C1-A2A6-2E8D9C00EE06}" type="presParOf" srcId="{443C0544-0115-4D38-9731-CC79947C6719}" destId="{28BE85D3-1D4D-42F6-9FEC-CECCD533C801}" srcOrd="3" destOrd="0" presId="urn:microsoft.com/office/officeart/2005/8/layout/hProcess9"/>
    <dgm:cxn modelId="{18FE4597-04CA-47AC-B6B1-5CD6F3006583}" type="presParOf" srcId="{443C0544-0115-4D38-9731-CC79947C6719}" destId="{49F62A63-7438-42DA-8F56-8D7B309CA3C4}"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BD7EB-E9AB-4119-BFD9-F85C98BBCCC5}">
      <dsp:nvSpPr>
        <dsp:cNvPr id="0" name=""/>
        <dsp:cNvSpPr/>
      </dsp:nvSpPr>
      <dsp:spPr>
        <a:xfrm>
          <a:off x="609599" y="0"/>
          <a:ext cx="6908800" cy="5418667"/>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7EFE4-FC3A-482A-88F9-71C39DEB85DD}">
      <dsp:nvSpPr>
        <dsp:cNvPr id="0" name=""/>
        <dsp:cNvSpPr/>
      </dsp:nvSpPr>
      <dsp:spPr>
        <a:xfrm>
          <a:off x="275431" y="1625600"/>
          <a:ext cx="2438400" cy="216746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dirty="0"/>
            <a:t>Fine-tuning  CLIP-</a:t>
          </a:r>
          <a:r>
            <a:rPr lang="de-DE" sz="2500" kern="1200" dirty="0" err="1"/>
            <a:t>ViP</a:t>
          </a:r>
          <a:endParaRPr lang="de-DE" sz="2500" kern="1200" dirty="0"/>
        </a:p>
      </dsp:txBody>
      <dsp:txXfrm>
        <a:off x="381238" y="1731407"/>
        <a:ext cx="2226786" cy="1955852"/>
      </dsp:txXfrm>
    </dsp:sp>
    <dsp:sp modelId="{D761A8D5-372B-4EE0-A453-0D40BF2B17E1}">
      <dsp:nvSpPr>
        <dsp:cNvPr id="0" name=""/>
        <dsp:cNvSpPr/>
      </dsp:nvSpPr>
      <dsp:spPr>
        <a:xfrm>
          <a:off x="2844799" y="1625600"/>
          <a:ext cx="2438400" cy="216746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AU" sz="2500" kern="1200" noProof="0" dirty="0"/>
            <a:t>Alignment to RGB for different modality pairs</a:t>
          </a:r>
        </a:p>
      </dsp:txBody>
      <dsp:txXfrm>
        <a:off x="2950606" y="1731407"/>
        <a:ext cx="2226786" cy="1955852"/>
      </dsp:txXfrm>
    </dsp:sp>
    <dsp:sp modelId="{49F62A63-7438-42DA-8F56-8D7B309CA3C4}">
      <dsp:nvSpPr>
        <dsp:cNvPr id="0" name=""/>
        <dsp:cNvSpPr/>
      </dsp:nvSpPr>
      <dsp:spPr>
        <a:xfrm>
          <a:off x="5414168" y="1625600"/>
          <a:ext cx="2438400" cy="216746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AU" sz="2500" kern="1200" noProof="0" dirty="0"/>
            <a:t>Evaluation</a:t>
          </a:r>
        </a:p>
        <a:p>
          <a:pPr marL="0" lvl="0" indent="0" algn="ctr" defTabSz="1111250">
            <a:lnSpc>
              <a:spcPct val="90000"/>
            </a:lnSpc>
            <a:spcBef>
              <a:spcPct val="0"/>
            </a:spcBef>
            <a:spcAft>
              <a:spcPct val="35000"/>
            </a:spcAft>
            <a:buNone/>
          </a:pPr>
          <a:r>
            <a:rPr lang="en-AU" sz="2500" kern="1200" noProof="0" dirty="0"/>
            <a:t>LEP</a:t>
          </a:r>
        </a:p>
        <a:p>
          <a:pPr marL="0" lvl="0" indent="0" algn="ctr" defTabSz="1111250">
            <a:lnSpc>
              <a:spcPct val="90000"/>
            </a:lnSpc>
            <a:spcBef>
              <a:spcPct val="0"/>
            </a:spcBef>
            <a:spcAft>
              <a:spcPct val="35000"/>
            </a:spcAft>
            <a:buNone/>
          </a:pPr>
          <a:r>
            <a:rPr lang="en-AU" sz="2500" kern="1200" noProof="0" dirty="0"/>
            <a:t>Retrieval</a:t>
          </a:r>
        </a:p>
        <a:p>
          <a:pPr marL="0" lvl="0" indent="0" algn="ctr" defTabSz="1111250">
            <a:lnSpc>
              <a:spcPct val="90000"/>
            </a:lnSpc>
            <a:spcBef>
              <a:spcPct val="0"/>
            </a:spcBef>
            <a:spcAft>
              <a:spcPct val="35000"/>
            </a:spcAft>
            <a:buNone/>
          </a:pPr>
          <a:r>
            <a:rPr lang="en-AU" sz="2500" kern="1200" noProof="0" dirty="0"/>
            <a:t>Fusion</a:t>
          </a:r>
          <a:endParaRPr lang="de-DE" sz="2500" kern="1200" dirty="0"/>
        </a:p>
      </dsp:txBody>
      <dsp:txXfrm>
        <a:off x="5519975" y="1731407"/>
        <a:ext cx="2226786" cy="19558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BD7EB-E9AB-4119-BFD9-F85C98BBCCC5}">
      <dsp:nvSpPr>
        <dsp:cNvPr id="0" name=""/>
        <dsp:cNvSpPr/>
      </dsp:nvSpPr>
      <dsp:spPr>
        <a:xfrm>
          <a:off x="264104" y="0"/>
          <a:ext cx="2993180" cy="213406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7EFE4-FC3A-482A-88F9-71C39DEB85DD}">
      <dsp:nvSpPr>
        <dsp:cNvPr id="0" name=""/>
        <dsp:cNvSpPr/>
      </dsp:nvSpPr>
      <dsp:spPr>
        <a:xfrm>
          <a:off x="3782"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Finetuning  CLIP-VIP</a:t>
          </a:r>
        </a:p>
      </dsp:txBody>
      <dsp:txXfrm>
        <a:off x="45453" y="681890"/>
        <a:ext cx="1050105" cy="770284"/>
      </dsp:txXfrm>
    </dsp:sp>
    <dsp:sp modelId="{D761A8D5-372B-4EE0-A453-0D40BF2B17E1}">
      <dsp:nvSpPr>
        <dsp:cNvPr id="0" name=""/>
        <dsp:cNvSpPr/>
      </dsp:nvSpPr>
      <dsp:spPr>
        <a:xfrm>
          <a:off x="1193970" y="640219"/>
          <a:ext cx="1133447" cy="853626"/>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Alignment to RGB for different modality pairs</a:t>
          </a:r>
        </a:p>
      </dsp:txBody>
      <dsp:txXfrm>
        <a:off x="1235641" y="681890"/>
        <a:ext cx="1050105" cy="770284"/>
      </dsp:txXfrm>
    </dsp:sp>
    <dsp:sp modelId="{49F62A63-7438-42DA-8F56-8D7B309CA3C4}">
      <dsp:nvSpPr>
        <dsp:cNvPr id="0" name=""/>
        <dsp:cNvSpPr/>
      </dsp:nvSpPr>
      <dsp:spPr>
        <a:xfrm>
          <a:off x="2384159"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Linear Classifier</a:t>
          </a:r>
        </a:p>
        <a:p>
          <a:pPr marL="0" lvl="0" indent="0" algn="ctr" defTabSz="533400">
            <a:lnSpc>
              <a:spcPct val="90000"/>
            </a:lnSpc>
            <a:spcBef>
              <a:spcPct val="0"/>
            </a:spcBef>
            <a:spcAft>
              <a:spcPct val="35000"/>
            </a:spcAft>
            <a:buNone/>
          </a:pPr>
          <a:r>
            <a:rPr lang="en-AU" sz="1200" kern="1200" noProof="0" dirty="0"/>
            <a:t>Evaluation</a:t>
          </a:r>
          <a:endParaRPr lang="de-DE" sz="1200" kern="1200" dirty="0"/>
        </a:p>
      </dsp:txBody>
      <dsp:txXfrm>
        <a:off x="2425830" y="681890"/>
        <a:ext cx="1050105" cy="7702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BD7EB-E9AB-4119-BFD9-F85C98BBCCC5}">
      <dsp:nvSpPr>
        <dsp:cNvPr id="0" name=""/>
        <dsp:cNvSpPr/>
      </dsp:nvSpPr>
      <dsp:spPr>
        <a:xfrm>
          <a:off x="264104" y="0"/>
          <a:ext cx="2993180" cy="213406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7EFE4-FC3A-482A-88F9-71C39DEB85DD}">
      <dsp:nvSpPr>
        <dsp:cNvPr id="0" name=""/>
        <dsp:cNvSpPr/>
      </dsp:nvSpPr>
      <dsp:spPr>
        <a:xfrm>
          <a:off x="3782"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Finetuning  CLIP-VIP</a:t>
          </a:r>
        </a:p>
      </dsp:txBody>
      <dsp:txXfrm>
        <a:off x="45453" y="681890"/>
        <a:ext cx="1050105" cy="770284"/>
      </dsp:txXfrm>
    </dsp:sp>
    <dsp:sp modelId="{D761A8D5-372B-4EE0-A453-0D40BF2B17E1}">
      <dsp:nvSpPr>
        <dsp:cNvPr id="0" name=""/>
        <dsp:cNvSpPr/>
      </dsp:nvSpPr>
      <dsp:spPr>
        <a:xfrm>
          <a:off x="1193970" y="640219"/>
          <a:ext cx="1133447" cy="853626"/>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Alignment to RGB for different modality pairs</a:t>
          </a:r>
        </a:p>
      </dsp:txBody>
      <dsp:txXfrm>
        <a:off x="1235641" y="681890"/>
        <a:ext cx="1050105" cy="770284"/>
      </dsp:txXfrm>
    </dsp:sp>
    <dsp:sp modelId="{49F62A63-7438-42DA-8F56-8D7B309CA3C4}">
      <dsp:nvSpPr>
        <dsp:cNvPr id="0" name=""/>
        <dsp:cNvSpPr/>
      </dsp:nvSpPr>
      <dsp:spPr>
        <a:xfrm>
          <a:off x="2384159"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Linear Classifier</a:t>
          </a:r>
        </a:p>
        <a:p>
          <a:pPr marL="0" lvl="0" indent="0" algn="ctr" defTabSz="533400">
            <a:lnSpc>
              <a:spcPct val="90000"/>
            </a:lnSpc>
            <a:spcBef>
              <a:spcPct val="0"/>
            </a:spcBef>
            <a:spcAft>
              <a:spcPct val="35000"/>
            </a:spcAft>
            <a:buNone/>
          </a:pPr>
          <a:r>
            <a:rPr lang="en-AU" sz="1200" kern="1200" noProof="0" dirty="0"/>
            <a:t>Evaluation</a:t>
          </a:r>
          <a:endParaRPr lang="de-DE" sz="1200" kern="1200" dirty="0"/>
        </a:p>
      </dsp:txBody>
      <dsp:txXfrm>
        <a:off x="2425830" y="681890"/>
        <a:ext cx="1050105" cy="7702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BD7EB-E9AB-4119-BFD9-F85C98BBCCC5}">
      <dsp:nvSpPr>
        <dsp:cNvPr id="0" name=""/>
        <dsp:cNvSpPr/>
      </dsp:nvSpPr>
      <dsp:spPr>
        <a:xfrm>
          <a:off x="264104" y="0"/>
          <a:ext cx="2993180" cy="213406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7EFE4-FC3A-482A-88F9-71C39DEB85DD}">
      <dsp:nvSpPr>
        <dsp:cNvPr id="0" name=""/>
        <dsp:cNvSpPr/>
      </dsp:nvSpPr>
      <dsp:spPr>
        <a:xfrm>
          <a:off x="3782"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Finetuning  CLIP-VIP</a:t>
          </a:r>
        </a:p>
      </dsp:txBody>
      <dsp:txXfrm>
        <a:off x="45453" y="681890"/>
        <a:ext cx="1050105" cy="770284"/>
      </dsp:txXfrm>
    </dsp:sp>
    <dsp:sp modelId="{D761A8D5-372B-4EE0-A453-0D40BF2B17E1}">
      <dsp:nvSpPr>
        <dsp:cNvPr id="0" name=""/>
        <dsp:cNvSpPr/>
      </dsp:nvSpPr>
      <dsp:spPr>
        <a:xfrm>
          <a:off x="1193970" y="640219"/>
          <a:ext cx="1133447" cy="853626"/>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Alignment to RGB for different modality pairs</a:t>
          </a:r>
        </a:p>
      </dsp:txBody>
      <dsp:txXfrm>
        <a:off x="1235641" y="681890"/>
        <a:ext cx="1050105" cy="770284"/>
      </dsp:txXfrm>
    </dsp:sp>
    <dsp:sp modelId="{49F62A63-7438-42DA-8F56-8D7B309CA3C4}">
      <dsp:nvSpPr>
        <dsp:cNvPr id="0" name=""/>
        <dsp:cNvSpPr/>
      </dsp:nvSpPr>
      <dsp:spPr>
        <a:xfrm>
          <a:off x="2384159"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Linear Classifier</a:t>
          </a:r>
        </a:p>
        <a:p>
          <a:pPr marL="0" lvl="0" indent="0" algn="ctr" defTabSz="533400">
            <a:lnSpc>
              <a:spcPct val="90000"/>
            </a:lnSpc>
            <a:spcBef>
              <a:spcPct val="0"/>
            </a:spcBef>
            <a:spcAft>
              <a:spcPct val="35000"/>
            </a:spcAft>
            <a:buNone/>
          </a:pPr>
          <a:r>
            <a:rPr lang="en-AU" sz="1200" kern="1200" noProof="0" dirty="0"/>
            <a:t>Evaluation</a:t>
          </a:r>
          <a:endParaRPr lang="de-DE" sz="1200" kern="1200" dirty="0"/>
        </a:p>
      </dsp:txBody>
      <dsp:txXfrm>
        <a:off x="2425830" y="681890"/>
        <a:ext cx="1050105" cy="7702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BD7EB-E9AB-4119-BFD9-F85C98BBCCC5}">
      <dsp:nvSpPr>
        <dsp:cNvPr id="0" name=""/>
        <dsp:cNvSpPr/>
      </dsp:nvSpPr>
      <dsp:spPr>
        <a:xfrm>
          <a:off x="528208" y="0"/>
          <a:ext cx="2993180" cy="213406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7EFE4-FC3A-482A-88F9-71C39DEB85DD}">
      <dsp:nvSpPr>
        <dsp:cNvPr id="0" name=""/>
        <dsp:cNvSpPr/>
      </dsp:nvSpPr>
      <dsp:spPr>
        <a:xfrm>
          <a:off x="3782"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Finetuning  CLIP-VIP</a:t>
          </a:r>
        </a:p>
      </dsp:txBody>
      <dsp:txXfrm>
        <a:off x="45453" y="681890"/>
        <a:ext cx="1050105" cy="770284"/>
      </dsp:txXfrm>
    </dsp:sp>
    <dsp:sp modelId="{D761A8D5-372B-4EE0-A453-0D40BF2B17E1}">
      <dsp:nvSpPr>
        <dsp:cNvPr id="0" name=""/>
        <dsp:cNvSpPr/>
      </dsp:nvSpPr>
      <dsp:spPr>
        <a:xfrm>
          <a:off x="1193970"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Alignment to RGB for different modality pairs</a:t>
          </a:r>
        </a:p>
      </dsp:txBody>
      <dsp:txXfrm>
        <a:off x="1235641" y="681890"/>
        <a:ext cx="1050105" cy="770284"/>
      </dsp:txXfrm>
    </dsp:sp>
    <dsp:sp modelId="{49F62A63-7438-42DA-8F56-8D7B309CA3C4}">
      <dsp:nvSpPr>
        <dsp:cNvPr id="0" name=""/>
        <dsp:cNvSpPr/>
      </dsp:nvSpPr>
      <dsp:spPr>
        <a:xfrm>
          <a:off x="2384159" y="640219"/>
          <a:ext cx="1133447" cy="853626"/>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Linear Classifier</a:t>
          </a:r>
        </a:p>
        <a:p>
          <a:pPr marL="0" lvl="0" indent="0" algn="ctr" defTabSz="533400">
            <a:lnSpc>
              <a:spcPct val="90000"/>
            </a:lnSpc>
            <a:spcBef>
              <a:spcPct val="0"/>
            </a:spcBef>
            <a:spcAft>
              <a:spcPct val="35000"/>
            </a:spcAft>
            <a:buNone/>
          </a:pPr>
          <a:r>
            <a:rPr lang="en-AU" sz="1200" kern="1200" noProof="0" dirty="0"/>
            <a:t>Evaluation</a:t>
          </a:r>
          <a:endParaRPr lang="de-DE" sz="1200" kern="1200" dirty="0"/>
        </a:p>
      </dsp:txBody>
      <dsp:txXfrm>
        <a:off x="2425830" y="681890"/>
        <a:ext cx="1050105" cy="7702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BD7EB-E9AB-4119-BFD9-F85C98BBCCC5}">
      <dsp:nvSpPr>
        <dsp:cNvPr id="0" name=""/>
        <dsp:cNvSpPr/>
      </dsp:nvSpPr>
      <dsp:spPr>
        <a:xfrm>
          <a:off x="264104" y="0"/>
          <a:ext cx="2993180" cy="213406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7EFE4-FC3A-482A-88F9-71C39DEB85DD}">
      <dsp:nvSpPr>
        <dsp:cNvPr id="0" name=""/>
        <dsp:cNvSpPr/>
      </dsp:nvSpPr>
      <dsp:spPr>
        <a:xfrm>
          <a:off x="3782"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Finetuning  CLIP-VIP</a:t>
          </a:r>
        </a:p>
      </dsp:txBody>
      <dsp:txXfrm>
        <a:off x="45453" y="681890"/>
        <a:ext cx="1050105" cy="770284"/>
      </dsp:txXfrm>
    </dsp:sp>
    <dsp:sp modelId="{D761A8D5-372B-4EE0-A453-0D40BF2B17E1}">
      <dsp:nvSpPr>
        <dsp:cNvPr id="0" name=""/>
        <dsp:cNvSpPr/>
      </dsp:nvSpPr>
      <dsp:spPr>
        <a:xfrm>
          <a:off x="1193970"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Alignment to RGB for different modality pairs</a:t>
          </a:r>
        </a:p>
      </dsp:txBody>
      <dsp:txXfrm>
        <a:off x="1235641" y="681890"/>
        <a:ext cx="1050105" cy="770284"/>
      </dsp:txXfrm>
    </dsp:sp>
    <dsp:sp modelId="{49F62A63-7438-42DA-8F56-8D7B309CA3C4}">
      <dsp:nvSpPr>
        <dsp:cNvPr id="0" name=""/>
        <dsp:cNvSpPr/>
      </dsp:nvSpPr>
      <dsp:spPr>
        <a:xfrm>
          <a:off x="2384159" y="640219"/>
          <a:ext cx="1133447" cy="853626"/>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Linear Classifier</a:t>
          </a:r>
        </a:p>
        <a:p>
          <a:pPr marL="0" lvl="0" indent="0" algn="ctr" defTabSz="533400">
            <a:lnSpc>
              <a:spcPct val="90000"/>
            </a:lnSpc>
            <a:spcBef>
              <a:spcPct val="0"/>
            </a:spcBef>
            <a:spcAft>
              <a:spcPct val="35000"/>
            </a:spcAft>
            <a:buNone/>
          </a:pPr>
          <a:r>
            <a:rPr lang="en-AU" sz="1200" kern="1200" noProof="0" dirty="0"/>
            <a:t>Evaluation</a:t>
          </a:r>
          <a:endParaRPr lang="de-DE" sz="1200" kern="1200" dirty="0"/>
        </a:p>
      </dsp:txBody>
      <dsp:txXfrm>
        <a:off x="2425830" y="681890"/>
        <a:ext cx="1050105" cy="77028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BD7EB-E9AB-4119-BFD9-F85C98BBCCC5}">
      <dsp:nvSpPr>
        <dsp:cNvPr id="0" name=""/>
        <dsp:cNvSpPr/>
      </dsp:nvSpPr>
      <dsp:spPr>
        <a:xfrm>
          <a:off x="264104" y="0"/>
          <a:ext cx="2993180" cy="213406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7EFE4-FC3A-482A-88F9-71C39DEB85DD}">
      <dsp:nvSpPr>
        <dsp:cNvPr id="0" name=""/>
        <dsp:cNvSpPr/>
      </dsp:nvSpPr>
      <dsp:spPr>
        <a:xfrm>
          <a:off x="3782"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Finetuning  CLIP-VIP</a:t>
          </a:r>
        </a:p>
      </dsp:txBody>
      <dsp:txXfrm>
        <a:off x="45453" y="681890"/>
        <a:ext cx="1050105" cy="770284"/>
      </dsp:txXfrm>
    </dsp:sp>
    <dsp:sp modelId="{D761A8D5-372B-4EE0-A453-0D40BF2B17E1}">
      <dsp:nvSpPr>
        <dsp:cNvPr id="0" name=""/>
        <dsp:cNvSpPr/>
      </dsp:nvSpPr>
      <dsp:spPr>
        <a:xfrm>
          <a:off x="1193970"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Alignment to RGB for different modality pairs</a:t>
          </a:r>
        </a:p>
      </dsp:txBody>
      <dsp:txXfrm>
        <a:off x="1235641" y="681890"/>
        <a:ext cx="1050105" cy="770284"/>
      </dsp:txXfrm>
    </dsp:sp>
    <dsp:sp modelId="{49F62A63-7438-42DA-8F56-8D7B309CA3C4}">
      <dsp:nvSpPr>
        <dsp:cNvPr id="0" name=""/>
        <dsp:cNvSpPr/>
      </dsp:nvSpPr>
      <dsp:spPr>
        <a:xfrm>
          <a:off x="2384159" y="640219"/>
          <a:ext cx="1133447" cy="853626"/>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Linear Classifier</a:t>
          </a:r>
        </a:p>
        <a:p>
          <a:pPr marL="0" lvl="0" indent="0" algn="ctr" defTabSz="533400">
            <a:lnSpc>
              <a:spcPct val="90000"/>
            </a:lnSpc>
            <a:spcBef>
              <a:spcPct val="0"/>
            </a:spcBef>
            <a:spcAft>
              <a:spcPct val="35000"/>
            </a:spcAft>
            <a:buNone/>
          </a:pPr>
          <a:r>
            <a:rPr lang="en-AU" sz="1200" kern="1200" noProof="0" dirty="0"/>
            <a:t>Evaluation</a:t>
          </a:r>
          <a:endParaRPr lang="de-DE" sz="1200" kern="1200" dirty="0"/>
        </a:p>
      </dsp:txBody>
      <dsp:txXfrm>
        <a:off x="2425830" y="681890"/>
        <a:ext cx="1050105" cy="77028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BD7EB-E9AB-4119-BFD9-F85C98BBCCC5}">
      <dsp:nvSpPr>
        <dsp:cNvPr id="0" name=""/>
        <dsp:cNvSpPr/>
      </dsp:nvSpPr>
      <dsp:spPr>
        <a:xfrm>
          <a:off x="264104" y="0"/>
          <a:ext cx="2993180" cy="213406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7EFE4-FC3A-482A-88F9-71C39DEB85DD}">
      <dsp:nvSpPr>
        <dsp:cNvPr id="0" name=""/>
        <dsp:cNvSpPr/>
      </dsp:nvSpPr>
      <dsp:spPr>
        <a:xfrm>
          <a:off x="3782"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Finetuning  CLIP-VIP</a:t>
          </a:r>
        </a:p>
      </dsp:txBody>
      <dsp:txXfrm>
        <a:off x="45453" y="681890"/>
        <a:ext cx="1050105" cy="770284"/>
      </dsp:txXfrm>
    </dsp:sp>
    <dsp:sp modelId="{D761A8D5-372B-4EE0-A453-0D40BF2B17E1}">
      <dsp:nvSpPr>
        <dsp:cNvPr id="0" name=""/>
        <dsp:cNvSpPr/>
      </dsp:nvSpPr>
      <dsp:spPr>
        <a:xfrm>
          <a:off x="1193970"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Alignment to RGB for different modality pairs</a:t>
          </a:r>
        </a:p>
      </dsp:txBody>
      <dsp:txXfrm>
        <a:off x="1235641" y="681890"/>
        <a:ext cx="1050105" cy="770284"/>
      </dsp:txXfrm>
    </dsp:sp>
    <dsp:sp modelId="{49F62A63-7438-42DA-8F56-8D7B309CA3C4}">
      <dsp:nvSpPr>
        <dsp:cNvPr id="0" name=""/>
        <dsp:cNvSpPr/>
      </dsp:nvSpPr>
      <dsp:spPr>
        <a:xfrm>
          <a:off x="2384159" y="640219"/>
          <a:ext cx="1133447" cy="853626"/>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Linear Classifier</a:t>
          </a:r>
        </a:p>
        <a:p>
          <a:pPr marL="0" lvl="0" indent="0" algn="ctr" defTabSz="533400">
            <a:lnSpc>
              <a:spcPct val="90000"/>
            </a:lnSpc>
            <a:spcBef>
              <a:spcPct val="0"/>
            </a:spcBef>
            <a:spcAft>
              <a:spcPct val="35000"/>
            </a:spcAft>
            <a:buNone/>
          </a:pPr>
          <a:r>
            <a:rPr lang="en-AU" sz="1200" kern="1200" noProof="0" dirty="0"/>
            <a:t>Evaluation</a:t>
          </a:r>
          <a:endParaRPr lang="de-DE" sz="1200" kern="1200" dirty="0"/>
        </a:p>
      </dsp:txBody>
      <dsp:txXfrm>
        <a:off x="2425830" y="681890"/>
        <a:ext cx="1050105" cy="77028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BD7EB-E9AB-4119-BFD9-F85C98BBCCC5}">
      <dsp:nvSpPr>
        <dsp:cNvPr id="0" name=""/>
        <dsp:cNvSpPr/>
      </dsp:nvSpPr>
      <dsp:spPr>
        <a:xfrm>
          <a:off x="264104" y="0"/>
          <a:ext cx="2993180" cy="213406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7EFE4-FC3A-482A-88F9-71C39DEB85DD}">
      <dsp:nvSpPr>
        <dsp:cNvPr id="0" name=""/>
        <dsp:cNvSpPr/>
      </dsp:nvSpPr>
      <dsp:spPr>
        <a:xfrm>
          <a:off x="3782"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Finetuning  CLIP-VIP</a:t>
          </a:r>
        </a:p>
      </dsp:txBody>
      <dsp:txXfrm>
        <a:off x="45453" y="681890"/>
        <a:ext cx="1050105" cy="770284"/>
      </dsp:txXfrm>
    </dsp:sp>
    <dsp:sp modelId="{D761A8D5-372B-4EE0-A453-0D40BF2B17E1}">
      <dsp:nvSpPr>
        <dsp:cNvPr id="0" name=""/>
        <dsp:cNvSpPr/>
      </dsp:nvSpPr>
      <dsp:spPr>
        <a:xfrm>
          <a:off x="1193970"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Alignment to RGB for different modality pairs</a:t>
          </a:r>
        </a:p>
      </dsp:txBody>
      <dsp:txXfrm>
        <a:off x="1235641" y="681890"/>
        <a:ext cx="1050105" cy="770284"/>
      </dsp:txXfrm>
    </dsp:sp>
    <dsp:sp modelId="{49F62A63-7438-42DA-8F56-8D7B309CA3C4}">
      <dsp:nvSpPr>
        <dsp:cNvPr id="0" name=""/>
        <dsp:cNvSpPr/>
      </dsp:nvSpPr>
      <dsp:spPr>
        <a:xfrm>
          <a:off x="2384159" y="640219"/>
          <a:ext cx="1133447" cy="853626"/>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Linear Classifier</a:t>
          </a:r>
        </a:p>
        <a:p>
          <a:pPr marL="0" lvl="0" indent="0" algn="ctr" defTabSz="533400">
            <a:lnSpc>
              <a:spcPct val="90000"/>
            </a:lnSpc>
            <a:spcBef>
              <a:spcPct val="0"/>
            </a:spcBef>
            <a:spcAft>
              <a:spcPct val="35000"/>
            </a:spcAft>
            <a:buNone/>
          </a:pPr>
          <a:r>
            <a:rPr lang="en-AU" sz="1200" kern="1200" noProof="0" dirty="0"/>
            <a:t>Evaluation</a:t>
          </a:r>
          <a:endParaRPr lang="de-DE" sz="1200" kern="1200" dirty="0"/>
        </a:p>
      </dsp:txBody>
      <dsp:txXfrm>
        <a:off x="2425830" y="681890"/>
        <a:ext cx="1050105" cy="77028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BD7EB-E9AB-4119-BFD9-F85C98BBCCC5}">
      <dsp:nvSpPr>
        <dsp:cNvPr id="0" name=""/>
        <dsp:cNvSpPr/>
      </dsp:nvSpPr>
      <dsp:spPr>
        <a:xfrm>
          <a:off x="264104" y="0"/>
          <a:ext cx="2993180" cy="213406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7EFE4-FC3A-482A-88F9-71C39DEB85DD}">
      <dsp:nvSpPr>
        <dsp:cNvPr id="0" name=""/>
        <dsp:cNvSpPr/>
      </dsp:nvSpPr>
      <dsp:spPr>
        <a:xfrm>
          <a:off x="3782"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Finetuning  CLIP-VIP</a:t>
          </a:r>
        </a:p>
      </dsp:txBody>
      <dsp:txXfrm>
        <a:off x="45453" y="681890"/>
        <a:ext cx="1050105" cy="770284"/>
      </dsp:txXfrm>
    </dsp:sp>
    <dsp:sp modelId="{D761A8D5-372B-4EE0-A453-0D40BF2B17E1}">
      <dsp:nvSpPr>
        <dsp:cNvPr id="0" name=""/>
        <dsp:cNvSpPr/>
      </dsp:nvSpPr>
      <dsp:spPr>
        <a:xfrm>
          <a:off x="1193970" y="640219"/>
          <a:ext cx="1133447" cy="85362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Alignment to RGB for different modality pairs</a:t>
          </a:r>
        </a:p>
      </dsp:txBody>
      <dsp:txXfrm>
        <a:off x="1235641" y="681890"/>
        <a:ext cx="1050105" cy="770284"/>
      </dsp:txXfrm>
    </dsp:sp>
    <dsp:sp modelId="{49F62A63-7438-42DA-8F56-8D7B309CA3C4}">
      <dsp:nvSpPr>
        <dsp:cNvPr id="0" name=""/>
        <dsp:cNvSpPr/>
      </dsp:nvSpPr>
      <dsp:spPr>
        <a:xfrm>
          <a:off x="2384159" y="640219"/>
          <a:ext cx="1133447" cy="853626"/>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noProof="0" dirty="0"/>
            <a:t>Linear Classifier</a:t>
          </a:r>
        </a:p>
        <a:p>
          <a:pPr marL="0" lvl="0" indent="0" algn="ctr" defTabSz="533400">
            <a:lnSpc>
              <a:spcPct val="90000"/>
            </a:lnSpc>
            <a:spcBef>
              <a:spcPct val="0"/>
            </a:spcBef>
            <a:spcAft>
              <a:spcPct val="35000"/>
            </a:spcAft>
            <a:buNone/>
          </a:pPr>
          <a:r>
            <a:rPr lang="en-AU" sz="1200" kern="1200" noProof="0" dirty="0"/>
            <a:t>Evaluation</a:t>
          </a:r>
          <a:endParaRPr lang="de-DE" sz="1200" kern="1200" dirty="0"/>
        </a:p>
      </dsp:txBody>
      <dsp:txXfrm>
        <a:off x="2425830" y="681890"/>
        <a:ext cx="1050105" cy="77028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1DC7D9-BA8A-4C28-8C5E-F5429A10AF54}" type="datetimeFigureOut">
              <a:rPr lang="de-DE" smtClean="0"/>
              <a:t>22.07.2024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1CC943-4F59-46C8-BA69-495F09EFFABE}" type="slidenum">
              <a:rPr lang="de-DE" smtClean="0"/>
              <a:t>‹Nr.›</a:t>
            </a:fld>
            <a:endParaRPr lang="de-DE"/>
          </a:p>
        </p:txBody>
      </p:sp>
    </p:spTree>
    <p:extLst>
      <p:ext uri="{BB962C8B-B14F-4D97-AF65-F5344CB8AC3E}">
        <p14:creationId xmlns:p14="http://schemas.microsoft.com/office/powerpoint/2010/main" val="2803926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221CC943-4F59-46C8-BA69-495F09EFFABE}" type="slidenum">
              <a:rPr lang="de-DE" smtClean="0"/>
              <a:t>30</a:t>
            </a:fld>
            <a:endParaRPr lang="de-DE"/>
          </a:p>
        </p:txBody>
      </p:sp>
    </p:spTree>
    <p:extLst>
      <p:ext uri="{BB962C8B-B14F-4D97-AF65-F5344CB8AC3E}">
        <p14:creationId xmlns:p14="http://schemas.microsoft.com/office/powerpoint/2010/main" val="619305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2965381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752478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104943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342521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493652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2635115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3617807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57228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290BF0-5019-4A03-8AD6-AA1FD1A5DD4D}"/>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6332639C-2197-40CD-BC30-8444769E91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85E03660-87D2-4A94-BF57-57339EDAAA72}"/>
              </a:ext>
            </a:extLst>
          </p:cNvPr>
          <p:cNvSpPr>
            <a:spLocks noGrp="1"/>
          </p:cNvSpPr>
          <p:nvPr>
            <p:ph type="dt" sz="half" idx="10"/>
          </p:nvPr>
        </p:nvSpPr>
        <p:spPr/>
        <p:txBody>
          <a:bodyPr/>
          <a:lstStyle/>
          <a:p>
            <a:fld id="{CD98C706-3A6E-48CA-B21A-6D5B54011EB8}" type="datetimeFigureOut">
              <a:rPr lang="de-DE" smtClean="0"/>
              <a:t>22.07.2024</a:t>
            </a:fld>
            <a:endParaRPr lang="de-DE"/>
          </a:p>
        </p:txBody>
      </p:sp>
      <p:sp>
        <p:nvSpPr>
          <p:cNvPr id="5" name="Fußzeilenplatzhalter 4">
            <a:extLst>
              <a:ext uri="{FF2B5EF4-FFF2-40B4-BE49-F238E27FC236}">
                <a16:creationId xmlns:a16="http://schemas.microsoft.com/office/drawing/2014/main" id="{0EF2DF70-739B-452E-8209-D2971B3CFB5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F68C929-268B-4293-AED4-34478D045A57}"/>
              </a:ext>
            </a:extLst>
          </p:cNvPr>
          <p:cNvSpPr>
            <a:spLocks noGrp="1"/>
          </p:cNvSpPr>
          <p:nvPr>
            <p:ph type="sldNum" sz="quarter" idx="12"/>
          </p:nvPr>
        </p:nvSpPr>
        <p:spPr/>
        <p:txBody>
          <a:bodyPr/>
          <a:lstStyle/>
          <a:p>
            <a:fld id="{30913F1C-0FC3-4F2E-B262-89E189B76544}" type="slidenum">
              <a:rPr lang="de-DE" smtClean="0"/>
              <a:t>‹Nr.›</a:t>
            </a:fld>
            <a:endParaRPr lang="de-DE"/>
          </a:p>
        </p:txBody>
      </p:sp>
    </p:spTree>
    <p:extLst>
      <p:ext uri="{BB962C8B-B14F-4D97-AF65-F5344CB8AC3E}">
        <p14:creationId xmlns:p14="http://schemas.microsoft.com/office/powerpoint/2010/main" val="4106490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B19584-B37E-4F11-8A3A-B6C6818E12B4}"/>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5FF7F5D6-B1B6-4531-9973-FDAF0B805908}"/>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08141E3-B7A5-428B-9A30-6B57AEE2B354}"/>
              </a:ext>
            </a:extLst>
          </p:cNvPr>
          <p:cNvSpPr>
            <a:spLocks noGrp="1"/>
          </p:cNvSpPr>
          <p:nvPr>
            <p:ph type="dt" sz="half" idx="10"/>
          </p:nvPr>
        </p:nvSpPr>
        <p:spPr/>
        <p:txBody>
          <a:bodyPr/>
          <a:lstStyle/>
          <a:p>
            <a:fld id="{CD98C706-3A6E-48CA-B21A-6D5B54011EB8}" type="datetimeFigureOut">
              <a:rPr lang="de-DE" smtClean="0"/>
              <a:t>22.07.2024</a:t>
            </a:fld>
            <a:endParaRPr lang="de-DE"/>
          </a:p>
        </p:txBody>
      </p:sp>
      <p:sp>
        <p:nvSpPr>
          <p:cNvPr id="5" name="Fußzeilenplatzhalter 4">
            <a:extLst>
              <a:ext uri="{FF2B5EF4-FFF2-40B4-BE49-F238E27FC236}">
                <a16:creationId xmlns:a16="http://schemas.microsoft.com/office/drawing/2014/main" id="{EA3BD25E-E79F-40A3-9A72-FB09B124A2E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FBDBDC8-9048-4BCA-96A1-EF414704BBDE}"/>
              </a:ext>
            </a:extLst>
          </p:cNvPr>
          <p:cNvSpPr>
            <a:spLocks noGrp="1"/>
          </p:cNvSpPr>
          <p:nvPr>
            <p:ph type="sldNum" sz="quarter" idx="12"/>
          </p:nvPr>
        </p:nvSpPr>
        <p:spPr/>
        <p:txBody>
          <a:bodyPr/>
          <a:lstStyle/>
          <a:p>
            <a:fld id="{30913F1C-0FC3-4F2E-B262-89E189B76544}" type="slidenum">
              <a:rPr lang="de-DE" smtClean="0"/>
              <a:t>‹Nr.›</a:t>
            </a:fld>
            <a:endParaRPr lang="de-DE"/>
          </a:p>
        </p:txBody>
      </p:sp>
    </p:spTree>
    <p:extLst>
      <p:ext uri="{BB962C8B-B14F-4D97-AF65-F5344CB8AC3E}">
        <p14:creationId xmlns:p14="http://schemas.microsoft.com/office/powerpoint/2010/main" val="284569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E943D6-A604-4435-B14D-BD482E24633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A55A76EA-1CA9-4F4A-A542-3516D5AA17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550CB81-BAAF-4124-8826-220736834971}"/>
              </a:ext>
            </a:extLst>
          </p:cNvPr>
          <p:cNvSpPr>
            <a:spLocks noGrp="1"/>
          </p:cNvSpPr>
          <p:nvPr>
            <p:ph type="dt" sz="half" idx="10"/>
          </p:nvPr>
        </p:nvSpPr>
        <p:spPr/>
        <p:txBody>
          <a:bodyPr/>
          <a:lstStyle/>
          <a:p>
            <a:fld id="{CD98C706-3A6E-48CA-B21A-6D5B54011EB8}" type="datetimeFigureOut">
              <a:rPr lang="de-DE" smtClean="0"/>
              <a:t>22.07.2024</a:t>
            </a:fld>
            <a:endParaRPr lang="de-DE"/>
          </a:p>
        </p:txBody>
      </p:sp>
      <p:sp>
        <p:nvSpPr>
          <p:cNvPr id="5" name="Fußzeilenplatzhalter 4">
            <a:extLst>
              <a:ext uri="{FF2B5EF4-FFF2-40B4-BE49-F238E27FC236}">
                <a16:creationId xmlns:a16="http://schemas.microsoft.com/office/drawing/2014/main" id="{334F4863-DAE6-4F71-AD0C-6A6C8668828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47A6386-AE5D-4691-BDD4-72BA0396EC03}"/>
              </a:ext>
            </a:extLst>
          </p:cNvPr>
          <p:cNvSpPr>
            <a:spLocks noGrp="1"/>
          </p:cNvSpPr>
          <p:nvPr>
            <p:ph type="sldNum" sz="quarter" idx="12"/>
          </p:nvPr>
        </p:nvSpPr>
        <p:spPr/>
        <p:txBody>
          <a:bodyPr/>
          <a:lstStyle/>
          <a:p>
            <a:fld id="{30913F1C-0FC3-4F2E-B262-89E189B76544}" type="slidenum">
              <a:rPr lang="de-DE" smtClean="0"/>
              <a:t>‹Nr.›</a:t>
            </a:fld>
            <a:endParaRPr lang="de-DE"/>
          </a:p>
        </p:txBody>
      </p:sp>
    </p:spTree>
    <p:extLst>
      <p:ext uri="{BB962C8B-B14F-4D97-AF65-F5344CB8AC3E}">
        <p14:creationId xmlns:p14="http://schemas.microsoft.com/office/powerpoint/2010/main" val="4036975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D5BCA7-CD17-4F89-87D4-AFA1BA97A741}"/>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68F68947-E968-4443-B154-CD9E9833361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FDCABE69-5071-41E8-A49F-470C499EE7C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1333533F-0BF2-4F73-A93D-297B05FC58BD}"/>
              </a:ext>
            </a:extLst>
          </p:cNvPr>
          <p:cNvSpPr>
            <a:spLocks noGrp="1"/>
          </p:cNvSpPr>
          <p:nvPr>
            <p:ph type="dt" sz="half" idx="10"/>
          </p:nvPr>
        </p:nvSpPr>
        <p:spPr/>
        <p:txBody>
          <a:bodyPr/>
          <a:lstStyle/>
          <a:p>
            <a:fld id="{CD98C706-3A6E-48CA-B21A-6D5B54011EB8}" type="datetimeFigureOut">
              <a:rPr lang="de-DE" smtClean="0"/>
              <a:t>22.07.2024</a:t>
            </a:fld>
            <a:endParaRPr lang="de-DE"/>
          </a:p>
        </p:txBody>
      </p:sp>
      <p:sp>
        <p:nvSpPr>
          <p:cNvPr id="6" name="Fußzeilenplatzhalter 5">
            <a:extLst>
              <a:ext uri="{FF2B5EF4-FFF2-40B4-BE49-F238E27FC236}">
                <a16:creationId xmlns:a16="http://schemas.microsoft.com/office/drawing/2014/main" id="{B4083C76-2051-4749-9F09-A98EEE77623A}"/>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FC7FA91C-B47C-47F9-83A6-95334A8924C7}"/>
              </a:ext>
            </a:extLst>
          </p:cNvPr>
          <p:cNvSpPr>
            <a:spLocks noGrp="1"/>
          </p:cNvSpPr>
          <p:nvPr>
            <p:ph type="sldNum" sz="quarter" idx="12"/>
          </p:nvPr>
        </p:nvSpPr>
        <p:spPr/>
        <p:txBody>
          <a:bodyPr/>
          <a:lstStyle/>
          <a:p>
            <a:fld id="{30913F1C-0FC3-4F2E-B262-89E189B76544}" type="slidenum">
              <a:rPr lang="de-DE" smtClean="0"/>
              <a:t>‹Nr.›</a:t>
            </a:fld>
            <a:endParaRPr lang="de-DE"/>
          </a:p>
        </p:txBody>
      </p:sp>
    </p:spTree>
    <p:extLst>
      <p:ext uri="{BB962C8B-B14F-4D97-AF65-F5344CB8AC3E}">
        <p14:creationId xmlns:p14="http://schemas.microsoft.com/office/powerpoint/2010/main" val="3514088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C79572-A742-45F9-AFE4-A33BBEF3405C}"/>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1D8B76CC-AFA2-45EF-A64F-F87672D472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4105E2A7-E051-491F-8C3F-D9623AA0D6C6}"/>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20CF0795-69ED-4C35-8A14-29339CE2A6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6A2FEDF5-CAD2-4567-8B66-9D896E21F066}"/>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1E344D5B-910A-406C-8052-F51ADC90B137}"/>
              </a:ext>
            </a:extLst>
          </p:cNvPr>
          <p:cNvSpPr>
            <a:spLocks noGrp="1"/>
          </p:cNvSpPr>
          <p:nvPr>
            <p:ph type="dt" sz="half" idx="10"/>
          </p:nvPr>
        </p:nvSpPr>
        <p:spPr/>
        <p:txBody>
          <a:bodyPr/>
          <a:lstStyle/>
          <a:p>
            <a:fld id="{CD98C706-3A6E-48CA-B21A-6D5B54011EB8}" type="datetimeFigureOut">
              <a:rPr lang="de-DE" smtClean="0"/>
              <a:t>22.07.2024</a:t>
            </a:fld>
            <a:endParaRPr lang="de-DE"/>
          </a:p>
        </p:txBody>
      </p:sp>
      <p:sp>
        <p:nvSpPr>
          <p:cNvPr id="8" name="Fußzeilenplatzhalter 7">
            <a:extLst>
              <a:ext uri="{FF2B5EF4-FFF2-40B4-BE49-F238E27FC236}">
                <a16:creationId xmlns:a16="http://schemas.microsoft.com/office/drawing/2014/main" id="{13C6EBE7-59BF-4E99-9009-E4D48896F196}"/>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AEA50D19-DEF8-4270-A65B-747DB9E8AD52}"/>
              </a:ext>
            </a:extLst>
          </p:cNvPr>
          <p:cNvSpPr>
            <a:spLocks noGrp="1"/>
          </p:cNvSpPr>
          <p:nvPr>
            <p:ph type="sldNum" sz="quarter" idx="12"/>
          </p:nvPr>
        </p:nvSpPr>
        <p:spPr/>
        <p:txBody>
          <a:bodyPr/>
          <a:lstStyle/>
          <a:p>
            <a:fld id="{30913F1C-0FC3-4F2E-B262-89E189B76544}" type="slidenum">
              <a:rPr lang="de-DE" smtClean="0"/>
              <a:t>‹Nr.›</a:t>
            </a:fld>
            <a:endParaRPr lang="de-DE"/>
          </a:p>
        </p:txBody>
      </p:sp>
    </p:spTree>
    <p:extLst>
      <p:ext uri="{BB962C8B-B14F-4D97-AF65-F5344CB8AC3E}">
        <p14:creationId xmlns:p14="http://schemas.microsoft.com/office/powerpoint/2010/main" val="1681989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640313-9F48-4176-AB53-C65E831A3C71}"/>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7F8288CD-1CFB-4124-BCB2-CFFF110F5A93}"/>
              </a:ext>
            </a:extLst>
          </p:cNvPr>
          <p:cNvSpPr>
            <a:spLocks noGrp="1"/>
          </p:cNvSpPr>
          <p:nvPr>
            <p:ph type="dt" sz="half" idx="10"/>
          </p:nvPr>
        </p:nvSpPr>
        <p:spPr/>
        <p:txBody>
          <a:bodyPr/>
          <a:lstStyle/>
          <a:p>
            <a:fld id="{CD98C706-3A6E-48CA-B21A-6D5B54011EB8}" type="datetimeFigureOut">
              <a:rPr lang="de-DE" smtClean="0"/>
              <a:t>22.07.2024</a:t>
            </a:fld>
            <a:endParaRPr lang="de-DE"/>
          </a:p>
        </p:txBody>
      </p:sp>
      <p:sp>
        <p:nvSpPr>
          <p:cNvPr id="4" name="Fußzeilenplatzhalter 3">
            <a:extLst>
              <a:ext uri="{FF2B5EF4-FFF2-40B4-BE49-F238E27FC236}">
                <a16:creationId xmlns:a16="http://schemas.microsoft.com/office/drawing/2014/main" id="{D70C155B-2C11-4D19-8B0D-A294C8CDB3DA}"/>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2C28F313-6D56-44AC-82D9-489C1E4E0769}"/>
              </a:ext>
            </a:extLst>
          </p:cNvPr>
          <p:cNvSpPr>
            <a:spLocks noGrp="1"/>
          </p:cNvSpPr>
          <p:nvPr>
            <p:ph type="sldNum" sz="quarter" idx="12"/>
          </p:nvPr>
        </p:nvSpPr>
        <p:spPr/>
        <p:txBody>
          <a:bodyPr/>
          <a:lstStyle/>
          <a:p>
            <a:fld id="{30913F1C-0FC3-4F2E-B262-89E189B76544}" type="slidenum">
              <a:rPr lang="de-DE" smtClean="0"/>
              <a:t>‹Nr.›</a:t>
            </a:fld>
            <a:endParaRPr lang="de-DE"/>
          </a:p>
        </p:txBody>
      </p:sp>
    </p:spTree>
    <p:extLst>
      <p:ext uri="{BB962C8B-B14F-4D97-AF65-F5344CB8AC3E}">
        <p14:creationId xmlns:p14="http://schemas.microsoft.com/office/powerpoint/2010/main" val="215172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73BB294F-7DE8-41AD-8B07-E56557E460C9}"/>
              </a:ext>
            </a:extLst>
          </p:cNvPr>
          <p:cNvSpPr>
            <a:spLocks noGrp="1"/>
          </p:cNvSpPr>
          <p:nvPr>
            <p:ph type="dt" sz="half" idx="10"/>
          </p:nvPr>
        </p:nvSpPr>
        <p:spPr/>
        <p:txBody>
          <a:bodyPr/>
          <a:lstStyle/>
          <a:p>
            <a:fld id="{CD98C706-3A6E-48CA-B21A-6D5B54011EB8}" type="datetimeFigureOut">
              <a:rPr lang="de-DE" smtClean="0"/>
              <a:t>22.07.2024</a:t>
            </a:fld>
            <a:endParaRPr lang="de-DE"/>
          </a:p>
        </p:txBody>
      </p:sp>
      <p:sp>
        <p:nvSpPr>
          <p:cNvPr id="3" name="Fußzeilenplatzhalter 2">
            <a:extLst>
              <a:ext uri="{FF2B5EF4-FFF2-40B4-BE49-F238E27FC236}">
                <a16:creationId xmlns:a16="http://schemas.microsoft.com/office/drawing/2014/main" id="{16240357-4848-4E60-89AB-7C552A017AA3}"/>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F2171EE8-D934-4DA4-94E1-3C1718B92451}"/>
              </a:ext>
            </a:extLst>
          </p:cNvPr>
          <p:cNvSpPr>
            <a:spLocks noGrp="1"/>
          </p:cNvSpPr>
          <p:nvPr>
            <p:ph type="sldNum" sz="quarter" idx="12"/>
          </p:nvPr>
        </p:nvSpPr>
        <p:spPr/>
        <p:txBody>
          <a:bodyPr/>
          <a:lstStyle/>
          <a:p>
            <a:fld id="{30913F1C-0FC3-4F2E-B262-89E189B76544}" type="slidenum">
              <a:rPr lang="de-DE" smtClean="0"/>
              <a:t>‹Nr.›</a:t>
            </a:fld>
            <a:endParaRPr lang="de-DE"/>
          </a:p>
        </p:txBody>
      </p:sp>
    </p:spTree>
    <p:extLst>
      <p:ext uri="{BB962C8B-B14F-4D97-AF65-F5344CB8AC3E}">
        <p14:creationId xmlns:p14="http://schemas.microsoft.com/office/powerpoint/2010/main" val="99568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4F9DB6-2C11-4233-A6CD-9FB412EEABF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060D525C-4068-4C8C-8038-14B627FC5C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15383F8F-C513-480E-AC34-20C0B4A16D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99CD4DC-9A84-4BB3-9CFB-5E285F2E0F38}"/>
              </a:ext>
            </a:extLst>
          </p:cNvPr>
          <p:cNvSpPr>
            <a:spLocks noGrp="1"/>
          </p:cNvSpPr>
          <p:nvPr>
            <p:ph type="dt" sz="half" idx="10"/>
          </p:nvPr>
        </p:nvSpPr>
        <p:spPr/>
        <p:txBody>
          <a:bodyPr/>
          <a:lstStyle/>
          <a:p>
            <a:fld id="{CD98C706-3A6E-48CA-B21A-6D5B54011EB8}" type="datetimeFigureOut">
              <a:rPr lang="de-DE" smtClean="0"/>
              <a:t>22.07.2024</a:t>
            </a:fld>
            <a:endParaRPr lang="de-DE"/>
          </a:p>
        </p:txBody>
      </p:sp>
      <p:sp>
        <p:nvSpPr>
          <p:cNvPr id="6" name="Fußzeilenplatzhalter 5">
            <a:extLst>
              <a:ext uri="{FF2B5EF4-FFF2-40B4-BE49-F238E27FC236}">
                <a16:creationId xmlns:a16="http://schemas.microsoft.com/office/drawing/2014/main" id="{D4CD017C-0582-48DD-B26A-8A44D452F8E1}"/>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41427FE-E700-4167-8968-0692A38582F4}"/>
              </a:ext>
            </a:extLst>
          </p:cNvPr>
          <p:cNvSpPr>
            <a:spLocks noGrp="1"/>
          </p:cNvSpPr>
          <p:nvPr>
            <p:ph type="sldNum" sz="quarter" idx="12"/>
          </p:nvPr>
        </p:nvSpPr>
        <p:spPr/>
        <p:txBody>
          <a:bodyPr/>
          <a:lstStyle/>
          <a:p>
            <a:fld id="{30913F1C-0FC3-4F2E-B262-89E189B76544}" type="slidenum">
              <a:rPr lang="de-DE" smtClean="0"/>
              <a:t>‹Nr.›</a:t>
            </a:fld>
            <a:endParaRPr lang="de-DE"/>
          </a:p>
        </p:txBody>
      </p:sp>
    </p:spTree>
    <p:extLst>
      <p:ext uri="{BB962C8B-B14F-4D97-AF65-F5344CB8AC3E}">
        <p14:creationId xmlns:p14="http://schemas.microsoft.com/office/powerpoint/2010/main" val="3082712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AA058B-188D-414E-8CE4-C21AC52B132A}"/>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2AC5CE26-43FC-4139-BAAA-484A816C38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4D29A26D-FE14-40BA-AFE7-FB682A0C8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50EAC29-A5CB-48DC-BBC5-A4F4B86E5FD2}"/>
              </a:ext>
            </a:extLst>
          </p:cNvPr>
          <p:cNvSpPr>
            <a:spLocks noGrp="1"/>
          </p:cNvSpPr>
          <p:nvPr>
            <p:ph type="dt" sz="half" idx="10"/>
          </p:nvPr>
        </p:nvSpPr>
        <p:spPr/>
        <p:txBody>
          <a:bodyPr/>
          <a:lstStyle/>
          <a:p>
            <a:fld id="{CD98C706-3A6E-48CA-B21A-6D5B54011EB8}" type="datetimeFigureOut">
              <a:rPr lang="de-DE" smtClean="0"/>
              <a:t>22.07.2024</a:t>
            </a:fld>
            <a:endParaRPr lang="de-DE"/>
          </a:p>
        </p:txBody>
      </p:sp>
      <p:sp>
        <p:nvSpPr>
          <p:cNvPr id="6" name="Fußzeilenplatzhalter 5">
            <a:extLst>
              <a:ext uri="{FF2B5EF4-FFF2-40B4-BE49-F238E27FC236}">
                <a16:creationId xmlns:a16="http://schemas.microsoft.com/office/drawing/2014/main" id="{7FB9FD1D-75A7-4292-8D06-B38F8F410A0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52D91A26-9EC8-4908-BB77-D95E1982A5DB}"/>
              </a:ext>
            </a:extLst>
          </p:cNvPr>
          <p:cNvSpPr>
            <a:spLocks noGrp="1"/>
          </p:cNvSpPr>
          <p:nvPr>
            <p:ph type="sldNum" sz="quarter" idx="12"/>
          </p:nvPr>
        </p:nvSpPr>
        <p:spPr/>
        <p:txBody>
          <a:bodyPr/>
          <a:lstStyle/>
          <a:p>
            <a:fld id="{30913F1C-0FC3-4F2E-B262-89E189B76544}" type="slidenum">
              <a:rPr lang="de-DE" smtClean="0"/>
              <a:t>‹Nr.›</a:t>
            </a:fld>
            <a:endParaRPr lang="de-DE"/>
          </a:p>
        </p:txBody>
      </p:sp>
    </p:spTree>
    <p:extLst>
      <p:ext uri="{BB962C8B-B14F-4D97-AF65-F5344CB8AC3E}">
        <p14:creationId xmlns:p14="http://schemas.microsoft.com/office/powerpoint/2010/main" val="1622647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FA838E-029E-4F82-AF63-CF10485BBC27}"/>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9C6FC95B-1B87-4993-BB5E-F9F5BC5102A1}"/>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7B2823B-1079-4CEC-901F-C357D4382A2D}"/>
              </a:ext>
            </a:extLst>
          </p:cNvPr>
          <p:cNvSpPr>
            <a:spLocks noGrp="1"/>
          </p:cNvSpPr>
          <p:nvPr>
            <p:ph type="dt" sz="half" idx="10"/>
          </p:nvPr>
        </p:nvSpPr>
        <p:spPr/>
        <p:txBody>
          <a:bodyPr/>
          <a:lstStyle/>
          <a:p>
            <a:fld id="{CD98C706-3A6E-48CA-B21A-6D5B54011EB8}" type="datetimeFigureOut">
              <a:rPr lang="de-DE" smtClean="0"/>
              <a:t>22.07.2024</a:t>
            </a:fld>
            <a:endParaRPr lang="de-DE"/>
          </a:p>
        </p:txBody>
      </p:sp>
      <p:sp>
        <p:nvSpPr>
          <p:cNvPr id="5" name="Fußzeilenplatzhalter 4">
            <a:extLst>
              <a:ext uri="{FF2B5EF4-FFF2-40B4-BE49-F238E27FC236}">
                <a16:creationId xmlns:a16="http://schemas.microsoft.com/office/drawing/2014/main" id="{2F260CF2-7FF3-4764-A68A-9FA002A64EF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8A10213-EE39-4B18-B0FA-A34A09395ADE}"/>
              </a:ext>
            </a:extLst>
          </p:cNvPr>
          <p:cNvSpPr>
            <a:spLocks noGrp="1"/>
          </p:cNvSpPr>
          <p:nvPr>
            <p:ph type="sldNum" sz="quarter" idx="12"/>
          </p:nvPr>
        </p:nvSpPr>
        <p:spPr/>
        <p:txBody>
          <a:bodyPr/>
          <a:lstStyle/>
          <a:p>
            <a:fld id="{30913F1C-0FC3-4F2E-B262-89E189B76544}" type="slidenum">
              <a:rPr lang="de-DE" smtClean="0"/>
              <a:t>‹Nr.›</a:t>
            </a:fld>
            <a:endParaRPr lang="de-DE"/>
          </a:p>
        </p:txBody>
      </p:sp>
    </p:spTree>
    <p:extLst>
      <p:ext uri="{BB962C8B-B14F-4D97-AF65-F5344CB8AC3E}">
        <p14:creationId xmlns:p14="http://schemas.microsoft.com/office/powerpoint/2010/main" val="4278497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C756CF28-16CE-47CC-AC21-186EC8716981}"/>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465BA38-58C5-4531-90C9-C25F95E41FBD}"/>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0BB8DC2-4301-41EF-A276-B3A7FA2F863C}"/>
              </a:ext>
            </a:extLst>
          </p:cNvPr>
          <p:cNvSpPr>
            <a:spLocks noGrp="1"/>
          </p:cNvSpPr>
          <p:nvPr>
            <p:ph type="dt" sz="half" idx="10"/>
          </p:nvPr>
        </p:nvSpPr>
        <p:spPr/>
        <p:txBody>
          <a:bodyPr/>
          <a:lstStyle/>
          <a:p>
            <a:fld id="{CD98C706-3A6E-48CA-B21A-6D5B54011EB8}" type="datetimeFigureOut">
              <a:rPr lang="de-DE" smtClean="0"/>
              <a:t>22.07.2024</a:t>
            </a:fld>
            <a:endParaRPr lang="de-DE"/>
          </a:p>
        </p:txBody>
      </p:sp>
      <p:sp>
        <p:nvSpPr>
          <p:cNvPr id="5" name="Fußzeilenplatzhalter 4">
            <a:extLst>
              <a:ext uri="{FF2B5EF4-FFF2-40B4-BE49-F238E27FC236}">
                <a16:creationId xmlns:a16="http://schemas.microsoft.com/office/drawing/2014/main" id="{AE3F682B-6E51-4908-BE48-861D4AE6898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72CF74C-276E-40F6-81C0-7B8180B38B9A}"/>
              </a:ext>
            </a:extLst>
          </p:cNvPr>
          <p:cNvSpPr>
            <a:spLocks noGrp="1"/>
          </p:cNvSpPr>
          <p:nvPr>
            <p:ph type="sldNum" sz="quarter" idx="12"/>
          </p:nvPr>
        </p:nvSpPr>
        <p:spPr/>
        <p:txBody>
          <a:bodyPr/>
          <a:lstStyle/>
          <a:p>
            <a:fld id="{30913F1C-0FC3-4F2E-B262-89E189B76544}" type="slidenum">
              <a:rPr lang="de-DE" smtClean="0"/>
              <a:t>‹Nr.›</a:t>
            </a:fld>
            <a:endParaRPr lang="de-DE"/>
          </a:p>
        </p:txBody>
      </p:sp>
    </p:spTree>
    <p:extLst>
      <p:ext uri="{BB962C8B-B14F-4D97-AF65-F5344CB8AC3E}">
        <p14:creationId xmlns:p14="http://schemas.microsoft.com/office/powerpoint/2010/main" val="27063183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7"/>
            <a:ext cx="10095600" cy="9368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800"/>
          </a:xfrm>
          <a:prstGeom prst="rect">
            <a:avLst/>
          </a:prstGeom>
        </p:spPr>
        <p:txBody>
          <a:bodyPr spcFirstLastPara="1" wrap="square" lIns="91425" tIns="91425" rIns="91425" bIns="91425" anchor="t" anchorCtr="0">
            <a:noAutofit/>
          </a:bodyPr>
          <a:lstStyle>
            <a:lvl1pPr marL="609585" lvl="0" indent="-507987">
              <a:spcBef>
                <a:spcPts val="800"/>
              </a:spcBef>
              <a:spcAft>
                <a:spcPts val="0"/>
              </a:spcAft>
              <a:buSzPts val="2400"/>
              <a:buChar char="◎"/>
              <a:defRPr sz="3200"/>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507987">
              <a:spcBef>
                <a:spcPts val="0"/>
              </a:spcBef>
              <a:spcAft>
                <a:spcPts val="0"/>
              </a:spcAft>
              <a:buSzPts val="2400"/>
              <a:buChar char="●"/>
              <a:defRPr sz="3200"/>
            </a:lvl4pPr>
            <a:lvl5pPr marL="3047924" lvl="4" indent="-507987">
              <a:spcBef>
                <a:spcPts val="0"/>
              </a:spcBef>
              <a:spcAft>
                <a:spcPts val="0"/>
              </a:spcAft>
              <a:buSzPts val="2400"/>
              <a:buChar char="○"/>
              <a:defRPr sz="3200"/>
            </a:lvl5pPr>
            <a:lvl6pPr marL="3657509" lvl="5" indent="-507987">
              <a:spcBef>
                <a:spcPts val="0"/>
              </a:spcBef>
              <a:spcAft>
                <a:spcPts val="0"/>
              </a:spcAft>
              <a:buSzPts val="2400"/>
              <a:buChar char="■"/>
              <a:defRPr sz="3200"/>
            </a:lvl6pPr>
            <a:lvl7pPr marL="4267093" lvl="6" indent="-507987">
              <a:spcBef>
                <a:spcPts val="0"/>
              </a:spcBef>
              <a:spcAft>
                <a:spcPts val="0"/>
              </a:spcAft>
              <a:buSzPts val="2400"/>
              <a:buChar char="●"/>
              <a:defRPr sz="3200"/>
            </a:lvl7pPr>
            <a:lvl8pPr marL="4876678" lvl="7" indent="-507987">
              <a:spcBef>
                <a:spcPts val="0"/>
              </a:spcBef>
              <a:spcAft>
                <a:spcPts val="0"/>
              </a:spcAft>
              <a:buSzPts val="2400"/>
              <a:buChar char="○"/>
              <a:defRPr sz="3200"/>
            </a:lvl8pPr>
            <a:lvl9pPr marL="5486263" lvl="8" indent="-507987">
              <a:spcBef>
                <a:spcPts val="0"/>
              </a:spcBef>
              <a:spcAft>
                <a:spcPts val="0"/>
              </a:spcAft>
              <a:buSzPts val="2400"/>
              <a:buChar char="■"/>
              <a:defRPr sz="3200"/>
            </a:lvl9pPr>
          </a:lstStyle>
          <a:p>
            <a:endParaRPr/>
          </a:p>
        </p:txBody>
      </p:sp>
      <p:sp>
        <p:nvSpPr>
          <p:cNvPr id="43" name="Google Shape;43;p5"/>
          <p:cNvSpPr txBox="1">
            <a:spLocks noGrp="1"/>
          </p:cNvSpPr>
          <p:nvPr>
            <p:ph type="sldNum" idx="12"/>
          </p:nvPr>
        </p:nvSpPr>
        <p:spPr>
          <a:xfrm>
            <a:off x="112058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DE" smtClean="0"/>
              <a:pPr/>
              <a:t>‹Nr.›</a:t>
            </a:fld>
            <a:endParaRPr lang="de-DE"/>
          </a:p>
        </p:txBody>
      </p:sp>
    </p:spTree>
    <p:extLst>
      <p:ext uri="{BB962C8B-B14F-4D97-AF65-F5344CB8AC3E}">
        <p14:creationId xmlns:p14="http://schemas.microsoft.com/office/powerpoint/2010/main" val="59483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266913" y="2655800"/>
            <a:ext cx="7743200" cy="1546400"/>
          </a:xfrm>
          <a:prstGeom prst="rect">
            <a:avLst/>
          </a:prstGeom>
        </p:spPr>
        <p:txBody>
          <a:bodyPr spcFirstLastPara="1" wrap="square" lIns="91425" tIns="91425" rIns="91425" bIns="91425" anchor="ctr" anchorCtr="0">
            <a:noAutofit/>
          </a:bodyPr>
          <a:lstStyle>
            <a:lvl1pPr lvl="0">
              <a:spcBef>
                <a:spcPts val="0"/>
              </a:spcBef>
              <a:spcAft>
                <a:spcPts val="0"/>
              </a:spcAft>
              <a:buSzPts val="5800"/>
              <a:buNone/>
              <a:defRPr sz="7733" b="1"/>
            </a:lvl1pPr>
            <a:lvl2pPr lvl="1">
              <a:spcBef>
                <a:spcPts val="0"/>
              </a:spcBef>
              <a:spcAft>
                <a:spcPts val="0"/>
              </a:spcAft>
              <a:buSzPts val="5800"/>
              <a:buNone/>
              <a:defRPr sz="7733" b="1"/>
            </a:lvl2pPr>
            <a:lvl3pPr lvl="2">
              <a:spcBef>
                <a:spcPts val="0"/>
              </a:spcBef>
              <a:spcAft>
                <a:spcPts val="0"/>
              </a:spcAft>
              <a:buSzPts val="5800"/>
              <a:buNone/>
              <a:defRPr sz="7733" b="1"/>
            </a:lvl3pPr>
            <a:lvl4pPr lvl="3">
              <a:spcBef>
                <a:spcPts val="0"/>
              </a:spcBef>
              <a:spcAft>
                <a:spcPts val="0"/>
              </a:spcAft>
              <a:buSzPts val="5800"/>
              <a:buNone/>
              <a:defRPr sz="7733" b="1"/>
            </a:lvl4pPr>
            <a:lvl5pPr lvl="4">
              <a:spcBef>
                <a:spcPts val="0"/>
              </a:spcBef>
              <a:spcAft>
                <a:spcPts val="0"/>
              </a:spcAft>
              <a:buSzPts val="5800"/>
              <a:buNone/>
              <a:defRPr sz="7733" b="1"/>
            </a:lvl5pPr>
            <a:lvl6pPr lvl="5">
              <a:spcBef>
                <a:spcPts val="0"/>
              </a:spcBef>
              <a:spcAft>
                <a:spcPts val="0"/>
              </a:spcAft>
              <a:buSzPts val="5800"/>
              <a:buNone/>
              <a:defRPr sz="7733" b="1"/>
            </a:lvl6pPr>
            <a:lvl7pPr lvl="6">
              <a:spcBef>
                <a:spcPts val="0"/>
              </a:spcBef>
              <a:spcAft>
                <a:spcPts val="0"/>
              </a:spcAft>
              <a:buSzPts val="5800"/>
              <a:buNone/>
              <a:defRPr sz="7733" b="1"/>
            </a:lvl7pPr>
            <a:lvl8pPr lvl="7">
              <a:spcBef>
                <a:spcPts val="0"/>
              </a:spcBef>
              <a:spcAft>
                <a:spcPts val="0"/>
              </a:spcAft>
              <a:buSzPts val="5800"/>
              <a:buNone/>
              <a:defRPr sz="7733" b="1"/>
            </a:lvl8pPr>
            <a:lvl9pPr lvl="8">
              <a:spcBef>
                <a:spcPts val="0"/>
              </a:spcBef>
              <a:spcAft>
                <a:spcPts val="0"/>
              </a:spcAft>
              <a:buSzPts val="5800"/>
              <a:buNone/>
              <a:defRPr sz="7733" b="1"/>
            </a:lvl9pPr>
          </a:lstStyle>
          <a:p>
            <a:endParaRPr/>
          </a:p>
        </p:txBody>
      </p:sp>
      <p:sp>
        <p:nvSpPr>
          <p:cNvPr id="11" name="Google Shape;11;p2"/>
          <p:cNvSpPr/>
          <p:nvPr/>
        </p:nvSpPr>
        <p:spPr>
          <a:xfrm>
            <a:off x="9783375" y="6173432"/>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0386991" y="5576535"/>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11857671" y="4444464"/>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11695069" y="6565033"/>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3181688" y="677512"/>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639280" y="3605307"/>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348720" y="857463"/>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676313" y="1441151"/>
            <a:ext cx="256800" cy="2564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11085359" y="4833763"/>
            <a:ext cx="192400" cy="1920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1843811" y="5582348"/>
            <a:ext cx="192400" cy="1920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11084" y="2128745"/>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1861977" y="301904"/>
            <a:ext cx="256800" cy="2564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823323" y="2667459"/>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4567031" y="517173"/>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10685372" y="6090061"/>
            <a:ext cx="256800" cy="2564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863190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266913" y="2655800"/>
            <a:ext cx="7743200" cy="1546400"/>
          </a:xfrm>
          <a:prstGeom prst="rect">
            <a:avLst/>
          </a:prstGeom>
        </p:spPr>
        <p:txBody>
          <a:bodyPr spcFirstLastPara="1" wrap="square" lIns="91425" tIns="91425" rIns="91425" bIns="91425" anchor="ctr" anchorCtr="0">
            <a:noAutofit/>
          </a:bodyPr>
          <a:lstStyle>
            <a:lvl1pPr lvl="0">
              <a:spcBef>
                <a:spcPts val="0"/>
              </a:spcBef>
              <a:spcAft>
                <a:spcPts val="0"/>
              </a:spcAft>
              <a:buSzPts val="5800"/>
              <a:buNone/>
              <a:defRPr sz="7733" b="1"/>
            </a:lvl1pPr>
            <a:lvl2pPr lvl="1">
              <a:spcBef>
                <a:spcPts val="0"/>
              </a:spcBef>
              <a:spcAft>
                <a:spcPts val="0"/>
              </a:spcAft>
              <a:buSzPts val="5800"/>
              <a:buNone/>
              <a:defRPr sz="7733" b="1"/>
            </a:lvl2pPr>
            <a:lvl3pPr lvl="2">
              <a:spcBef>
                <a:spcPts val="0"/>
              </a:spcBef>
              <a:spcAft>
                <a:spcPts val="0"/>
              </a:spcAft>
              <a:buSzPts val="5800"/>
              <a:buNone/>
              <a:defRPr sz="7733" b="1"/>
            </a:lvl3pPr>
            <a:lvl4pPr lvl="3">
              <a:spcBef>
                <a:spcPts val="0"/>
              </a:spcBef>
              <a:spcAft>
                <a:spcPts val="0"/>
              </a:spcAft>
              <a:buSzPts val="5800"/>
              <a:buNone/>
              <a:defRPr sz="7733" b="1"/>
            </a:lvl4pPr>
            <a:lvl5pPr lvl="4">
              <a:spcBef>
                <a:spcPts val="0"/>
              </a:spcBef>
              <a:spcAft>
                <a:spcPts val="0"/>
              </a:spcAft>
              <a:buSzPts val="5800"/>
              <a:buNone/>
              <a:defRPr sz="7733" b="1"/>
            </a:lvl5pPr>
            <a:lvl6pPr lvl="5">
              <a:spcBef>
                <a:spcPts val="0"/>
              </a:spcBef>
              <a:spcAft>
                <a:spcPts val="0"/>
              </a:spcAft>
              <a:buSzPts val="5800"/>
              <a:buNone/>
              <a:defRPr sz="7733" b="1"/>
            </a:lvl6pPr>
            <a:lvl7pPr lvl="6">
              <a:spcBef>
                <a:spcPts val="0"/>
              </a:spcBef>
              <a:spcAft>
                <a:spcPts val="0"/>
              </a:spcAft>
              <a:buSzPts val="5800"/>
              <a:buNone/>
              <a:defRPr sz="7733" b="1"/>
            </a:lvl7pPr>
            <a:lvl8pPr lvl="7">
              <a:spcBef>
                <a:spcPts val="0"/>
              </a:spcBef>
              <a:spcAft>
                <a:spcPts val="0"/>
              </a:spcAft>
              <a:buSzPts val="5800"/>
              <a:buNone/>
              <a:defRPr sz="7733" b="1"/>
            </a:lvl8pPr>
            <a:lvl9pPr lvl="8">
              <a:spcBef>
                <a:spcPts val="0"/>
              </a:spcBef>
              <a:spcAft>
                <a:spcPts val="0"/>
              </a:spcAft>
              <a:buSzPts val="5800"/>
              <a:buNone/>
              <a:defRPr sz="7733" b="1"/>
            </a:lvl9pPr>
          </a:lstStyle>
          <a:p>
            <a:endParaRPr/>
          </a:p>
        </p:txBody>
      </p:sp>
      <p:sp>
        <p:nvSpPr>
          <p:cNvPr id="11" name="Google Shape;11;p2"/>
          <p:cNvSpPr/>
          <p:nvPr/>
        </p:nvSpPr>
        <p:spPr>
          <a:xfrm>
            <a:off x="9783375" y="6173432"/>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0386991" y="5576535"/>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11857671" y="4444464"/>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11695069" y="6565033"/>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3181688" y="677512"/>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639280" y="3605307"/>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348720" y="857463"/>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676313" y="1441151"/>
            <a:ext cx="256800" cy="2564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11085359" y="4833763"/>
            <a:ext cx="192400" cy="1920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1843811" y="5582348"/>
            <a:ext cx="192400" cy="1920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11084" y="2128745"/>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1861977" y="301904"/>
            <a:ext cx="256800" cy="2564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823323" y="2667459"/>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4567031" y="517173"/>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10685372" y="6090061"/>
            <a:ext cx="256800" cy="2564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641368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7"/>
            <a:ext cx="10095600" cy="9368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800"/>
          </a:xfrm>
          <a:prstGeom prst="rect">
            <a:avLst/>
          </a:prstGeom>
        </p:spPr>
        <p:txBody>
          <a:bodyPr spcFirstLastPara="1" wrap="square" lIns="91425" tIns="91425" rIns="91425" bIns="91425" anchor="t" anchorCtr="0">
            <a:noAutofit/>
          </a:bodyPr>
          <a:lstStyle>
            <a:lvl1pPr marL="609585" lvl="0" indent="-507987">
              <a:spcBef>
                <a:spcPts val="800"/>
              </a:spcBef>
              <a:spcAft>
                <a:spcPts val="0"/>
              </a:spcAft>
              <a:buSzPts val="2400"/>
              <a:buChar char="◎"/>
              <a:defRPr sz="3200"/>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507987">
              <a:spcBef>
                <a:spcPts val="0"/>
              </a:spcBef>
              <a:spcAft>
                <a:spcPts val="0"/>
              </a:spcAft>
              <a:buSzPts val="2400"/>
              <a:buChar char="●"/>
              <a:defRPr sz="3200"/>
            </a:lvl4pPr>
            <a:lvl5pPr marL="3047924" lvl="4" indent="-507987">
              <a:spcBef>
                <a:spcPts val="0"/>
              </a:spcBef>
              <a:spcAft>
                <a:spcPts val="0"/>
              </a:spcAft>
              <a:buSzPts val="2400"/>
              <a:buChar char="○"/>
              <a:defRPr sz="3200"/>
            </a:lvl5pPr>
            <a:lvl6pPr marL="3657509" lvl="5" indent="-507987">
              <a:spcBef>
                <a:spcPts val="0"/>
              </a:spcBef>
              <a:spcAft>
                <a:spcPts val="0"/>
              </a:spcAft>
              <a:buSzPts val="2400"/>
              <a:buChar char="■"/>
              <a:defRPr sz="3200"/>
            </a:lvl6pPr>
            <a:lvl7pPr marL="4267093" lvl="6" indent="-507987">
              <a:spcBef>
                <a:spcPts val="0"/>
              </a:spcBef>
              <a:spcAft>
                <a:spcPts val="0"/>
              </a:spcAft>
              <a:buSzPts val="2400"/>
              <a:buChar char="●"/>
              <a:defRPr sz="3200"/>
            </a:lvl7pPr>
            <a:lvl8pPr marL="4876678" lvl="7" indent="-507987">
              <a:spcBef>
                <a:spcPts val="0"/>
              </a:spcBef>
              <a:spcAft>
                <a:spcPts val="0"/>
              </a:spcAft>
              <a:buSzPts val="2400"/>
              <a:buChar char="○"/>
              <a:defRPr sz="3200"/>
            </a:lvl8pPr>
            <a:lvl9pPr marL="5486263" lvl="8" indent="-507987">
              <a:spcBef>
                <a:spcPts val="0"/>
              </a:spcBef>
              <a:spcAft>
                <a:spcPts val="0"/>
              </a:spcAft>
              <a:buSzPts val="2400"/>
              <a:buChar char="■"/>
              <a:defRPr sz="3200"/>
            </a:lvl9pPr>
          </a:lstStyle>
          <a:p>
            <a:endParaRPr/>
          </a:p>
        </p:txBody>
      </p:sp>
      <p:sp>
        <p:nvSpPr>
          <p:cNvPr id="43" name="Google Shape;43;p5"/>
          <p:cNvSpPr txBox="1">
            <a:spLocks noGrp="1"/>
          </p:cNvSpPr>
          <p:nvPr>
            <p:ph type="sldNum" idx="12"/>
          </p:nvPr>
        </p:nvSpPr>
        <p:spPr>
          <a:xfrm>
            <a:off x="112058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DE" smtClean="0"/>
              <a:pPr/>
              <a:t>‹Nr.›</a:t>
            </a:fld>
            <a:endParaRPr lang="de-DE"/>
          </a:p>
        </p:txBody>
      </p:sp>
    </p:spTree>
    <p:extLst>
      <p:ext uri="{BB962C8B-B14F-4D97-AF65-F5344CB8AC3E}">
        <p14:creationId xmlns:p14="http://schemas.microsoft.com/office/powerpoint/2010/main" val="29803476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1048200" y="410827"/>
            <a:ext cx="10095600" cy="9368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6" name="Google Shape;46;p6"/>
          <p:cNvSpPr txBox="1">
            <a:spLocks noGrp="1"/>
          </p:cNvSpPr>
          <p:nvPr>
            <p:ph type="body" idx="1"/>
          </p:nvPr>
        </p:nvSpPr>
        <p:spPr>
          <a:xfrm>
            <a:off x="1048183" y="1600200"/>
            <a:ext cx="4900400" cy="49676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0"/>
              </a:spcBef>
              <a:spcAft>
                <a:spcPts val="0"/>
              </a:spcAft>
              <a:buSzPts val="2000"/>
              <a:buChar char="○"/>
              <a:defRPr sz="2667"/>
            </a:lvl2pPr>
            <a:lvl3pPr marL="1828754" lvl="2" indent="-474121">
              <a:spcBef>
                <a:spcPts val="0"/>
              </a:spcBef>
              <a:spcAft>
                <a:spcPts val="0"/>
              </a:spcAft>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47" name="Google Shape;47;p6"/>
          <p:cNvSpPr txBox="1">
            <a:spLocks noGrp="1"/>
          </p:cNvSpPr>
          <p:nvPr>
            <p:ph type="body" idx="2"/>
          </p:nvPr>
        </p:nvSpPr>
        <p:spPr>
          <a:xfrm>
            <a:off x="6243545" y="1600200"/>
            <a:ext cx="4900400" cy="49676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0"/>
              </a:spcBef>
              <a:spcAft>
                <a:spcPts val="0"/>
              </a:spcAft>
              <a:buSzPts val="2000"/>
              <a:buChar char="○"/>
              <a:defRPr sz="2667"/>
            </a:lvl2pPr>
            <a:lvl3pPr marL="1828754" lvl="2" indent="-474121">
              <a:spcBef>
                <a:spcPts val="0"/>
              </a:spcBef>
              <a:spcAft>
                <a:spcPts val="0"/>
              </a:spcAft>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48" name="Google Shape;48;p6"/>
          <p:cNvSpPr txBox="1">
            <a:spLocks noGrp="1"/>
          </p:cNvSpPr>
          <p:nvPr>
            <p:ph type="sldNum" idx="12"/>
          </p:nvPr>
        </p:nvSpPr>
        <p:spPr>
          <a:xfrm>
            <a:off x="112058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DE" smtClean="0"/>
              <a:pPr/>
              <a:t>‹Nr.›</a:t>
            </a:fld>
            <a:endParaRPr lang="de-DE"/>
          </a:p>
        </p:txBody>
      </p:sp>
    </p:spTree>
    <p:extLst>
      <p:ext uri="{BB962C8B-B14F-4D97-AF65-F5344CB8AC3E}">
        <p14:creationId xmlns:p14="http://schemas.microsoft.com/office/powerpoint/2010/main" val="17104044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1048200" y="410827"/>
            <a:ext cx="10095600" cy="9368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57" name="Google Shape;57;p8"/>
          <p:cNvSpPr txBox="1">
            <a:spLocks noGrp="1"/>
          </p:cNvSpPr>
          <p:nvPr>
            <p:ph type="sldNum" idx="12"/>
          </p:nvPr>
        </p:nvSpPr>
        <p:spPr>
          <a:xfrm>
            <a:off x="112058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DE" smtClean="0"/>
              <a:pPr/>
              <a:t>‹Nr.›</a:t>
            </a:fld>
            <a:endParaRPr lang="de-DE"/>
          </a:p>
        </p:txBody>
      </p:sp>
    </p:spTree>
    <p:extLst>
      <p:ext uri="{BB962C8B-B14F-4D97-AF65-F5344CB8AC3E}">
        <p14:creationId xmlns:p14="http://schemas.microsoft.com/office/powerpoint/2010/main" val="916463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10"/>
          <p:cNvSpPr txBox="1">
            <a:spLocks noGrp="1"/>
          </p:cNvSpPr>
          <p:nvPr>
            <p:ph type="sldNum" idx="12"/>
          </p:nvPr>
        </p:nvSpPr>
        <p:spPr>
          <a:xfrm>
            <a:off x="112058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DE" smtClean="0"/>
              <a:pPr/>
              <a:t>‹Nr.›</a:t>
            </a:fld>
            <a:endParaRPr lang="de-DE"/>
          </a:p>
        </p:txBody>
      </p:sp>
    </p:spTree>
    <p:extLst>
      <p:ext uri="{BB962C8B-B14F-4D97-AF65-F5344CB8AC3E}">
        <p14:creationId xmlns:p14="http://schemas.microsoft.com/office/powerpoint/2010/main" val="2849191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image" Target="../media/image1.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theme" Target="../theme/theme3.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D367A1B-A7DF-4606-8064-CF70C274FC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43FE73E4-7E99-48C2-9E7B-84E2AC4ADB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37C5FD3-03DF-457E-A2C1-285CE6616B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98C706-3A6E-48CA-B21A-6D5B54011EB8}" type="datetimeFigureOut">
              <a:rPr lang="de-DE" smtClean="0"/>
              <a:t>22.07.2024</a:t>
            </a:fld>
            <a:endParaRPr lang="de-DE"/>
          </a:p>
        </p:txBody>
      </p:sp>
      <p:sp>
        <p:nvSpPr>
          <p:cNvPr id="5" name="Fußzeilenplatzhalter 4">
            <a:extLst>
              <a:ext uri="{FF2B5EF4-FFF2-40B4-BE49-F238E27FC236}">
                <a16:creationId xmlns:a16="http://schemas.microsoft.com/office/drawing/2014/main" id="{8AD30ADC-29AE-41FE-8250-DE5A7A7D9D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82E7D755-C1C6-4467-8752-1D6E82B8E3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913F1C-0FC3-4F2E-B262-89E189B76544}" type="slidenum">
              <a:rPr lang="de-DE" smtClean="0"/>
              <a:t>‹Nr.›</a:t>
            </a:fld>
            <a:endParaRPr lang="de-DE"/>
          </a:p>
        </p:txBody>
      </p:sp>
    </p:spTree>
    <p:extLst>
      <p:ext uri="{BB962C8B-B14F-4D97-AF65-F5344CB8AC3E}">
        <p14:creationId xmlns:p14="http://schemas.microsoft.com/office/powerpoint/2010/main" val="4226334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4">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48200" y="410827"/>
            <a:ext cx="10095600" cy="9368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1pPr>
            <a:lvl2pPr lvl="1">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2pPr>
            <a:lvl3pPr lvl="2">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3pPr>
            <a:lvl4pPr lvl="3">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4pPr>
            <a:lvl5pPr lvl="4">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5pPr>
            <a:lvl6pPr lvl="5">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6pPr>
            <a:lvl7pPr lvl="6">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7pPr>
            <a:lvl8pPr lvl="7">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8pPr>
            <a:lvl9pPr lvl="8">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1048200" y="1682267"/>
            <a:ext cx="10095600" cy="47648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accent4"/>
              </a:buClr>
              <a:buSzPts val="3000"/>
              <a:buFont typeface="Source Sans Pro"/>
              <a:buChar char="◎"/>
              <a:defRPr sz="3000">
                <a:solidFill>
                  <a:schemeClr val="dk1"/>
                </a:solidFill>
                <a:latin typeface="Source Sans Pro"/>
                <a:ea typeface="Source Sans Pro"/>
                <a:cs typeface="Source Sans Pro"/>
                <a:sym typeface="Source Sans Pro"/>
              </a:defRPr>
            </a:lvl1pPr>
            <a:lvl2pPr marL="914400" lvl="1"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2pPr>
            <a:lvl3pPr marL="1371600" lvl="2"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3pPr>
            <a:lvl4pPr marL="1828800" lvl="3"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marL="2286000" lvl="4"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marL="2743200" lvl="5"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marL="3200400" lvl="6"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marL="3657600" lvl="7"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marL="4114800" lvl="8"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11205845" y="6333135"/>
            <a:ext cx="731600" cy="524800"/>
          </a:xfrm>
          <a:prstGeom prst="rect">
            <a:avLst/>
          </a:prstGeom>
          <a:noFill/>
          <a:ln>
            <a:noFill/>
          </a:ln>
        </p:spPr>
        <p:txBody>
          <a:bodyPr spcFirstLastPara="1" wrap="square" lIns="91425" tIns="91425" rIns="91425" bIns="91425" anchor="t" anchorCtr="0">
            <a:noAutofit/>
          </a:bodyPr>
          <a:lstStyle>
            <a:lvl1pPr lvl="0" algn="r">
              <a:buNone/>
              <a:defRPr sz="1733" b="1">
                <a:solidFill>
                  <a:schemeClr val="accent1"/>
                </a:solidFill>
                <a:latin typeface="Source Sans Pro"/>
                <a:ea typeface="Source Sans Pro"/>
                <a:cs typeface="Source Sans Pro"/>
                <a:sym typeface="Source Sans Pro"/>
              </a:defRPr>
            </a:lvl1pPr>
            <a:lvl2pPr lvl="1" algn="r">
              <a:buNone/>
              <a:defRPr sz="1733" b="1">
                <a:solidFill>
                  <a:schemeClr val="accent1"/>
                </a:solidFill>
                <a:latin typeface="Source Sans Pro"/>
                <a:ea typeface="Source Sans Pro"/>
                <a:cs typeface="Source Sans Pro"/>
                <a:sym typeface="Source Sans Pro"/>
              </a:defRPr>
            </a:lvl2pPr>
            <a:lvl3pPr lvl="2" algn="r">
              <a:buNone/>
              <a:defRPr sz="1733" b="1">
                <a:solidFill>
                  <a:schemeClr val="accent1"/>
                </a:solidFill>
                <a:latin typeface="Source Sans Pro"/>
                <a:ea typeface="Source Sans Pro"/>
                <a:cs typeface="Source Sans Pro"/>
                <a:sym typeface="Source Sans Pro"/>
              </a:defRPr>
            </a:lvl3pPr>
            <a:lvl4pPr lvl="3" algn="r">
              <a:buNone/>
              <a:defRPr sz="1733" b="1">
                <a:solidFill>
                  <a:schemeClr val="accent1"/>
                </a:solidFill>
                <a:latin typeface="Source Sans Pro"/>
                <a:ea typeface="Source Sans Pro"/>
                <a:cs typeface="Source Sans Pro"/>
                <a:sym typeface="Source Sans Pro"/>
              </a:defRPr>
            </a:lvl4pPr>
            <a:lvl5pPr lvl="4" algn="r">
              <a:buNone/>
              <a:defRPr sz="1733" b="1">
                <a:solidFill>
                  <a:schemeClr val="accent1"/>
                </a:solidFill>
                <a:latin typeface="Source Sans Pro"/>
                <a:ea typeface="Source Sans Pro"/>
                <a:cs typeface="Source Sans Pro"/>
                <a:sym typeface="Source Sans Pro"/>
              </a:defRPr>
            </a:lvl5pPr>
            <a:lvl6pPr lvl="5" algn="r">
              <a:buNone/>
              <a:defRPr sz="1733" b="1">
                <a:solidFill>
                  <a:schemeClr val="accent1"/>
                </a:solidFill>
                <a:latin typeface="Source Sans Pro"/>
                <a:ea typeface="Source Sans Pro"/>
                <a:cs typeface="Source Sans Pro"/>
                <a:sym typeface="Source Sans Pro"/>
              </a:defRPr>
            </a:lvl6pPr>
            <a:lvl7pPr lvl="6" algn="r">
              <a:buNone/>
              <a:defRPr sz="1733" b="1">
                <a:solidFill>
                  <a:schemeClr val="accent1"/>
                </a:solidFill>
                <a:latin typeface="Source Sans Pro"/>
                <a:ea typeface="Source Sans Pro"/>
                <a:cs typeface="Source Sans Pro"/>
                <a:sym typeface="Source Sans Pro"/>
              </a:defRPr>
            </a:lvl7pPr>
            <a:lvl8pPr lvl="7" algn="r">
              <a:buNone/>
              <a:defRPr sz="1733" b="1">
                <a:solidFill>
                  <a:schemeClr val="accent1"/>
                </a:solidFill>
                <a:latin typeface="Source Sans Pro"/>
                <a:ea typeface="Source Sans Pro"/>
                <a:cs typeface="Source Sans Pro"/>
                <a:sym typeface="Source Sans Pro"/>
              </a:defRPr>
            </a:lvl8pPr>
            <a:lvl9pPr lvl="8" algn="r">
              <a:buNone/>
              <a:defRPr sz="1733" b="1">
                <a:solidFill>
                  <a:schemeClr val="accent1"/>
                </a:solidFill>
                <a:latin typeface="Source Sans Pro"/>
                <a:ea typeface="Source Sans Pro"/>
                <a:cs typeface="Source Sans Pro"/>
                <a:sym typeface="Source Sans Pro"/>
              </a:defRPr>
            </a:lvl9pPr>
          </a:lstStyle>
          <a:p>
            <a:fld id="{00000000-1234-1234-1234-123412341234}" type="slidenum">
              <a:rPr lang="de-DE" smtClean="0"/>
              <a:pPr/>
              <a:t>‹Nr.›</a:t>
            </a:fld>
            <a:endParaRPr lang="de-DE">
              <a:latin typeface="Roboto Slab"/>
              <a:ea typeface="Roboto Slab"/>
              <a:cs typeface="Roboto Slab"/>
              <a:sym typeface="Roboto Slab"/>
            </a:endParaRPr>
          </a:p>
        </p:txBody>
      </p:sp>
    </p:spTree>
    <p:extLst>
      <p:ext uri="{BB962C8B-B14F-4D97-AF65-F5344CB8AC3E}">
        <p14:creationId xmlns:p14="http://schemas.microsoft.com/office/powerpoint/2010/main" val="700642447"/>
      </p:ext>
    </p:extLst>
  </p:cSld>
  <p:clrMap bg1="lt1" tx1="dk1" bg2="dk2" tx2="lt2" accent1="accent1" accent2="accent2" accent3="accent3" accent4="accent4" accent5="accent5" accent6="accent6" hlink="hlink" folHlink="folHlink"/>
  <p:sldLayoutIdLst>
    <p:sldLayoutId id="2147483661" r:id="rId1"/>
    <p:sldLayoutId id="2147483662"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7">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48200" y="410827"/>
            <a:ext cx="10095600" cy="9368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1pPr>
            <a:lvl2pPr lvl="1">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2pPr>
            <a:lvl3pPr lvl="2">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3pPr>
            <a:lvl4pPr lvl="3">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4pPr>
            <a:lvl5pPr lvl="4">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5pPr>
            <a:lvl6pPr lvl="5">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6pPr>
            <a:lvl7pPr lvl="6">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7pPr>
            <a:lvl8pPr lvl="7">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8pPr>
            <a:lvl9pPr lvl="8">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1048200" y="1682267"/>
            <a:ext cx="10095600" cy="47648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accent4"/>
              </a:buClr>
              <a:buSzPts val="3000"/>
              <a:buFont typeface="Source Sans Pro"/>
              <a:buChar char="◎"/>
              <a:defRPr sz="3000">
                <a:solidFill>
                  <a:schemeClr val="dk1"/>
                </a:solidFill>
                <a:latin typeface="Source Sans Pro"/>
                <a:ea typeface="Source Sans Pro"/>
                <a:cs typeface="Source Sans Pro"/>
                <a:sym typeface="Source Sans Pro"/>
              </a:defRPr>
            </a:lvl1pPr>
            <a:lvl2pPr marL="914400" lvl="1"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2pPr>
            <a:lvl3pPr marL="1371600" lvl="2"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3pPr>
            <a:lvl4pPr marL="1828800" lvl="3"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marL="2286000" lvl="4"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marL="2743200" lvl="5"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marL="3200400" lvl="6"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marL="3657600" lvl="7"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marL="4114800" lvl="8"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11205845" y="6333135"/>
            <a:ext cx="731600" cy="524800"/>
          </a:xfrm>
          <a:prstGeom prst="rect">
            <a:avLst/>
          </a:prstGeom>
          <a:noFill/>
          <a:ln>
            <a:noFill/>
          </a:ln>
        </p:spPr>
        <p:txBody>
          <a:bodyPr spcFirstLastPara="1" wrap="square" lIns="91425" tIns="91425" rIns="91425" bIns="91425" anchor="t" anchorCtr="0">
            <a:noAutofit/>
          </a:bodyPr>
          <a:lstStyle>
            <a:lvl1pPr lvl="0" algn="r">
              <a:buNone/>
              <a:defRPr sz="1733" b="1">
                <a:solidFill>
                  <a:schemeClr val="accent1"/>
                </a:solidFill>
                <a:latin typeface="Source Sans Pro"/>
                <a:ea typeface="Source Sans Pro"/>
                <a:cs typeface="Source Sans Pro"/>
                <a:sym typeface="Source Sans Pro"/>
              </a:defRPr>
            </a:lvl1pPr>
            <a:lvl2pPr lvl="1" algn="r">
              <a:buNone/>
              <a:defRPr sz="1733" b="1">
                <a:solidFill>
                  <a:schemeClr val="accent1"/>
                </a:solidFill>
                <a:latin typeface="Source Sans Pro"/>
                <a:ea typeface="Source Sans Pro"/>
                <a:cs typeface="Source Sans Pro"/>
                <a:sym typeface="Source Sans Pro"/>
              </a:defRPr>
            </a:lvl2pPr>
            <a:lvl3pPr lvl="2" algn="r">
              <a:buNone/>
              <a:defRPr sz="1733" b="1">
                <a:solidFill>
                  <a:schemeClr val="accent1"/>
                </a:solidFill>
                <a:latin typeface="Source Sans Pro"/>
                <a:ea typeface="Source Sans Pro"/>
                <a:cs typeface="Source Sans Pro"/>
                <a:sym typeface="Source Sans Pro"/>
              </a:defRPr>
            </a:lvl3pPr>
            <a:lvl4pPr lvl="3" algn="r">
              <a:buNone/>
              <a:defRPr sz="1733" b="1">
                <a:solidFill>
                  <a:schemeClr val="accent1"/>
                </a:solidFill>
                <a:latin typeface="Source Sans Pro"/>
                <a:ea typeface="Source Sans Pro"/>
                <a:cs typeface="Source Sans Pro"/>
                <a:sym typeface="Source Sans Pro"/>
              </a:defRPr>
            </a:lvl4pPr>
            <a:lvl5pPr lvl="4" algn="r">
              <a:buNone/>
              <a:defRPr sz="1733" b="1">
                <a:solidFill>
                  <a:schemeClr val="accent1"/>
                </a:solidFill>
                <a:latin typeface="Source Sans Pro"/>
                <a:ea typeface="Source Sans Pro"/>
                <a:cs typeface="Source Sans Pro"/>
                <a:sym typeface="Source Sans Pro"/>
              </a:defRPr>
            </a:lvl5pPr>
            <a:lvl6pPr lvl="5" algn="r">
              <a:buNone/>
              <a:defRPr sz="1733" b="1">
                <a:solidFill>
                  <a:schemeClr val="accent1"/>
                </a:solidFill>
                <a:latin typeface="Source Sans Pro"/>
                <a:ea typeface="Source Sans Pro"/>
                <a:cs typeface="Source Sans Pro"/>
                <a:sym typeface="Source Sans Pro"/>
              </a:defRPr>
            </a:lvl6pPr>
            <a:lvl7pPr lvl="6" algn="r">
              <a:buNone/>
              <a:defRPr sz="1733" b="1">
                <a:solidFill>
                  <a:schemeClr val="accent1"/>
                </a:solidFill>
                <a:latin typeface="Source Sans Pro"/>
                <a:ea typeface="Source Sans Pro"/>
                <a:cs typeface="Source Sans Pro"/>
                <a:sym typeface="Source Sans Pro"/>
              </a:defRPr>
            </a:lvl7pPr>
            <a:lvl8pPr lvl="7" algn="r">
              <a:buNone/>
              <a:defRPr sz="1733" b="1">
                <a:solidFill>
                  <a:schemeClr val="accent1"/>
                </a:solidFill>
                <a:latin typeface="Source Sans Pro"/>
                <a:ea typeface="Source Sans Pro"/>
                <a:cs typeface="Source Sans Pro"/>
                <a:sym typeface="Source Sans Pro"/>
              </a:defRPr>
            </a:lvl8pPr>
            <a:lvl9pPr lvl="8" algn="r">
              <a:buNone/>
              <a:defRPr sz="1733" b="1">
                <a:solidFill>
                  <a:schemeClr val="accent1"/>
                </a:solidFill>
                <a:latin typeface="Source Sans Pro"/>
                <a:ea typeface="Source Sans Pro"/>
                <a:cs typeface="Source Sans Pro"/>
                <a:sym typeface="Source Sans Pro"/>
              </a:defRPr>
            </a:lvl9pPr>
          </a:lstStyle>
          <a:p>
            <a:fld id="{00000000-1234-1234-1234-123412341234}" type="slidenum">
              <a:rPr lang="de-DE" smtClean="0"/>
              <a:pPr/>
              <a:t>‹Nr.›</a:t>
            </a:fld>
            <a:endParaRPr lang="de-DE">
              <a:latin typeface="Roboto Slab"/>
              <a:ea typeface="Roboto Slab"/>
              <a:cs typeface="Roboto Slab"/>
              <a:sym typeface="Roboto Slab"/>
            </a:endParaRPr>
          </a:p>
        </p:txBody>
      </p:sp>
    </p:spTree>
    <p:extLst>
      <p:ext uri="{BB962C8B-B14F-4D97-AF65-F5344CB8AC3E}">
        <p14:creationId xmlns:p14="http://schemas.microsoft.com/office/powerpoint/2010/main" val="4125105690"/>
      </p:ext>
    </p:extLst>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openai.com/research/clip" TargetMode="External"/><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pdf/2209.06430.pdf" TargetMode="External"/><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Layout" Target="../diagrams/layout2.xml"/><Relationship Id="rId7" Type="http://schemas.openxmlformats.org/officeDocument/2006/relationships/image" Target="../media/image10.png"/><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13.png"/><Relationship Id="rId4" Type="http://schemas.openxmlformats.org/officeDocument/2006/relationships/diagramQuickStyle" Target="../diagrams/quickStyle2.xml"/><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7" Type="http://schemas.openxmlformats.org/officeDocument/2006/relationships/image" Target="../media/image19.sv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image" Target="../media/image14.png"/><Relationship Id="rId16" Type="http://schemas.openxmlformats.org/officeDocument/2006/relationships/image" Target="../media/image28.png"/><Relationship Id="rId1" Type="http://schemas.openxmlformats.org/officeDocument/2006/relationships/slideLayout" Target="../slideLayouts/slideLayout1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sv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31.png"/><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svg"/><Relationship Id="rId7"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svg"/><Relationship Id="rId10" Type="http://schemas.openxmlformats.org/officeDocument/2006/relationships/image" Target="../media/image38.png"/><Relationship Id="rId4" Type="http://schemas.openxmlformats.org/officeDocument/2006/relationships/image" Target="../media/image18.png"/><Relationship Id="rId9"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39.png"/><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svg"/><Relationship Id="rId7"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svg"/><Relationship Id="rId10" Type="http://schemas.openxmlformats.org/officeDocument/2006/relationships/image" Target="../media/image41.png"/><Relationship Id="rId4" Type="http://schemas.openxmlformats.org/officeDocument/2006/relationships/image" Target="../media/image18.png"/><Relationship Id="rId9"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42.png"/><Relationship Id="rId2" Type="http://schemas.openxmlformats.org/officeDocument/2006/relationships/diagramData" Target="../diagrams/data7.xml"/><Relationship Id="rId1" Type="http://schemas.openxmlformats.org/officeDocument/2006/relationships/slideLayout" Target="../slideLayouts/slideLayout1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svg"/><Relationship Id="rId10" Type="http://schemas.openxmlformats.org/officeDocument/2006/relationships/image" Target="../media/image43.png"/><Relationship Id="rId4" Type="http://schemas.openxmlformats.org/officeDocument/2006/relationships/image" Target="../media/image16.png"/><Relationship Id="rId9" Type="http://schemas.openxmlformats.org/officeDocument/2006/relationships/image" Target="../media/image21.png"/></Relationships>
</file>

<file path=ppt/slides/_rels/slide2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2.xml"/><Relationship Id="rId6" Type="http://schemas.openxmlformats.org/officeDocument/2006/relationships/image" Target="../media/image19.svg"/><Relationship Id="rId11" Type="http://schemas.openxmlformats.org/officeDocument/2006/relationships/image" Target="../media/image45.png"/><Relationship Id="rId5" Type="http://schemas.openxmlformats.org/officeDocument/2006/relationships/image" Target="../media/image18.png"/><Relationship Id="rId10" Type="http://schemas.openxmlformats.org/officeDocument/2006/relationships/image" Target="../media/image44.png"/><Relationship Id="rId4" Type="http://schemas.openxmlformats.org/officeDocument/2006/relationships/image" Target="../media/image17.svg"/><Relationship Id="rId9"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46.png"/><Relationship Id="rId2" Type="http://schemas.openxmlformats.org/officeDocument/2006/relationships/diagramData" Target="../diagrams/data8.xml"/><Relationship Id="rId1" Type="http://schemas.openxmlformats.org/officeDocument/2006/relationships/slideLayout" Target="../slideLayouts/slideLayout1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47.png"/><Relationship Id="rId2" Type="http://schemas.openxmlformats.org/officeDocument/2006/relationships/diagramData" Target="../diagrams/data9.xml"/><Relationship Id="rId1" Type="http://schemas.openxmlformats.org/officeDocument/2006/relationships/slideLayout" Target="../slideLayouts/slideLayout1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17.svg"/><Relationship Id="rId7"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svg"/><Relationship Id="rId10" Type="http://schemas.openxmlformats.org/officeDocument/2006/relationships/image" Target="../media/image50.png"/><Relationship Id="rId4" Type="http://schemas.openxmlformats.org/officeDocument/2006/relationships/image" Target="../media/image18.png"/><Relationship Id="rId9" Type="http://schemas.openxmlformats.org/officeDocument/2006/relationships/image" Target="../media/image49.png"/></Relationships>
</file>

<file path=ppt/slides/_rels/slide3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2"/>
          <p:cNvSpPr txBox="1">
            <a:spLocks noGrp="1"/>
          </p:cNvSpPr>
          <p:nvPr>
            <p:ph type="ctrTitle"/>
          </p:nvPr>
        </p:nvSpPr>
        <p:spPr>
          <a:xfrm>
            <a:off x="2266913" y="2481628"/>
            <a:ext cx="7743200" cy="1546400"/>
          </a:xfrm>
          <a:prstGeom prst="rect">
            <a:avLst/>
          </a:prstGeom>
        </p:spPr>
        <p:txBody>
          <a:bodyPr spcFirstLastPara="1" wrap="square" lIns="121900" tIns="121900" rIns="121900" bIns="121900" anchor="ctr" anchorCtr="0">
            <a:noAutofit/>
          </a:bodyPr>
          <a:lstStyle/>
          <a:p>
            <a:r>
              <a:rPr lang="en-US" sz="4267" dirty="0"/>
              <a:t>Cross-Modal Video Representation Alignment for Robust Action Recognition</a:t>
            </a:r>
          </a:p>
        </p:txBody>
      </p:sp>
      <p:sp>
        <p:nvSpPr>
          <p:cNvPr id="4" name="Textfeld 3">
            <a:extLst>
              <a:ext uri="{FF2B5EF4-FFF2-40B4-BE49-F238E27FC236}">
                <a16:creationId xmlns:a16="http://schemas.microsoft.com/office/drawing/2014/main" id="{F478B3B9-7218-6FE4-637B-0A2833C9207E}"/>
              </a:ext>
            </a:extLst>
          </p:cNvPr>
          <p:cNvSpPr txBox="1"/>
          <p:nvPr/>
        </p:nvSpPr>
        <p:spPr>
          <a:xfrm>
            <a:off x="2266914" y="4934858"/>
            <a:ext cx="3229647" cy="2308324"/>
          </a:xfrm>
          <a:prstGeom prst="rect">
            <a:avLst/>
          </a:prstGeom>
          <a:noFill/>
        </p:spPr>
        <p:txBody>
          <a:bodyPr wrap="square" rtlCol="0">
            <a:spAutoFit/>
          </a:bodyPr>
          <a:lstStyle/>
          <a:p>
            <a:pPr defTabSz="1219170">
              <a:spcBef>
                <a:spcPts val="800"/>
              </a:spcBef>
              <a:buClr>
                <a:srgbClr val="263238"/>
              </a:buClr>
              <a:buSzPts val="1100"/>
            </a:pPr>
            <a:r>
              <a:rPr lang="en-US" sz="1600" b="1" kern="0" dirty="0">
                <a:solidFill>
                  <a:srgbClr val="263238"/>
                </a:solidFill>
                <a:latin typeface="Source Sans Pro"/>
                <a:ea typeface="Source Sans Pro"/>
                <a:cs typeface="Arial"/>
                <a:sym typeface="Arial"/>
              </a:rPr>
              <a:t>Presented by: </a:t>
            </a:r>
            <a:r>
              <a:rPr lang="en-US" sz="1600" kern="0" dirty="0">
                <a:solidFill>
                  <a:srgbClr val="263238"/>
                </a:solidFill>
                <a:latin typeface="Source Sans Pro"/>
                <a:ea typeface="Source Sans Pro"/>
                <a:cs typeface="Arial"/>
                <a:sym typeface="Arial"/>
              </a:rPr>
              <a:t>Bastian Rothenburger</a:t>
            </a:r>
          </a:p>
          <a:p>
            <a:pPr defTabSz="1219170">
              <a:buClr>
                <a:srgbClr val="000000"/>
              </a:buClr>
            </a:pPr>
            <a:endParaRPr lang="de-DE" sz="1600" kern="0" dirty="0">
              <a:solidFill>
                <a:srgbClr val="000000"/>
              </a:solidFill>
              <a:latin typeface="Arial"/>
              <a:cs typeface="Arial"/>
              <a:sym typeface="Arial"/>
            </a:endParaRPr>
          </a:p>
          <a:p>
            <a:pPr defTabSz="1219170">
              <a:buClr>
                <a:srgbClr val="000000"/>
              </a:buClr>
            </a:pPr>
            <a:r>
              <a:rPr lang="en-AU" sz="1600" b="1" kern="0" dirty="0">
                <a:solidFill>
                  <a:srgbClr val="000000"/>
                </a:solidFill>
                <a:latin typeface="Source Sans Pro" panose="020B0503030403020204" pitchFamily="34" charset="0"/>
                <a:cs typeface="Arial"/>
                <a:sym typeface="Arial"/>
              </a:rPr>
              <a:t>Supervised by</a:t>
            </a:r>
            <a:r>
              <a:rPr lang="de-DE" sz="1600" b="1" kern="0" dirty="0">
                <a:solidFill>
                  <a:srgbClr val="000000"/>
                </a:solidFill>
                <a:latin typeface="Source Sans Pro" panose="020B0503030403020204" pitchFamily="34" charset="0"/>
                <a:cs typeface="Arial"/>
                <a:sym typeface="Arial"/>
              </a:rPr>
              <a:t>: </a:t>
            </a:r>
            <a:r>
              <a:rPr lang="en-GB" sz="1600" kern="0" dirty="0">
                <a:solidFill>
                  <a:srgbClr val="000000"/>
                </a:solidFill>
                <a:latin typeface="Source Sans Pro" panose="020B0503030403020204" pitchFamily="34" charset="0"/>
                <a:cs typeface="Arial"/>
                <a:sym typeface="Arial"/>
              </a:rPr>
              <a:t>M.Sc. David Lerch</a:t>
            </a:r>
          </a:p>
          <a:p>
            <a:pPr defTabSz="1219170">
              <a:buClr>
                <a:srgbClr val="000000"/>
              </a:buClr>
            </a:pPr>
            <a:r>
              <a:rPr lang="en-GB" sz="1600" kern="0" dirty="0">
                <a:solidFill>
                  <a:srgbClr val="000000"/>
                </a:solidFill>
                <a:latin typeface="Source Sans Pro" panose="020B0503030403020204" pitchFamily="34" charset="0"/>
                <a:cs typeface="Arial"/>
                <a:sym typeface="Arial"/>
              </a:rPr>
              <a:t>Perceptual User Interface</a:t>
            </a:r>
          </a:p>
          <a:p>
            <a:pPr defTabSz="1219170">
              <a:buClr>
                <a:srgbClr val="000000"/>
              </a:buClr>
            </a:pPr>
            <a:r>
              <a:rPr lang="en-GB" sz="1600" kern="0" dirty="0">
                <a:solidFill>
                  <a:srgbClr val="000000"/>
                </a:solidFill>
                <a:latin typeface="Source Sans Pro" panose="020B0503030403020204" pitchFamily="34" charset="0"/>
                <a:cs typeface="Arial"/>
                <a:sym typeface="Arial"/>
              </a:rPr>
              <a:t>Fraunhofer IOSB, Karlsruhe, DE</a:t>
            </a:r>
          </a:p>
          <a:p>
            <a:pPr defTabSz="1219170">
              <a:buClr>
                <a:srgbClr val="000000"/>
              </a:buClr>
            </a:pPr>
            <a:endParaRPr lang="de-DE" sz="1600" kern="0" dirty="0">
              <a:solidFill>
                <a:srgbClr val="000000"/>
              </a:solidFill>
              <a:latin typeface="Source Sans Pro" panose="020B0503030403020204" pitchFamily="34" charset="0"/>
              <a:cs typeface="Arial"/>
              <a:sym typeface="Arial"/>
            </a:endParaRPr>
          </a:p>
          <a:p>
            <a:pPr defTabSz="1219170">
              <a:buClr>
                <a:srgbClr val="000000"/>
              </a:buClr>
            </a:pPr>
            <a:endParaRPr lang="de-DE" sz="1600" kern="0" dirty="0">
              <a:solidFill>
                <a:srgbClr val="000000"/>
              </a:solidFill>
              <a:latin typeface="Arial"/>
              <a:cs typeface="Arial"/>
              <a:sym typeface="Arial"/>
            </a:endParaRPr>
          </a:p>
          <a:p>
            <a:pPr defTabSz="1219170">
              <a:buClr>
                <a:srgbClr val="000000"/>
              </a:buClr>
            </a:pPr>
            <a:endParaRPr lang="de-DE" sz="1600" kern="0" dirty="0">
              <a:solidFill>
                <a:srgbClr val="000000"/>
              </a:solidFill>
              <a:latin typeface="Arial"/>
              <a:cs typeface="Arial"/>
              <a:sym typeface="Arial"/>
            </a:endParaRPr>
          </a:p>
        </p:txBody>
      </p:sp>
      <p:pic>
        <p:nvPicPr>
          <p:cNvPr id="2" name="Grafik 1">
            <a:extLst>
              <a:ext uri="{FF2B5EF4-FFF2-40B4-BE49-F238E27FC236}">
                <a16:creationId xmlns:a16="http://schemas.microsoft.com/office/drawing/2014/main" id="{479F187B-4FCC-4ED3-B42B-8310A4C0B12C}"/>
              </a:ext>
            </a:extLst>
          </p:cNvPr>
          <p:cNvPicPr>
            <a:picLocks noChangeAspect="1"/>
          </p:cNvPicPr>
          <p:nvPr/>
        </p:nvPicPr>
        <p:blipFill>
          <a:blip r:embed="rId3"/>
          <a:stretch>
            <a:fillRect/>
          </a:stretch>
        </p:blipFill>
        <p:spPr>
          <a:xfrm>
            <a:off x="9672320" y="260465"/>
            <a:ext cx="2245360" cy="1223547"/>
          </a:xfrm>
          <a:prstGeom prst="rect">
            <a:avLst/>
          </a:prstGeom>
        </p:spPr>
      </p:pic>
      <p:pic>
        <p:nvPicPr>
          <p:cNvPr id="3" name="Grafik 2">
            <a:extLst>
              <a:ext uri="{FF2B5EF4-FFF2-40B4-BE49-F238E27FC236}">
                <a16:creationId xmlns:a16="http://schemas.microsoft.com/office/drawing/2014/main" id="{09BFB10C-4CBA-4E8D-B6A1-92078C33EBBE}"/>
              </a:ext>
            </a:extLst>
          </p:cNvPr>
          <p:cNvPicPr>
            <a:picLocks noChangeAspect="1"/>
          </p:cNvPicPr>
          <p:nvPr/>
        </p:nvPicPr>
        <p:blipFill>
          <a:blip r:embed="rId4"/>
          <a:stretch>
            <a:fillRect/>
          </a:stretch>
        </p:blipFill>
        <p:spPr>
          <a:xfrm>
            <a:off x="9828983" y="1984423"/>
            <a:ext cx="1932035" cy="588011"/>
          </a:xfrm>
          <a:prstGeom prst="rect">
            <a:avLst/>
          </a:prstGeom>
        </p:spPr>
      </p:pic>
      <p:sp>
        <p:nvSpPr>
          <p:cNvPr id="6" name="Textfeld 5">
            <a:extLst>
              <a:ext uri="{FF2B5EF4-FFF2-40B4-BE49-F238E27FC236}">
                <a16:creationId xmlns:a16="http://schemas.microsoft.com/office/drawing/2014/main" id="{F67FB403-CBE4-4DE2-9B4E-FC457F521AF5}"/>
              </a:ext>
            </a:extLst>
          </p:cNvPr>
          <p:cNvSpPr txBox="1"/>
          <p:nvPr/>
        </p:nvSpPr>
        <p:spPr>
          <a:xfrm>
            <a:off x="5650194" y="4934858"/>
            <a:ext cx="3229647" cy="2308324"/>
          </a:xfrm>
          <a:prstGeom prst="rect">
            <a:avLst/>
          </a:prstGeom>
          <a:noFill/>
        </p:spPr>
        <p:txBody>
          <a:bodyPr wrap="square" rtlCol="0">
            <a:spAutoFit/>
          </a:bodyPr>
          <a:lstStyle/>
          <a:p>
            <a:pPr defTabSz="1219170">
              <a:buClr>
                <a:srgbClr val="000000"/>
              </a:buClr>
            </a:pPr>
            <a:endParaRPr lang="de-DE" sz="1600" kern="0" dirty="0">
              <a:solidFill>
                <a:srgbClr val="000000"/>
              </a:solidFill>
              <a:latin typeface="Arial"/>
              <a:cs typeface="Arial"/>
              <a:sym typeface="Arial"/>
            </a:endParaRPr>
          </a:p>
          <a:p>
            <a:pPr defTabSz="1219170">
              <a:buClr>
                <a:srgbClr val="000000"/>
              </a:buClr>
            </a:pPr>
            <a:endParaRPr lang="de-DE" sz="1600" kern="0" dirty="0">
              <a:solidFill>
                <a:srgbClr val="000000"/>
              </a:solidFill>
              <a:latin typeface="Arial"/>
              <a:cs typeface="Arial"/>
              <a:sym typeface="Arial"/>
            </a:endParaRPr>
          </a:p>
          <a:p>
            <a:pPr defTabSz="1219170">
              <a:buClr>
                <a:srgbClr val="000000"/>
              </a:buClr>
            </a:pPr>
            <a:endParaRPr lang="de-DE" sz="1600" kern="0" dirty="0">
              <a:solidFill>
                <a:srgbClr val="000000"/>
              </a:solidFill>
              <a:latin typeface="Arial"/>
              <a:cs typeface="Arial"/>
              <a:sym typeface="Arial"/>
            </a:endParaRPr>
          </a:p>
          <a:p>
            <a:pPr defTabSz="1219170">
              <a:buClr>
                <a:srgbClr val="000000"/>
              </a:buClr>
            </a:pPr>
            <a:r>
              <a:rPr lang="en-AU" sz="1600" b="1" kern="0" dirty="0">
                <a:solidFill>
                  <a:srgbClr val="000000"/>
                </a:solidFill>
                <a:latin typeface="Source Sans Pro" panose="020B0503030403020204" pitchFamily="34" charset="0"/>
                <a:cs typeface="Arial"/>
                <a:sym typeface="Arial"/>
              </a:rPr>
              <a:t>Supervised by</a:t>
            </a:r>
            <a:r>
              <a:rPr lang="de-DE" sz="1600" b="1" kern="0" dirty="0">
                <a:solidFill>
                  <a:srgbClr val="000000"/>
                </a:solidFill>
                <a:latin typeface="Source Sans Pro" panose="020B0503030403020204" pitchFamily="34" charset="0"/>
                <a:cs typeface="Arial"/>
                <a:sym typeface="Arial"/>
              </a:rPr>
              <a:t>: </a:t>
            </a:r>
            <a:r>
              <a:rPr lang="en-GB" sz="1600" kern="0" dirty="0">
                <a:solidFill>
                  <a:srgbClr val="000000"/>
                </a:solidFill>
                <a:latin typeface="Source Sans Pro" panose="020B0503030403020204" pitchFamily="34" charset="0"/>
                <a:cs typeface="Arial"/>
                <a:sym typeface="Arial"/>
              </a:rPr>
              <a:t>Prof. </a:t>
            </a:r>
            <a:r>
              <a:rPr lang="en-GB" sz="1600" kern="0" dirty="0" err="1">
                <a:solidFill>
                  <a:srgbClr val="000000"/>
                </a:solidFill>
                <a:latin typeface="Source Sans Pro" panose="020B0503030403020204" pitchFamily="34" charset="0"/>
                <a:cs typeface="Arial"/>
                <a:sym typeface="Arial"/>
              </a:rPr>
              <a:t>Dr.</a:t>
            </a:r>
            <a:r>
              <a:rPr lang="en-GB" sz="1600" kern="0" dirty="0">
                <a:solidFill>
                  <a:srgbClr val="000000"/>
                </a:solidFill>
                <a:latin typeface="Source Sans Pro" panose="020B0503030403020204" pitchFamily="34" charset="0"/>
                <a:cs typeface="Arial"/>
                <a:sym typeface="Arial"/>
              </a:rPr>
              <a:t> Gemma </a:t>
            </a:r>
            <a:r>
              <a:rPr lang="en-GB" sz="1600" kern="0" dirty="0" err="1">
                <a:solidFill>
                  <a:srgbClr val="000000"/>
                </a:solidFill>
                <a:latin typeface="Source Sans Pro" panose="020B0503030403020204" pitchFamily="34" charset="0"/>
                <a:cs typeface="Arial"/>
                <a:sym typeface="Arial"/>
              </a:rPr>
              <a:t>Roig</a:t>
            </a:r>
            <a:r>
              <a:rPr lang="en-GB" sz="1600" kern="0" dirty="0">
                <a:solidFill>
                  <a:srgbClr val="000000"/>
                </a:solidFill>
                <a:latin typeface="Source Sans Pro" panose="020B0503030403020204" pitchFamily="34" charset="0"/>
                <a:cs typeface="Arial"/>
                <a:sym typeface="Arial"/>
              </a:rPr>
              <a:t>, Professor for Brain-inspired Artificial Intelligence</a:t>
            </a:r>
          </a:p>
          <a:p>
            <a:pPr defTabSz="1219170">
              <a:buClr>
                <a:srgbClr val="000000"/>
              </a:buClr>
            </a:pPr>
            <a:endParaRPr lang="de-DE" sz="1600" kern="0" dirty="0">
              <a:solidFill>
                <a:srgbClr val="000000"/>
              </a:solidFill>
              <a:latin typeface="Source Sans Pro" panose="020B0503030403020204" pitchFamily="34" charset="0"/>
              <a:cs typeface="Arial"/>
              <a:sym typeface="Arial"/>
            </a:endParaRPr>
          </a:p>
          <a:p>
            <a:pPr defTabSz="1219170">
              <a:buClr>
                <a:srgbClr val="000000"/>
              </a:buClr>
            </a:pPr>
            <a:endParaRPr lang="de-DE" sz="1600" kern="0" dirty="0">
              <a:solidFill>
                <a:srgbClr val="000000"/>
              </a:solidFill>
              <a:latin typeface="Arial"/>
              <a:cs typeface="Arial"/>
              <a:sym typeface="Arial"/>
            </a:endParaRPr>
          </a:p>
          <a:p>
            <a:pPr defTabSz="1219170">
              <a:buClr>
                <a:srgbClr val="000000"/>
              </a:buClr>
            </a:pPr>
            <a:endParaRPr lang="de-DE" sz="1600"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2" name="Google Shape;112;p17"/>
          <p:cNvSpPr txBox="1">
            <a:spLocks noGrp="1"/>
          </p:cNvSpPr>
          <p:nvPr>
            <p:ph type="sldNum" idx="12"/>
          </p:nvPr>
        </p:nvSpPr>
        <p:spPr>
          <a:xfrm>
            <a:off x="11205845" y="6333135"/>
            <a:ext cx="731600" cy="524800"/>
          </a:xfrm>
          <a:prstGeom prst="rect">
            <a:avLst/>
          </a:prstGeom>
        </p:spPr>
        <p:txBody>
          <a:bodyPr spcFirstLastPara="1" wrap="square" lIns="121900" tIns="121900" rIns="121900" bIns="121900" anchor="t" anchorCtr="0">
            <a:noAutofit/>
          </a:bodyPr>
          <a:lstStyle/>
          <a:p>
            <a:pPr defTabSz="1219170">
              <a:buClr>
                <a:srgbClr val="000000"/>
              </a:buClr>
            </a:pPr>
            <a:fld id="{00000000-1234-1234-1234-123412341234}" type="slidenum">
              <a:rPr lang="en" kern="0">
                <a:solidFill>
                  <a:srgbClr val="0091EA"/>
                </a:solidFill>
              </a:rPr>
              <a:pPr defTabSz="1219170">
                <a:buClr>
                  <a:srgbClr val="000000"/>
                </a:buClr>
              </a:pPr>
              <a:t>2</a:t>
            </a:fld>
            <a:endParaRPr kern="0">
              <a:solidFill>
                <a:srgbClr val="0091EA"/>
              </a:solidFill>
            </a:endParaRPr>
          </a:p>
        </p:txBody>
      </p:sp>
      <p:sp>
        <p:nvSpPr>
          <p:cNvPr id="2" name="Google Shape;97;p15">
            <a:extLst>
              <a:ext uri="{FF2B5EF4-FFF2-40B4-BE49-F238E27FC236}">
                <a16:creationId xmlns:a16="http://schemas.microsoft.com/office/drawing/2014/main" id="{60C45DC0-FD45-4E18-5B5F-F318F774C44B}"/>
              </a:ext>
            </a:extLst>
          </p:cNvPr>
          <p:cNvSpPr txBox="1">
            <a:spLocks/>
          </p:cNvSpPr>
          <p:nvPr/>
        </p:nvSpPr>
        <p:spPr>
          <a:xfrm>
            <a:off x="1164117" y="899091"/>
            <a:ext cx="7776800" cy="15464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defTabSz="1219170">
              <a:buClr>
                <a:srgbClr val="0091EA"/>
              </a:buClr>
            </a:pPr>
            <a:r>
              <a:rPr lang="en-AU" sz="3733" kern="0" dirty="0">
                <a:solidFill>
                  <a:srgbClr val="CFD8DC"/>
                </a:solidFill>
              </a:rPr>
              <a:t>1. </a:t>
            </a:r>
            <a:r>
              <a:rPr lang="en-AU" sz="3733" kern="0" dirty="0">
                <a:solidFill>
                  <a:srgbClr val="0091EA"/>
                </a:solidFill>
              </a:rPr>
              <a:t>Motivation</a:t>
            </a:r>
          </a:p>
        </p:txBody>
      </p:sp>
      <p:sp>
        <p:nvSpPr>
          <p:cNvPr id="5" name="Google Shape;97;p15">
            <a:extLst>
              <a:ext uri="{FF2B5EF4-FFF2-40B4-BE49-F238E27FC236}">
                <a16:creationId xmlns:a16="http://schemas.microsoft.com/office/drawing/2014/main" id="{F8117C94-47CA-F25D-B7FF-0F22A6519893}"/>
              </a:ext>
            </a:extLst>
          </p:cNvPr>
          <p:cNvSpPr txBox="1">
            <a:spLocks/>
          </p:cNvSpPr>
          <p:nvPr/>
        </p:nvSpPr>
        <p:spPr>
          <a:xfrm>
            <a:off x="2855905" y="1841953"/>
            <a:ext cx="7776800" cy="15464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defTabSz="1219170">
              <a:buClr>
                <a:srgbClr val="0091EA"/>
              </a:buClr>
            </a:pPr>
            <a:r>
              <a:rPr lang="gsw-FR" sz="3733" kern="0" dirty="0">
                <a:solidFill>
                  <a:srgbClr val="CFD8DC"/>
                </a:solidFill>
              </a:rPr>
              <a:t>2. </a:t>
            </a:r>
            <a:r>
              <a:rPr lang="gsw-FR" sz="3733" kern="0" dirty="0">
                <a:solidFill>
                  <a:srgbClr val="0091EA"/>
                </a:solidFill>
              </a:rPr>
              <a:t>Representation Learning</a:t>
            </a:r>
          </a:p>
        </p:txBody>
      </p:sp>
      <p:sp>
        <p:nvSpPr>
          <p:cNvPr id="6" name="Google Shape;97;p15">
            <a:extLst>
              <a:ext uri="{FF2B5EF4-FFF2-40B4-BE49-F238E27FC236}">
                <a16:creationId xmlns:a16="http://schemas.microsoft.com/office/drawing/2014/main" id="{FF809CEE-BBCE-34D7-3D92-9DB58620573E}"/>
              </a:ext>
            </a:extLst>
          </p:cNvPr>
          <p:cNvSpPr txBox="1">
            <a:spLocks/>
          </p:cNvSpPr>
          <p:nvPr/>
        </p:nvSpPr>
        <p:spPr>
          <a:xfrm>
            <a:off x="4547693" y="2972435"/>
            <a:ext cx="7776800" cy="15464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defTabSz="1219170">
              <a:buClr>
                <a:srgbClr val="0091EA"/>
              </a:buClr>
            </a:pPr>
            <a:r>
              <a:rPr lang="de-DE" sz="3733" kern="0" dirty="0">
                <a:solidFill>
                  <a:srgbClr val="CFD8DC"/>
                </a:solidFill>
              </a:rPr>
              <a:t>3.</a:t>
            </a:r>
            <a:r>
              <a:rPr lang="de-DE" sz="3733" kern="0" dirty="0">
                <a:solidFill>
                  <a:srgbClr val="0091EA"/>
                </a:solidFill>
              </a:rPr>
              <a:t> </a:t>
            </a:r>
            <a:r>
              <a:rPr lang="en-AU" sz="3733" kern="0" dirty="0">
                <a:solidFill>
                  <a:srgbClr val="0091EA"/>
                </a:solidFill>
              </a:rPr>
              <a:t>Approach</a:t>
            </a:r>
          </a:p>
        </p:txBody>
      </p:sp>
      <p:sp>
        <p:nvSpPr>
          <p:cNvPr id="7" name="Google Shape;97;p15">
            <a:extLst>
              <a:ext uri="{FF2B5EF4-FFF2-40B4-BE49-F238E27FC236}">
                <a16:creationId xmlns:a16="http://schemas.microsoft.com/office/drawing/2014/main" id="{15CFF715-4BC6-4E25-369B-4CF634C57B07}"/>
              </a:ext>
            </a:extLst>
          </p:cNvPr>
          <p:cNvSpPr txBox="1">
            <a:spLocks/>
          </p:cNvSpPr>
          <p:nvPr/>
        </p:nvSpPr>
        <p:spPr>
          <a:xfrm>
            <a:off x="6239481" y="4102916"/>
            <a:ext cx="7776800" cy="15464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defTabSz="1219170">
              <a:buClr>
                <a:srgbClr val="0091EA"/>
              </a:buClr>
            </a:pPr>
            <a:r>
              <a:rPr lang="en-AU" sz="3733" kern="0" dirty="0">
                <a:solidFill>
                  <a:srgbClr val="CFD8DC"/>
                </a:solidFill>
              </a:rPr>
              <a:t>4. </a:t>
            </a:r>
            <a:r>
              <a:rPr lang="en-AU" sz="3733" kern="0" dirty="0"/>
              <a:t>Selected 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AE730A41-6368-423D-BAB7-8AA3C75A4640}"/>
              </a:ext>
            </a:extLst>
          </p:cNvPr>
          <p:cNvSpPr>
            <a:spLocks noGrp="1"/>
          </p:cNvSpPr>
          <p:nvPr>
            <p:ph type="body" idx="1"/>
          </p:nvPr>
        </p:nvSpPr>
        <p:spPr>
          <a:xfrm>
            <a:off x="1048200" y="1482399"/>
            <a:ext cx="10095600" cy="4764800"/>
          </a:xfrm>
        </p:spPr>
        <p:txBody>
          <a:bodyPr/>
          <a:lstStyle/>
          <a:p>
            <a:r>
              <a:rPr lang="en-GB" sz="2400" b="1" dirty="0"/>
              <a:t>Motivation:</a:t>
            </a:r>
            <a:r>
              <a:rPr lang="en-GB" sz="2400" dirty="0"/>
              <a:t> Action recognition crucial for autonomous driving, healthcare, security</a:t>
            </a:r>
          </a:p>
          <a:p>
            <a:r>
              <a:rPr lang="en-GB" sz="2400" b="1" dirty="0"/>
              <a:t>Challenges:</a:t>
            </a:r>
            <a:r>
              <a:rPr lang="en-GB" sz="2400" dirty="0"/>
              <a:t> Heavy reliance on labels, poor cross-dataset generalization</a:t>
            </a:r>
          </a:p>
          <a:p>
            <a:r>
              <a:rPr lang="en-GB" sz="2400" b="1" dirty="0"/>
              <a:t>Our Approach: </a:t>
            </a:r>
            <a:r>
              <a:rPr lang="en-GB" sz="2400" dirty="0"/>
              <a:t>Cross-Modal Video Representation Alignment (CMVRA)</a:t>
            </a:r>
          </a:p>
          <a:p>
            <a:pPr lvl="1"/>
            <a:r>
              <a:rPr lang="en-GB" dirty="0"/>
              <a:t>Use CLIP-</a:t>
            </a:r>
            <a:r>
              <a:rPr lang="en-GB" dirty="0" err="1"/>
              <a:t>ViP</a:t>
            </a:r>
            <a:r>
              <a:rPr lang="en-GB" dirty="0"/>
              <a:t> (a video extension of CLIP) as core of our framework</a:t>
            </a:r>
          </a:p>
          <a:p>
            <a:pPr lvl="1"/>
            <a:r>
              <a:rPr lang="en-GB" dirty="0"/>
              <a:t>Align multiple modalities (RGB, depth, infrared, skeleton) into unified embedding</a:t>
            </a:r>
          </a:p>
          <a:p>
            <a:r>
              <a:rPr lang="en-US" sz="2400" b="1" dirty="0"/>
              <a:t>Key Explorations</a:t>
            </a:r>
            <a:r>
              <a:rPr lang="en-US" sz="2400" dirty="0"/>
              <a:t>:</a:t>
            </a:r>
          </a:p>
          <a:p>
            <a:pPr lvl="1"/>
            <a:r>
              <a:rPr lang="en-US" dirty="0"/>
              <a:t>Alignment setups</a:t>
            </a:r>
          </a:p>
          <a:p>
            <a:pPr lvl="1"/>
            <a:r>
              <a:rPr lang="en-US" dirty="0"/>
              <a:t>CLIP-</a:t>
            </a:r>
            <a:r>
              <a:rPr lang="en-US" dirty="0" err="1"/>
              <a:t>ViP</a:t>
            </a:r>
            <a:r>
              <a:rPr lang="en-US" dirty="0"/>
              <a:t> fine-tuning with artificial annotations</a:t>
            </a:r>
          </a:p>
          <a:p>
            <a:pPr lvl="1"/>
            <a:r>
              <a:rPr lang="en-US" dirty="0"/>
              <a:t>Robustness across datasets, views and missing modalities</a:t>
            </a:r>
          </a:p>
          <a:p>
            <a:endParaRPr lang="en-GB"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3</a:t>
            </a:fld>
            <a:endParaRPr lang="en" kern="0">
              <a:solidFill>
                <a:srgbClr val="0091EA"/>
              </a:solidFill>
            </a:endParaRPr>
          </a:p>
        </p:txBody>
      </p:sp>
    </p:spTree>
    <p:extLst>
      <p:ext uri="{BB962C8B-B14F-4D97-AF65-F5344CB8AC3E}">
        <p14:creationId xmlns:p14="http://schemas.microsoft.com/office/powerpoint/2010/main" val="1669069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Representation Learning</a:t>
            </a:r>
          </a:p>
        </p:txBody>
      </p:sp>
      <p:sp>
        <p:nvSpPr>
          <p:cNvPr id="3" name="Text Placeholder 2">
            <a:extLst>
              <a:ext uri="{FF2B5EF4-FFF2-40B4-BE49-F238E27FC236}">
                <a16:creationId xmlns:a16="http://schemas.microsoft.com/office/drawing/2014/main" id="{AE730A41-6368-423D-BAB7-8AA3C75A4640}"/>
              </a:ext>
            </a:extLst>
          </p:cNvPr>
          <p:cNvSpPr>
            <a:spLocks noGrp="1"/>
          </p:cNvSpPr>
          <p:nvPr>
            <p:ph type="body" idx="1"/>
          </p:nvPr>
        </p:nvSpPr>
        <p:spPr>
          <a:xfrm>
            <a:off x="8078875" y="1482399"/>
            <a:ext cx="3637504" cy="4660493"/>
          </a:xfrm>
        </p:spPr>
        <p:txBody>
          <a:bodyPr/>
          <a:lstStyle/>
          <a:p>
            <a:r>
              <a:rPr lang="en-GB" sz="2400" dirty="0"/>
              <a:t>Generalizability</a:t>
            </a:r>
          </a:p>
          <a:p>
            <a:r>
              <a:rPr lang="en-GB" sz="2400" dirty="0"/>
              <a:t>Extendable to video</a:t>
            </a:r>
          </a:p>
          <a:p>
            <a:r>
              <a:rPr lang="en-GB" sz="2400" dirty="0"/>
              <a:t>Extendable to other modalities</a:t>
            </a:r>
          </a:p>
          <a:p>
            <a:r>
              <a:rPr lang="en-GB" sz="2400" dirty="0"/>
              <a:t>Depends on large scale datasets and large batch sizes when trained from scratch (400 million pairs)</a:t>
            </a:r>
          </a:p>
          <a:p>
            <a:pPr marL="101597" indent="0">
              <a:buNone/>
            </a:pPr>
            <a:endParaRPr lang="en-GB" sz="2400" dirty="0"/>
          </a:p>
          <a:p>
            <a:endParaRPr lang="en-GB" sz="2400" dirty="0"/>
          </a:p>
          <a:p>
            <a:pPr lvl="1"/>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4</a:t>
            </a:fld>
            <a:endParaRPr lang="en" kern="0">
              <a:solidFill>
                <a:srgbClr val="0091EA"/>
              </a:solidFill>
            </a:endParaRPr>
          </a:p>
        </p:txBody>
      </p:sp>
      <p:pic>
        <p:nvPicPr>
          <p:cNvPr id="5" name="Grafik 4">
            <a:extLst>
              <a:ext uri="{FF2B5EF4-FFF2-40B4-BE49-F238E27FC236}">
                <a16:creationId xmlns:a16="http://schemas.microsoft.com/office/drawing/2014/main" id="{C90298BE-B713-44E5-A379-AB49DEAEED92}"/>
              </a:ext>
            </a:extLst>
          </p:cNvPr>
          <p:cNvPicPr>
            <a:picLocks noChangeAspect="1"/>
          </p:cNvPicPr>
          <p:nvPr/>
        </p:nvPicPr>
        <p:blipFill>
          <a:blip r:embed="rId2"/>
          <a:stretch>
            <a:fillRect/>
          </a:stretch>
        </p:blipFill>
        <p:spPr>
          <a:xfrm>
            <a:off x="1048200" y="1567546"/>
            <a:ext cx="6814469" cy="4287295"/>
          </a:xfrm>
          <a:prstGeom prst="rect">
            <a:avLst/>
          </a:prstGeom>
        </p:spPr>
      </p:pic>
      <p:sp>
        <p:nvSpPr>
          <p:cNvPr id="6" name="Textfeld 5">
            <a:extLst>
              <a:ext uri="{FF2B5EF4-FFF2-40B4-BE49-F238E27FC236}">
                <a16:creationId xmlns:a16="http://schemas.microsoft.com/office/drawing/2014/main" id="{C412A57F-FB1C-4C09-BFDE-6E303D5EB890}"/>
              </a:ext>
            </a:extLst>
          </p:cNvPr>
          <p:cNvSpPr txBox="1"/>
          <p:nvPr/>
        </p:nvSpPr>
        <p:spPr>
          <a:xfrm>
            <a:off x="5265337" y="6447174"/>
            <a:ext cx="1726755" cy="297646"/>
          </a:xfrm>
          <a:prstGeom prst="rect">
            <a:avLst/>
          </a:prstGeom>
          <a:noFill/>
        </p:spPr>
        <p:txBody>
          <a:bodyPr wrap="none" rtlCol="0">
            <a:spAutoFit/>
          </a:bodyPr>
          <a:lstStyle/>
          <a:p>
            <a:pPr defTabSz="1219170">
              <a:buClr>
                <a:srgbClr val="000000"/>
              </a:buClr>
            </a:pPr>
            <a:r>
              <a:rPr lang="de-DE" sz="667" kern="0" dirty="0">
                <a:solidFill>
                  <a:srgbClr val="000000"/>
                </a:solidFill>
                <a:latin typeface="Arial"/>
                <a:cs typeface="Arial"/>
                <a:sym typeface="Arial"/>
              </a:rPr>
              <a:t>Source: </a:t>
            </a:r>
            <a:r>
              <a:rPr lang="de-DE" sz="667" kern="0" dirty="0">
                <a:solidFill>
                  <a:srgbClr val="000000"/>
                </a:solidFill>
                <a:latin typeface="Arial"/>
                <a:cs typeface="Arial"/>
                <a:sym typeface="Arial"/>
                <a:hlinkClick r:id="rId3"/>
              </a:rPr>
              <a:t>https://openai.com/research/clip</a:t>
            </a:r>
            <a:endParaRPr lang="de-DE" sz="667" kern="0" dirty="0">
              <a:solidFill>
                <a:srgbClr val="000000"/>
              </a:solidFill>
              <a:latin typeface="Arial"/>
              <a:cs typeface="Arial"/>
              <a:sym typeface="Arial"/>
            </a:endParaRPr>
          </a:p>
          <a:p>
            <a:pPr defTabSz="1219170">
              <a:buClr>
                <a:srgbClr val="000000"/>
              </a:buClr>
            </a:pPr>
            <a:r>
              <a:rPr lang="de-DE" sz="667" kern="0" dirty="0">
                <a:solidFill>
                  <a:srgbClr val="000000"/>
                </a:solidFill>
                <a:latin typeface="Arial"/>
                <a:cs typeface="Arial"/>
                <a:sym typeface="Arial"/>
              </a:rPr>
              <a:t> </a:t>
            </a:r>
          </a:p>
        </p:txBody>
      </p:sp>
    </p:spTree>
    <p:extLst>
      <p:ext uri="{BB962C8B-B14F-4D97-AF65-F5344CB8AC3E}">
        <p14:creationId xmlns:p14="http://schemas.microsoft.com/office/powerpoint/2010/main" val="3566178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Representation Learning- Choosing a Suitable Model</a:t>
            </a:r>
          </a:p>
        </p:txBody>
      </p:sp>
      <p:sp>
        <p:nvSpPr>
          <p:cNvPr id="3" name="Text Placeholder 2">
            <a:extLst>
              <a:ext uri="{FF2B5EF4-FFF2-40B4-BE49-F238E27FC236}">
                <a16:creationId xmlns:a16="http://schemas.microsoft.com/office/drawing/2014/main" id="{AE730A41-6368-423D-BAB7-8AA3C75A4640}"/>
              </a:ext>
            </a:extLst>
          </p:cNvPr>
          <p:cNvSpPr>
            <a:spLocks noGrp="1"/>
          </p:cNvSpPr>
          <p:nvPr>
            <p:ph type="body" idx="1"/>
          </p:nvPr>
        </p:nvSpPr>
        <p:spPr>
          <a:xfrm>
            <a:off x="8078875" y="1482399"/>
            <a:ext cx="3637504" cy="4660493"/>
          </a:xfrm>
        </p:spPr>
        <p:txBody>
          <a:bodyPr/>
          <a:lstStyle/>
          <a:p>
            <a:r>
              <a:rPr lang="en-US" sz="2400" dirty="0"/>
              <a:t>Add temporal modeling</a:t>
            </a:r>
          </a:p>
          <a:p>
            <a:r>
              <a:rPr lang="en-US" sz="2400" dirty="0"/>
              <a:t>CLIP Video Extensions learning can retain or omit the binding text</a:t>
            </a:r>
          </a:p>
          <a:p>
            <a:r>
              <a:rPr lang="en-US" sz="2400" dirty="0"/>
              <a:t>Base model choice CLIP-VIP</a:t>
            </a:r>
            <a:endParaRPr lang="en-GB" sz="2400" dirty="0"/>
          </a:p>
          <a:p>
            <a:endParaRPr lang="en-GB" sz="2400" dirty="0"/>
          </a:p>
          <a:p>
            <a:pPr lvl="1"/>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5</a:t>
            </a:fld>
            <a:endParaRPr lang="en" kern="0">
              <a:solidFill>
                <a:srgbClr val="0091EA"/>
              </a:solidFill>
            </a:endParaRPr>
          </a:p>
        </p:txBody>
      </p:sp>
      <p:pic>
        <p:nvPicPr>
          <p:cNvPr id="6" name="Grafik 5">
            <a:extLst>
              <a:ext uri="{FF2B5EF4-FFF2-40B4-BE49-F238E27FC236}">
                <a16:creationId xmlns:a16="http://schemas.microsoft.com/office/drawing/2014/main" id="{87734D8C-D606-487D-8C2E-C78FB58193D9}"/>
              </a:ext>
            </a:extLst>
          </p:cNvPr>
          <p:cNvPicPr>
            <a:picLocks noChangeAspect="1"/>
          </p:cNvPicPr>
          <p:nvPr/>
        </p:nvPicPr>
        <p:blipFill>
          <a:blip r:embed="rId2"/>
          <a:stretch>
            <a:fillRect/>
          </a:stretch>
        </p:blipFill>
        <p:spPr>
          <a:xfrm>
            <a:off x="1118647" y="1623078"/>
            <a:ext cx="7027479" cy="4037495"/>
          </a:xfrm>
          <a:prstGeom prst="rect">
            <a:avLst/>
          </a:prstGeom>
        </p:spPr>
      </p:pic>
      <p:sp>
        <p:nvSpPr>
          <p:cNvPr id="7" name="Textfeld 6">
            <a:extLst>
              <a:ext uri="{FF2B5EF4-FFF2-40B4-BE49-F238E27FC236}">
                <a16:creationId xmlns:a16="http://schemas.microsoft.com/office/drawing/2014/main" id="{A373B02F-6446-4438-A88E-EF55665F1A0F}"/>
              </a:ext>
            </a:extLst>
          </p:cNvPr>
          <p:cNvSpPr txBox="1"/>
          <p:nvPr/>
        </p:nvSpPr>
        <p:spPr>
          <a:xfrm>
            <a:off x="5566788" y="6447173"/>
            <a:ext cx="1867819" cy="400302"/>
          </a:xfrm>
          <a:prstGeom prst="rect">
            <a:avLst/>
          </a:prstGeom>
          <a:noFill/>
        </p:spPr>
        <p:txBody>
          <a:bodyPr wrap="none" rtlCol="0">
            <a:spAutoFit/>
          </a:bodyPr>
          <a:lstStyle/>
          <a:p>
            <a:pPr defTabSz="1219170">
              <a:buClr>
                <a:srgbClr val="000000"/>
              </a:buClr>
            </a:pPr>
            <a:r>
              <a:rPr lang="de-DE" sz="667" kern="0" dirty="0">
                <a:solidFill>
                  <a:srgbClr val="000000"/>
                </a:solidFill>
                <a:latin typeface="Arial"/>
                <a:cs typeface="Arial"/>
                <a:sym typeface="Arial"/>
              </a:rPr>
              <a:t>Source: </a:t>
            </a:r>
            <a:r>
              <a:rPr lang="de-DE" sz="667" kern="0" dirty="0">
                <a:solidFill>
                  <a:srgbClr val="000000"/>
                </a:solidFill>
                <a:latin typeface="Arial"/>
                <a:cs typeface="Arial"/>
                <a:sym typeface="Arial"/>
                <a:hlinkClick r:id="rId3"/>
              </a:rPr>
              <a:t>https://arxiv.org/pdf/2209.06430.pdf</a:t>
            </a:r>
            <a:endParaRPr lang="de-DE" sz="667" kern="0" dirty="0">
              <a:solidFill>
                <a:srgbClr val="000000"/>
              </a:solidFill>
              <a:latin typeface="Arial"/>
              <a:cs typeface="Arial"/>
              <a:sym typeface="Arial"/>
            </a:endParaRPr>
          </a:p>
          <a:p>
            <a:pPr defTabSz="1219170">
              <a:buClr>
                <a:srgbClr val="000000"/>
              </a:buClr>
            </a:pPr>
            <a:endParaRPr lang="de-DE" sz="667" kern="0" dirty="0">
              <a:solidFill>
                <a:srgbClr val="000000"/>
              </a:solidFill>
              <a:latin typeface="Arial"/>
              <a:cs typeface="Arial"/>
              <a:sym typeface="Arial"/>
            </a:endParaRPr>
          </a:p>
          <a:p>
            <a:pPr defTabSz="1219170">
              <a:buClr>
                <a:srgbClr val="000000"/>
              </a:buClr>
            </a:pPr>
            <a:r>
              <a:rPr lang="de-DE" sz="667" kern="0" dirty="0">
                <a:solidFill>
                  <a:srgbClr val="000000"/>
                </a:solidFill>
                <a:latin typeface="Arial"/>
                <a:cs typeface="Arial"/>
                <a:sym typeface="Arial"/>
              </a:rPr>
              <a:t> </a:t>
            </a:r>
          </a:p>
        </p:txBody>
      </p:sp>
    </p:spTree>
    <p:extLst>
      <p:ext uri="{BB962C8B-B14F-4D97-AF65-F5344CB8AC3E}">
        <p14:creationId xmlns:p14="http://schemas.microsoft.com/office/powerpoint/2010/main" val="272536022"/>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70E07D-1A66-426B-8315-9A20D7C0CBE7}"/>
              </a:ext>
            </a:extLst>
          </p:cNvPr>
          <p:cNvSpPr>
            <a:spLocks noGrp="1"/>
          </p:cNvSpPr>
          <p:nvPr>
            <p:ph type="title"/>
          </p:nvPr>
        </p:nvSpPr>
        <p:spPr/>
        <p:txBody>
          <a:bodyPr/>
          <a:lstStyle/>
          <a:p>
            <a:r>
              <a:rPr lang="de-DE" sz="3200" dirty="0"/>
              <a:t>Datasets</a:t>
            </a:r>
          </a:p>
        </p:txBody>
      </p:sp>
      <p:sp>
        <p:nvSpPr>
          <p:cNvPr id="3" name="Textplatzhalter 2">
            <a:extLst>
              <a:ext uri="{FF2B5EF4-FFF2-40B4-BE49-F238E27FC236}">
                <a16:creationId xmlns:a16="http://schemas.microsoft.com/office/drawing/2014/main" id="{78366D7B-5EB8-4FFF-AD96-8586FF67C373}"/>
              </a:ext>
            </a:extLst>
          </p:cNvPr>
          <p:cNvSpPr>
            <a:spLocks noGrp="1"/>
          </p:cNvSpPr>
          <p:nvPr>
            <p:ph type="body" idx="1"/>
          </p:nvPr>
        </p:nvSpPr>
        <p:spPr>
          <a:xfrm>
            <a:off x="398407" y="1467903"/>
            <a:ext cx="10095600" cy="4764800"/>
          </a:xfrm>
        </p:spPr>
        <p:txBody>
          <a:bodyPr/>
          <a:lstStyle/>
          <a:p>
            <a:r>
              <a:rPr lang="en-AU" sz="2400" b="1" dirty="0"/>
              <a:t>NTU</a:t>
            </a:r>
          </a:p>
          <a:p>
            <a:pPr lvl="1"/>
            <a:r>
              <a:rPr lang="en-AU" dirty="0"/>
              <a:t>Short human action clips from indoor settings</a:t>
            </a:r>
          </a:p>
          <a:p>
            <a:pPr lvl="1"/>
            <a:r>
              <a:rPr lang="en-AU" dirty="0"/>
              <a:t>60 and 120 class versions (roughly 60k and 120k samples)</a:t>
            </a:r>
          </a:p>
          <a:p>
            <a:pPr lvl="1"/>
            <a:r>
              <a:rPr lang="en-AU" dirty="0"/>
              <a:t>RGB, IR, DEPTH and Skeleton from different views</a:t>
            </a:r>
          </a:p>
          <a:p>
            <a:pPr lvl="1"/>
            <a:r>
              <a:rPr lang="en-AU" dirty="0"/>
              <a:t>2 Splits Cross-View and Cross-Subject</a:t>
            </a:r>
          </a:p>
          <a:p>
            <a:r>
              <a:rPr lang="en-AU" sz="2400" b="1" dirty="0"/>
              <a:t>Drive and Act</a:t>
            </a:r>
          </a:p>
          <a:p>
            <a:pPr lvl="1"/>
            <a:r>
              <a:rPr lang="en-AU" dirty="0"/>
              <a:t>Short human action clips from                                                                    inside the car (lab situation)</a:t>
            </a:r>
          </a:p>
          <a:p>
            <a:pPr lvl="1"/>
            <a:r>
              <a:rPr lang="en-AU" dirty="0"/>
              <a:t>34 classes, unbalanced (roughly 10k samples)</a:t>
            </a:r>
          </a:p>
          <a:p>
            <a:pPr lvl="1"/>
            <a:r>
              <a:rPr lang="en-AU" dirty="0"/>
              <a:t>RGB, IR, DEPTH and Skeleton one view +                                                         5 additional IR views</a:t>
            </a:r>
          </a:p>
          <a:p>
            <a:pPr lvl="1"/>
            <a:r>
              <a:rPr lang="en-AU" dirty="0"/>
              <a:t>3 Splits (no theme) all are Cross-Subject</a:t>
            </a:r>
          </a:p>
        </p:txBody>
      </p:sp>
      <p:pic>
        <p:nvPicPr>
          <p:cNvPr id="5" name="Grafik 4">
            <a:extLst>
              <a:ext uri="{FF2B5EF4-FFF2-40B4-BE49-F238E27FC236}">
                <a16:creationId xmlns:a16="http://schemas.microsoft.com/office/drawing/2014/main" id="{19BCBC2A-C285-4D0B-B381-4D2852FC970F}"/>
              </a:ext>
            </a:extLst>
          </p:cNvPr>
          <p:cNvPicPr>
            <a:picLocks noChangeAspect="1"/>
          </p:cNvPicPr>
          <p:nvPr/>
        </p:nvPicPr>
        <p:blipFill>
          <a:blip r:embed="rId2"/>
          <a:stretch>
            <a:fillRect/>
          </a:stretch>
        </p:blipFill>
        <p:spPr>
          <a:xfrm>
            <a:off x="8965036" y="297501"/>
            <a:ext cx="3057941" cy="3208073"/>
          </a:xfrm>
          <a:prstGeom prst="rect">
            <a:avLst/>
          </a:prstGeom>
        </p:spPr>
      </p:pic>
      <p:pic>
        <p:nvPicPr>
          <p:cNvPr id="6" name="Grafik 5">
            <a:extLst>
              <a:ext uri="{FF2B5EF4-FFF2-40B4-BE49-F238E27FC236}">
                <a16:creationId xmlns:a16="http://schemas.microsoft.com/office/drawing/2014/main" id="{82B47C0F-1B5D-4B28-9F23-B833420FC1A2}"/>
              </a:ext>
            </a:extLst>
          </p:cNvPr>
          <p:cNvPicPr>
            <a:picLocks noChangeAspect="1"/>
          </p:cNvPicPr>
          <p:nvPr/>
        </p:nvPicPr>
        <p:blipFill>
          <a:blip r:embed="rId3"/>
          <a:stretch>
            <a:fillRect/>
          </a:stretch>
        </p:blipFill>
        <p:spPr>
          <a:xfrm>
            <a:off x="9011914" y="3549276"/>
            <a:ext cx="3057943" cy="3011225"/>
          </a:xfrm>
          <a:prstGeom prst="rect">
            <a:avLst/>
          </a:prstGeom>
        </p:spPr>
      </p:pic>
    </p:spTree>
    <p:extLst>
      <p:ext uri="{BB962C8B-B14F-4D97-AF65-F5344CB8AC3E}">
        <p14:creationId xmlns:p14="http://schemas.microsoft.com/office/powerpoint/2010/main" val="3626042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Approach </a:t>
            </a:r>
            <a:br>
              <a:rPr lang="en-US" dirty="0"/>
            </a:br>
            <a:r>
              <a:rPr lang="en-US" b="1" dirty="0"/>
              <a:t>CMVRA</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7</a:t>
            </a:fld>
            <a:endParaRPr lang="en" kern="0">
              <a:solidFill>
                <a:srgbClr val="0091EA"/>
              </a:solidFill>
            </a:endParaRPr>
          </a:p>
        </p:txBody>
      </p:sp>
      <p:graphicFrame>
        <p:nvGraphicFramePr>
          <p:cNvPr id="7" name="Diagramm 6">
            <a:extLst>
              <a:ext uri="{FF2B5EF4-FFF2-40B4-BE49-F238E27FC236}">
                <a16:creationId xmlns:a16="http://schemas.microsoft.com/office/drawing/2014/main" id="{2A6BD51E-EEE1-474B-A97E-F2112BD95750}"/>
              </a:ext>
            </a:extLst>
          </p:cNvPr>
          <p:cNvGraphicFramePr/>
          <p:nvPr>
            <p:extLst>
              <p:ext uri="{D42A27DB-BD31-4B8C-83A1-F6EECF244321}">
                <p14:modId xmlns:p14="http://schemas.microsoft.com/office/powerpoint/2010/main" val="2643014155"/>
              </p:ext>
            </p:extLst>
          </p:nvPr>
        </p:nvGraphicFramePr>
        <p:xfrm>
          <a:off x="2032000" y="719667"/>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252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Approach </a:t>
            </a:r>
            <a:br>
              <a:rPr lang="en-US" dirty="0"/>
            </a:br>
            <a:r>
              <a:rPr lang="en-US" b="1" dirty="0"/>
              <a:t>CMVRA</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8</a:t>
            </a:fld>
            <a:endParaRPr lang="en" kern="0">
              <a:solidFill>
                <a:srgbClr val="0091EA"/>
              </a:solidFill>
            </a:endParaRPr>
          </a:p>
        </p:txBody>
      </p:sp>
      <p:graphicFrame>
        <p:nvGraphicFramePr>
          <p:cNvPr id="7" name="Diagramm 6">
            <a:extLst>
              <a:ext uri="{FF2B5EF4-FFF2-40B4-BE49-F238E27FC236}">
                <a16:creationId xmlns:a16="http://schemas.microsoft.com/office/drawing/2014/main" id="{2A6BD51E-EEE1-474B-A97E-F2112BD95750}"/>
              </a:ext>
            </a:extLst>
          </p:cNvPr>
          <p:cNvGraphicFramePr/>
          <p:nvPr>
            <p:extLst/>
          </p:nvPr>
        </p:nvGraphicFramePr>
        <p:xfrm>
          <a:off x="7455878" y="280594"/>
          <a:ext cx="3521389" cy="21340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Bildplatzhalter 8">
            <a:extLst>
              <a:ext uri="{FF2B5EF4-FFF2-40B4-BE49-F238E27FC236}">
                <a16:creationId xmlns:a16="http://schemas.microsoft.com/office/drawing/2014/main" id="{9363015A-DBDA-486B-8C9D-83CDB5AA18C9}"/>
              </a:ext>
            </a:extLst>
          </p:cNvPr>
          <p:cNvPicPr>
            <a:picLocks noChangeAspect="1"/>
          </p:cNvPicPr>
          <p:nvPr/>
        </p:nvPicPr>
        <p:blipFill>
          <a:blip r:embed="rId7"/>
          <a:srcRect l="3630" r="3630"/>
          <a:stretch>
            <a:fillRect/>
          </a:stretch>
        </p:blipFill>
        <p:spPr>
          <a:xfrm>
            <a:off x="556493" y="1770274"/>
            <a:ext cx="1442392" cy="1501268"/>
          </a:xfrm>
          <a:prstGeom prst="rect">
            <a:avLst/>
          </a:prstGeom>
        </p:spPr>
      </p:pic>
      <p:pic>
        <p:nvPicPr>
          <p:cNvPr id="6" name="Grafik 5">
            <a:extLst>
              <a:ext uri="{FF2B5EF4-FFF2-40B4-BE49-F238E27FC236}">
                <a16:creationId xmlns:a16="http://schemas.microsoft.com/office/drawing/2014/main" id="{484EFCC7-B9B7-4E0D-A3B0-1E44CD324E03}"/>
              </a:ext>
            </a:extLst>
          </p:cNvPr>
          <p:cNvPicPr>
            <a:picLocks noChangeAspect="1"/>
          </p:cNvPicPr>
          <p:nvPr/>
        </p:nvPicPr>
        <p:blipFill>
          <a:blip r:embed="rId8"/>
          <a:stretch>
            <a:fillRect/>
          </a:stretch>
        </p:blipFill>
        <p:spPr>
          <a:xfrm>
            <a:off x="9179417" y="3423493"/>
            <a:ext cx="1445587" cy="1408039"/>
          </a:xfrm>
          <a:prstGeom prst="rect">
            <a:avLst/>
          </a:prstGeom>
        </p:spPr>
      </p:pic>
      <p:pic>
        <p:nvPicPr>
          <p:cNvPr id="8" name="Grafik 7">
            <a:extLst>
              <a:ext uri="{FF2B5EF4-FFF2-40B4-BE49-F238E27FC236}">
                <a16:creationId xmlns:a16="http://schemas.microsoft.com/office/drawing/2014/main" id="{8E3E94EC-A259-4418-9B72-1E283A13FD60}"/>
              </a:ext>
            </a:extLst>
          </p:cNvPr>
          <p:cNvPicPr>
            <a:picLocks noChangeAspect="1"/>
          </p:cNvPicPr>
          <p:nvPr/>
        </p:nvPicPr>
        <p:blipFill>
          <a:blip r:embed="rId9"/>
          <a:stretch>
            <a:fillRect/>
          </a:stretch>
        </p:blipFill>
        <p:spPr>
          <a:xfrm>
            <a:off x="556493" y="3429000"/>
            <a:ext cx="1442392" cy="1417197"/>
          </a:xfrm>
          <a:prstGeom prst="rect">
            <a:avLst/>
          </a:prstGeom>
        </p:spPr>
      </p:pic>
      <p:pic>
        <p:nvPicPr>
          <p:cNvPr id="9" name="Grafik 8">
            <a:extLst>
              <a:ext uri="{FF2B5EF4-FFF2-40B4-BE49-F238E27FC236}">
                <a16:creationId xmlns:a16="http://schemas.microsoft.com/office/drawing/2014/main" id="{089AD04B-3341-404C-9FE4-F9BC47973FD3}"/>
              </a:ext>
            </a:extLst>
          </p:cNvPr>
          <p:cNvPicPr>
            <a:picLocks noChangeAspect="1"/>
          </p:cNvPicPr>
          <p:nvPr/>
        </p:nvPicPr>
        <p:blipFill>
          <a:blip r:embed="rId10"/>
          <a:stretch>
            <a:fillRect/>
          </a:stretch>
        </p:blipFill>
        <p:spPr>
          <a:xfrm>
            <a:off x="556493" y="4979253"/>
            <a:ext cx="1442392" cy="1467921"/>
          </a:xfrm>
          <a:prstGeom prst="rect">
            <a:avLst/>
          </a:prstGeom>
        </p:spPr>
      </p:pic>
      <p:sp>
        <p:nvSpPr>
          <p:cNvPr id="10" name="Rechteck 9">
            <a:extLst>
              <a:ext uri="{FF2B5EF4-FFF2-40B4-BE49-F238E27FC236}">
                <a16:creationId xmlns:a16="http://schemas.microsoft.com/office/drawing/2014/main" id="{5BE3BF78-E06F-4242-BFF7-25414561CCEA}"/>
              </a:ext>
            </a:extLst>
          </p:cNvPr>
          <p:cNvSpPr/>
          <p:nvPr/>
        </p:nvSpPr>
        <p:spPr>
          <a:xfrm>
            <a:off x="526431" y="4611763"/>
            <a:ext cx="1442392" cy="265043"/>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defTabSz="1219170">
              <a:lnSpc>
                <a:spcPts val="2613"/>
              </a:lnSpc>
              <a:buClr>
                <a:srgbClr val="0091EA"/>
              </a:buClr>
            </a:pPr>
            <a:r>
              <a:rPr lang="de-DE" sz="1600" kern="0" dirty="0">
                <a:solidFill>
                  <a:srgbClr val="263238"/>
                </a:solidFill>
                <a:latin typeface="Times New Roman" panose="02020603050405020304" pitchFamily="18" charset="0"/>
                <a:cs typeface="Times New Roman" panose="02020603050405020304" pitchFamily="18" charset="0"/>
                <a:sym typeface="Arial"/>
              </a:rPr>
              <a:t>Skeleton</a:t>
            </a:r>
          </a:p>
        </p:txBody>
      </p:sp>
      <p:sp>
        <p:nvSpPr>
          <p:cNvPr id="15" name="Pfeil: nach rechts 14">
            <a:extLst>
              <a:ext uri="{FF2B5EF4-FFF2-40B4-BE49-F238E27FC236}">
                <a16:creationId xmlns:a16="http://schemas.microsoft.com/office/drawing/2014/main" id="{C78B752B-2571-4917-850B-5F8A5AD07A83}"/>
              </a:ext>
            </a:extLst>
          </p:cNvPr>
          <p:cNvSpPr/>
          <p:nvPr/>
        </p:nvSpPr>
        <p:spPr>
          <a:xfrm rot="10800000">
            <a:off x="7548607" y="3717626"/>
            <a:ext cx="1445587" cy="574261"/>
          </a:xfrm>
          <a:prstGeom prst="rightArrow">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defTabSz="1219170">
              <a:lnSpc>
                <a:spcPts val="2613"/>
              </a:lnSpc>
              <a:buClr>
                <a:srgbClr val="0091EA"/>
              </a:buClr>
            </a:pPr>
            <a:endParaRPr lang="de-DE" sz="1867" kern="0" dirty="0">
              <a:solidFill>
                <a:srgbClr val="FFFFFF"/>
              </a:solidFill>
              <a:latin typeface="Arial"/>
              <a:sym typeface="Arial"/>
            </a:endParaRPr>
          </a:p>
        </p:txBody>
      </p:sp>
      <p:sp>
        <p:nvSpPr>
          <p:cNvPr id="16" name="Pfeil: nach rechts 15">
            <a:extLst>
              <a:ext uri="{FF2B5EF4-FFF2-40B4-BE49-F238E27FC236}">
                <a16:creationId xmlns:a16="http://schemas.microsoft.com/office/drawing/2014/main" id="{09A3E83F-1B1B-40B5-8703-596D29576AB4}"/>
              </a:ext>
            </a:extLst>
          </p:cNvPr>
          <p:cNvSpPr/>
          <p:nvPr/>
        </p:nvSpPr>
        <p:spPr>
          <a:xfrm>
            <a:off x="2199619" y="2132267"/>
            <a:ext cx="1445587" cy="574261"/>
          </a:xfrm>
          <a:prstGeom prst="right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defTabSz="1219170">
              <a:lnSpc>
                <a:spcPts val="2613"/>
              </a:lnSpc>
              <a:buClr>
                <a:srgbClr val="0091EA"/>
              </a:buClr>
            </a:pPr>
            <a:r>
              <a:rPr lang="de-DE" sz="1867" kern="0" dirty="0">
                <a:solidFill>
                  <a:srgbClr val="FFFFFF"/>
                </a:solidFill>
                <a:latin typeface="Arial"/>
                <a:sym typeface="Arial"/>
              </a:rPr>
              <a:t>Encoder</a:t>
            </a:r>
          </a:p>
        </p:txBody>
      </p:sp>
      <p:sp>
        <p:nvSpPr>
          <p:cNvPr id="17" name="Pfeil: nach rechts 16">
            <a:extLst>
              <a:ext uri="{FF2B5EF4-FFF2-40B4-BE49-F238E27FC236}">
                <a16:creationId xmlns:a16="http://schemas.microsoft.com/office/drawing/2014/main" id="{376703C9-7B61-4D34-B78F-52A366B909EB}"/>
              </a:ext>
            </a:extLst>
          </p:cNvPr>
          <p:cNvSpPr/>
          <p:nvPr/>
        </p:nvSpPr>
        <p:spPr>
          <a:xfrm>
            <a:off x="2199619" y="5270351"/>
            <a:ext cx="1445587" cy="574261"/>
          </a:xfrm>
          <a:prstGeom prst="rightArrow">
            <a:avLst/>
          </a:prstGeom>
          <a:solidFill>
            <a:schemeClr val="accent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defTabSz="1219170">
              <a:lnSpc>
                <a:spcPts val="2613"/>
              </a:lnSpc>
              <a:buClr>
                <a:srgbClr val="0091EA"/>
              </a:buClr>
            </a:pPr>
            <a:r>
              <a:rPr lang="de-DE" sz="1867" kern="0">
                <a:solidFill>
                  <a:srgbClr val="FFFFFF"/>
                </a:solidFill>
                <a:latin typeface="Arial"/>
                <a:sym typeface="Arial"/>
              </a:rPr>
              <a:t>Encoder</a:t>
            </a:r>
            <a:endParaRPr lang="de-DE" sz="1867" kern="0" dirty="0">
              <a:solidFill>
                <a:srgbClr val="FFFFFF"/>
              </a:solidFill>
              <a:latin typeface="Arial"/>
              <a:sym typeface="Arial"/>
            </a:endParaRPr>
          </a:p>
        </p:txBody>
      </p:sp>
      <p:sp>
        <p:nvSpPr>
          <p:cNvPr id="18" name="Pfeil: nach rechts 17">
            <a:extLst>
              <a:ext uri="{FF2B5EF4-FFF2-40B4-BE49-F238E27FC236}">
                <a16:creationId xmlns:a16="http://schemas.microsoft.com/office/drawing/2014/main" id="{0FD21726-246E-4C78-AC25-0D170ECCEAE9}"/>
              </a:ext>
            </a:extLst>
          </p:cNvPr>
          <p:cNvSpPr/>
          <p:nvPr/>
        </p:nvSpPr>
        <p:spPr>
          <a:xfrm>
            <a:off x="2184109" y="3717626"/>
            <a:ext cx="1445587" cy="574261"/>
          </a:xfrm>
          <a:prstGeom prst="rightArrow">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defTabSz="1219170">
              <a:lnSpc>
                <a:spcPts val="2613"/>
              </a:lnSpc>
              <a:buClr>
                <a:srgbClr val="0091EA"/>
              </a:buClr>
            </a:pPr>
            <a:r>
              <a:rPr lang="de-DE" sz="1867" kern="0">
                <a:solidFill>
                  <a:srgbClr val="FFFFFF"/>
                </a:solidFill>
                <a:latin typeface="Arial"/>
                <a:sym typeface="Arial"/>
              </a:rPr>
              <a:t>Encoder</a:t>
            </a:r>
            <a:endParaRPr lang="de-DE" sz="1867" kern="0" dirty="0">
              <a:solidFill>
                <a:srgbClr val="FFFFFF"/>
              </a:solidFill>
              <a:latin typeface="Arial"/>
              <a:sym typeface="Arial"/>
            </a:endParaRPr>
          </a:p>
        </p:txBody>
      </p:sp>
      <p:sp>
        <p:nvSpPr>
          <p:cNvPr id="19" name="Rechteck 18">
            <a:extLst>
              <a:ext uri="{FF2B5EF4-FFF2-40B4-BE49-F238E27FC236}">
                <a16:creationId xmlns:a16="http://schemas.microsoft.com/office/drawing/2014/main" id="{B50D700C-70E1-4E0F-B625-A1A946FF3E5C}"/>
              </a:ext>
            </a:extLst>
          </p:cNvPr>
          <p:cNvSpPr/>
          <p:nvPr/>
        </p:nvSpPr>
        <p:spPr>
          <a:xfrm>
            <a:off x="6348607" y="3862116"/>
            <a:ext cx="240000" cy="240000"/>
          </a:xfrm>
          <a:prstGeom prst="rect">
            <a:avLst/>
          </a:prstGeom>
          <a:solidFill>
            <a:schemeClr val="bg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20" name="Rechteck 19">
            <a:extLst>
              <a:ext uri="{FF2B5EF4-FFF2-40B4-BE49-F238E27FC236}">
                <a16:creationId xmlns:a16="http://schemas.microsoft.com/office/drawing/2014/main" id="{09B9A2D3-1CDA-470E-9BE5-A206BABDE193}"/>
              </a:ext>
            </a:extLst>
          </p:cNvPr>
          <p:cNvSpPr/>
          <p:nvPr/>
        </p:nvSpPr>
        <p:spPr>
          <a:xfrm>
            <a:off x="6588607" y="3862116"/>
            <a:ext cx="240000" cy="240000"/>
          </a:xfrm>
          <a:prstGeom prst="rect">
            <a:avLst/>
          </a:prstGeom>
          <a:solidFill>
            <a:schemeClr val="bg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21" name="Rechteck 20">
            <a:extLst>
              <a:ext uri="{FF2B5EF4-FFF2-40B4-BE49-F238E27FC236}">
                <a16:creationId xmlns:a16="http://schemas.microsoft.com/office/drawing/2014/main" id="{4C97913F-245F-4250-BD9F-59FC1DBCA39B}"/>
              </a:ext>
            </a:extLst>
          </p:cNvPr>
          <p:cNvSpPr/>
          <p:nvPr/>
        </p:nvSpPr>
        <p:spPr>
          <a:xfrm>
            <a:off x="6828607" y="3862808"/>
            <a:ext cx="240000" cy="238616"/>
          </a:xfrm>
          <a:prstGeom prst="rect">
            <a:avLst/>
          </a:prstGeom>
          <a:solidFill>
            <a:schemeClr val="bg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22" name="Rechteck 21">
            <a:extLst>
              <a:ext uri="{FF2B5EF4-FFF2-40B4-BE49-F238E27FC236}">
                <a16:creationId xmlns:a16="http://schemas.microsoft.com/office/drawing/2014/main" id="{DDD9693A-9D41-48A8-939E-AD66B0BA905A}"/>
              </a:ext>
            </a:extLst>
          </p:cNvPr>
          <p:cNvSpPr/>
          <p:nvPr/>
        </p:nvSpPr>
        <p:spPr>
          <a:xfrm>
            <a:off x="7068607" y="3862116"/>
            <a:ext cx="240000" cy="240000"/>
          </a:xfrm>
          <a:prstGeom prst="rect">
            <a:avLst/>
          </a:prstGeom>
          <a:solidFill>
            <a:schemeClr val="bg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23" name="Rechteck 22">
            <a:extLst>
              <a:ext uri="{FF2B5EF4-FFF2-40B4-BE49-F238E27FC236}">
                <a16:creationId xmlns:a16="http://schemas.microsoft.com/office/drawing/2014/main" id="{FF9B38BB-EBAE-46C0-86AB-85247E4C425E}"/>
              </a:ext>
            </a:extLst>
          </p:cNvPr>
          <p:cNvSpPr/>
          <p:nvPr/>
        </p:nvSpPr>
        <p:spPr>
          <a:xfrm>
            <a:off x="3801877" y="3862116"/>
            <a:ext cx="240000" cy="240000"/>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24" name="Rechteck 23">
            <a:extLst>
              <a:ext uri="{FF2B5EF4-FFF2-40B4-BE49-F238E27FC236}">
                <a16:creationId xmlns:a16="http://schemas.microsoft.com/office/drawing/2014/main" id="{5DC4868B-C04B-48E5-BF17-A9CD7D1D6ABF}"/>
              </a:ext>
            </a:extLst>
          </p:cNvPr>
          <p:cNvSpPr/>
          <p:nvPr/>
        </p:nvSpPr>
        <p:spPr>
          <a:xfrm>
            <a:off x="4041877" y="3862116"/>
            <a:ext cx="240000" cy="240000"/>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25" name="Rechteck 24">
            <a:extLst>
              <a:ext uri="{FF2B5EF4-FFF2-40B4-BE49-F238E27FC236}">
                <a16:creationId xmlns:a16="http://schemas.microsoft.com/office/drawing/2014/main" id="{DBA30870-DEFC-488B-9069-9E83DEEDD74E}"/>
              </a:ext>
            </a:extLst>
          </p:cNvPr>
          <p:cNvSpPr/>
          <p:nvPr/>
        </p:nvSpPr>
        <p:spPr>
          <a:xfrm>
            <a:off x="4281877" y="3862118"/>
            <a:ext cx="240000" cy="239999"/>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26" name="Rechteck 25">
            <a:extLst>
              <a:ext uri="{FF2B5EF4-FFF2-40B4-BE49-F238E27FC236}">
                <a16:creationId xmlns:a16="http://schemas.microsoft.com/office/drawing/2014/main" id="{35B45BEA-0C7C-4A94-82AD-4AA290B9AFF2}"/>
              </a:ext>
            </a:extLst>
          </p:cNvPr>
          <p:cNvSpPr/>
          <p:nvPr/>
        </p:nvSpPr>
        <p:spPr>
          <a:xfrm>
            <a:off x="4521877" y="3862116"/>
            <a:ext cx="240000" cy="240000"/>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27" name="Rechteck 26">
            <a:extLst>
              <a:ext uri="{FF2B5EF4-FFF2-40B4-BE49-F238E27FC236}">
                <a16:creationId xmlns:a16="http://schemas.microsoft.com/office/drawing/2014/main" id="{CBDBBFC9-B3FF-4B81-98A6-3661ED1CC55D}"/>
              </a:ext>
            </a:extLst>
          </p:cNvPr>
          <p:cNvSpPr/>
          <p:nvPr/>
        </p:nvSpPr>
        <p:spPr>
          <a:xfrm>
            <a:off x="3801877" y="2292625"/>
            <a:ext cx="240000" cy="240000"/>
          </a:xfrm>
          <a:prstGeom prst="rect">
            <a:avLst/>
          </a:prstGeom>
          <a:solidFill>
            <a:schemeClr val="accent1"/>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28" name="Rechteck 27">
            <a:extLst>
              <a:ext uri="{FF2B5EF4-FFF2-40B4-BE49-F238E27FC236}">
                <a16:creationId xmlns:a16="http://schemas.microsoft.com/office/drawing/2014/main" id="{6C322F64-6E12-4A75-A761-594D0F9B5BD5}"/>
              </a:ext>
            </a:extLst>
          </p:cNvPr>
          <p:cNvSpPr/>
          <p:nvPr/>
        </p:nvSpPr>
        <p:spPr>
          <a:xfrm>
            <a:off x="4041877" y="2292625"/>
            <a:ext cx="240000" cy="240000"/>
          </a:xfrm>
          <a:prstGeom prst="rect">
            <a:avLst/>
          </a:prstGeom>
          <a:solidFill>
            <a:schemeClr val="accent1"/>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29" name="Rechteck 28">
            <a:extLst>
              <a:ext uri="{FF2B5EF4-FFF2-40B4-BE49-F238E27FC236}">
                <a16:creationId xmlns:a16="http://schemas.microsoft.com/office/drawing/2014/main" id="{79AB68DD-245F-4D85-AFBB-90EC3EE00647}"/>
              </a:ext>
            </a:extLst>
          </p:cNvPr>
          <p:cNvSpPr/>
          <p:nvPr/>
        </p:nvSpPr>
        <p:spPr>
          <a:xfrm>
            <a:off x="4281877" y="2292625"/>
            <a:ext cx="240000" cy="240000"/>
          </a:xfrm>
          <a:prstGeom prst="rect">
            <a:avLst/>
          </a:prstGeom>
          <a:solidFill>
            <a:schemeClr val="accent1"/>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30" name="Rechteck 29">
            <a:extLst>
              <a:ext uri="{FF2B5EF4-FFF2-40B4-BE49-F238E27FC236}">
                <a16:creationId xmlns:a16="http://schemas.microsoft.com/office/drawing/2014/main" id="{2C478DA1-F13B-4027-BE00-0020F0DA1420}"/>
              </a:ext>
            </a:extLst>
          </p:cNvPr>
          <p:cNvSpPr/>
          <p:nvPr/>
        </p:nvSpPr>
        <p:spPr>
          <a:xfrm>
            <a:off x="4521877" y="2292625"/>
            <a:ext cx="240000" cy="240000"/>
          </a:xfrm>
          <a:prstGeom prst="rect">
            <a:avLst/>
          </a:prstGeom>
          <a:solidFill>
            <a:schemeClr val="accent1"/>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31" name="Rechteck 30">
            <a:extLst>
              <a:ext uri="{FF2B5EF4-FFF2-40B4-BE49-F238E27FC236}">
                <a16:creationId xmlns:a16="http://schemas.microsoft.com/office/drawing/2014/main" id="{1B00184F-CEC8-4FC2-BFE0-60B61B22E3DA}"/>
              </a:ext>
            </a:extLst>
          </p:cNvPr>
          <p:cNvSpPr/>
          <p:nvPr/>
        </p:nvSpPr>
        <p:spPr>
          <a:xfrm>
            <a:off x="3801877" y="5412795"/>
            <a:ext cx="240000" cy="240000"/>
          </a:xfrm>
          <a:prstGeom prst="rect">
            <a:avLst/>
          </a:prstGeom>
          <a:solidFill>
            <a:schemeClr val="accent6"/>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32" name="Rechteck 31">
            <a:extLst>
              <a:ext uri="{FF2B5EF4-FFF2-40B4-BE49-F238E27FC236}">
                <a16:creationId xmlns:a16="http://schemas.microsoft.com/office/drawing/2014/main" id="{48ACBC2E-D639-46F8-95B8-32EF5CD00A7D}"/>
              </a:ext>
            </a:extLst>
          </p:cNvPr>
          <p:cNvSpPr/>
          <p:nvPr/>
        </p:nvSpPr>
        <p:spPr>
          <a:xfrm>
            <a:off x="4041877" y="5412795"/>
            <a:ext cx="240000" cy="240000"/>
          </a:xfrm>
          <a:prstGeom prst="rect">
            <a:avLst/>
          </a:prstGeom>
          <a:solidFill>
            <a:schemeClr val="accent6"/>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33" name="Rechteck 32">
            <a:extLst>
              <a:ext uri="{FF2B5EF4-FFF2-40B4-BE49-F238E27FC236}">
                <a16:creationId xmlns:a16="http://schemas.microsoft.com/office/drawing/2014/main" id="{BEDE44BC-7BEA-4A19-BBD2-96B846A0DE57}"/>
              </a:ext>
            </a:extLst>
          </p:cNvPr>
          <p:cNvSpPr/>
          <p:nvPr/>
        </p:nvSpPr>
        <p:spPr>
          <a:xfrm>
            <a:off x="4281877" y="5412795"/>
            <a:ext cx="240000" cy="240000"/>
          </a:xfrm>
          <a:prstGeom prst="rect">
            <a:avLst/>
          </a:prstGeom>
          <a:solidFill>
            <a:schemeClr val="accent6"/>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34" name="Rechteck 33">
            <a:extLst>
              <a:ext uri="{FF2B5EF4-FFF2-40B4-BE49-F238E27FC236}">
                <a16:creationId xmlns:a16="http://schemas.microsoft.com/office/drawing/2014/main" id="{7052F2F9-4A0C-42A3-9A84-62C073C6CB0A}"/>
              </a:ext>
            </a:extLst>
          </p:cNvPr>
          <p:cNvSpPr/>
          <p:nvPr/>
        </p:nvSpPr>
        <p:spPr>
          <a:xfrm>
            <a:off x="4521877" y="5412795"/>
            <a:ext cx="240000" cy="240000"/>
          </a:xfrm>
          <a:prstGeom prst="rect">
            <a:avLst/>
          </a:prstGeom>
          <a:solidFill>
            <a:schemeClr val="accent6"/>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39994" indent="-239994" defTabSz="1219170">
              <a:lnSpc>
                <a:spcPts val="2613"/>
              </a:lnSpc>
              <a:buClr>
                <a:srgbClr val="0091EA"/>
              </a:buClr>
              <a:buFont typeface="Wingdings" panose="05000000000000000000" pitchFamily="2" charset="2"/>
              <a:buChar char="§"/>
            </a:pPr>
            <a:endParaRPr lang="de-DE" sz="1867" kern="0" dirty="0">
              <a:solidFill>
                <a:srgbClr val="263238"/>
              </a:solidFill>
              <a:latin typeface="Arial"/>
              <a:sym typeface="Arial"/>
            </a:endParaRPr>
          </a:p>
        </p:txBody>
      </p:sp>
      <p:sp>
        <p:nvSpPr>
          <p:cNvPr id="3" name="Textfeld 2">
            <a:extLst>
              <a:ext uri="{FF2B5EF4-FFF2-40B4-BE49-F238E27FC236}">
                <a16:creationId xmlns:a16="http://schemas.microsoft.com/office/drawing/2014/main" id="{C0DB97CF-C570-43A5-91D1-3E059AE4C8AE}"/>
              </a:ext>
            </a:extLst>
          </p:cNvPr>
          <p:cNvSpPr txBox="1"/>
          <p:nvPr/>
        </p:nvSpPr>
        <p:spPr>
          <a:xfrm>
            <a:off x="7849426" y="3799571"/>
            <a:ext cx="1077539" cy="379656"/>
          </a:xfrm>
          <a:prstGeom prst="rect">
            <a:avLst/>
          </a:prstGeom>
          <a:noFill/>
        </p:spPr>
        <p:txBody>
          <a:bodyPr wrap="none" rtlCol="0">
            <a:spAutoFit/>
          </a:bodyPr>
          <a:lstStyle/>
          <a:p>
            <a:pPr defTabSz="1219170">
              <a:buClr>
                <a:srgbClr val="000000"/>
              </a:buClr>
            </a:pPr>
            <a:r>
              <a:rPr lang="de-DE" sz="1867" kern="0" dirty="0">
                <a:solidFill>
                  <a:srgbClr val="FFFFFF"/>
                </a:solidFill>
                <a:latin typeface="Arial"/>
                <a:cs typeface="Arial"/>
                <a:sym typeface="Arial"/>
              </a:rPr>
              <a:t>Encoder</a:t>
            </a:r>
          </a:p>
        </p:txBody>
      </p:sp>
      <p:cxnSp>
        <p:nvCxnSpPr>
          <p:cNvPr id="43" name="Gerade Verbindung mit Pfeil 42">
            <a:extLst>
              <a:ext uri="{FF2B5EF4-FFF2-40B4-BE49-F238E27FC236}">
                <a16:creationId xmlns:a16="http://schemas.microsoft.com/office/drawing/2014/main" id="{379A2D3F-F4B7-4E5B-8B86-5CF20700AE8E}"/>
              </a:ext>
            </a:extLst>
          </p:cNvPr>
          <p:cNvCxnSpPr>
            <a:cxnSpLocks/>
          </p:cNvCxnSpPr>
          <p:nvPr/>
        </p:nvCxnSpPr>
        <p:spPr>
          <a:xfrm>
            <a:off x="4832469" y="2482032"/>
            <a:ext cx="1442775" cy="138008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Gerade Verbindung mit Pfeil 45">
            <a:extLst>
              <a:ext uri="{FF2B5EF4-FFF2-40B4-BE49-F238E27FC236}">
                <a16:creationId xmlns:a16="http://schemas.microsoft.com/office/drawing/2014/main" id="{E8BF78BF-D23E-4007-86B6-0B9E3E347420}"/>
              </a:ext>
            </a:extLst>
          </p:cNvPr>
          <p:cNvCxnSpPr>
            <a:cxnSpLocks/>
          </p:cNvCxnSpPr>
          <p:nvPr/>
        </p:nvCxnSpPr>
        <p:spPr>
          <a:xfrm>
            <a:off x="4822004" y="3982116"/>
            <a:ext cx="138358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Gerade Verbindung mit Pfeil 48">
            <a:extLst>
              <a:ext uri="{FF2B5EF4-FFF2-40B4-BE49-F238E27FC236}">
                <a16:creationId xmlns:a16="http://schemas.microsoft.com/office/drawing/2014/main" id="{ADCC8200-3664-4671-9F38-777A47F8EBD1}"/>
              </a:ext>
            </a:extLst>
          </p:cNvPr>
          <p:cNvCxnSpPr>
            <a:cxnSpLocks/>
          </p:cNvCxnSpPr>
          <p:nvPr/>
        </p:nvCxnSpPr>
        <p:spPr>
          <a:xfrm flipV="1">
            <a:off x="4859838" y="4101425"/>
            <a:ext cx="1415405" cy="133018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Gerade Verbindung mit Pfeil 54">
            <a:extLst>
              <a:ext uri="{FF2B5EF4-FFF2-40B4-BE49-F238E27FC236}">
                <a16:creationId xmlns:a16="http://schemas.microsoft.com/office/drawing/2014/main" id="{3143A6B7-CE1B-49FA-BC3F-ABB68FEEF9F6}"/>
              </a:ext>
            </a:extLst>
          </p:cNvPr>
          <p:cNvCxnSpPr>
            <a:cxnSpLocks/>
          </p:cNvCxnSpPr>
          <p:nvPr/>
        </p:nvCxnSpPr>
        <p:spPr>
          <a:xfrm>
            <a:off x="4281877" y="2602787"/>
            <a:ext cx="0" cy="119678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Gerade Verbindung mit Pfeil 57">
            <a:extLst>
              <a:ext uri="{FF2B5EF4-FFF2-40B4-BE49-F238E27FC236}">
                <a16:creationId xmlns:a16="http://schemas.microsoft.com/office/drawing/2014/main" id="{9D6DC33F-07B8-4E8A-9D3B-0B6FFA242D76}"/>
              </a:ext>
            </a:extLst>
          </p:cNvPr>
          <p:cNvCxnSpPr>
            <a:cxnSpLocks/>
          </p:cNvCxnSpPr>
          <p:nvPr/>
        </p:nvCxnSpPr>
        <p:spPr>
          <a:xfrm>
            <a:off x="4287423" y="4143717"/>
            <a:ext cx="0" cy="119678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Text Placeholder 2">
            <a:extLst>
              <a:ext uri="{FF2B5EF4-FFF2-40B4-BE49-F238E27FC236}">
                <a16:creationId xmlns:a16="http://schemas.microsoft.com/office/drawing/2014/main" id="{7FD05A3E-FC4B-45F0-85E9-BEA3E3F14868}"/>
              </a:ext>
            </a:extLst>
          </p:cNvPr>
          <p:cNvSpPr>
            <a:spLocks noGrp="1"/>
          </p:cNvSpPr>
          <p:nvPr>
            <p:ph type="body" idx="1"/>
          </p:nvPr>
        </p:nvSpPr>
        <p:spPr>
          <a:xfrm>
            <a:off x="6096000" y="4531197"/>
            <a:ext cx="8412792" cy="5028129"/>
          </a:xfrm>
        </p:spPr>
        <p:txBody>
          <a:bodyPr/>
          <a:lstStyle/>
          <a:p>
            <a:pPr marL="101597" indent="0">
              <a:buNone/>
            </a:pPr>
            <a:r>
              <a:rPr lang="en-GB" sz="1600" dirty="0"/>
              <a:t>Encoder Models: </a:t>
            </a:r>
          </a:p>
          <a:p>
            <a:pPr marL="101597" indent="0">
              <a:buNone/>
            </a:pPr>
            <a:r>
              <a:rPr lang="en-GB" sz="1600" dirty="0"/>
              <a:t>CLIP-VIP (pre-trained on RGB video)</a:t>
            </a:r>
          </a:p>
          <a:p>
            <a:pPr marL="101597" indent="0">
              <a:buNone/>
            </a:pPr>
            <a:r>
              <a:rPr lang="en-GB" sz="1600" dirty="0"/>
              <a:t>MAE (pre-trained for each modality)</a:t>
            </a:r>
          </a:p>
          <a:p>
            <a:pPr marL="101597" indent="0">
              <a:buNone/>
            </a:pPr>
            <a:r>
              <a:rPr lang="en-GB" sz="1600" dirty="0"/>
              <a:t>OMNIVORE (pre-trained on Depth Images RGB video and images)</a:t>
            </a:r>
          </a:p>
          <a:p>
            <a:pPr marL="101597" indent="0">
              <a:buNone/>
            </a:pPr>
            <a:r>
              <a:rPr lang="en-GB" sz="1600" dirty="0"/>
              <a:t>DINO v2 (pre-trained on RGB and Depth Images)</a:t>
            </a:r>
          </a:p>
          <a:p>
            <a:pPr marL="101597" indent="0">
              <a:buNone/>
            </a:pPr>
            <a:r>
              <a:rPr lang="en-GB" sz="1600" dirty="0"/>
              <a:t>TAHAR</a:t>
            </a:r>
          </a:p>
          <a:p>
            <a:pPr lvl="1"/>
            <a:endParaRPr lang="en-US" dirty="0"/>
          </a:p>
        </p:txBody>
      </p:sp>
    </p:spTree>
    <p:extLst>
      <p:ext uri="{BB962C8B-B14F-4D97-AF65-F5344CB8AC3E}">
        <p14:creationId xmlns:p14="http://schemas.microsoft.com/office/powerpoint/2010/main" val="3031070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CMVRA</a:t>
            </a:r>
            <a:br>
              <a:rPr lang="en-US" dirty="0"/>
            </a:br>
            <a:r>
              <a:rPr lang="en-US" b="1" dirty="0"/>
              <a:t>Hypotheses </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9</a:t>
            </a:fld>
            <a:endParaRPr lang="en" kern="0">
              <a:solidFill>
                <a:srgbClr val="0091EA"/>
              </a:solidFill>
            </a:endParaRPr>
          </a:p>
        </p:txBody>
      </p:sp>
      <p:graphicFrame>
        <p:nvGraphicFramePr>
          <p:cNvPr id="7" name="Diagramm 6">
            <a:extLst>
              <a:ext uri="{FF2B5EF4-FFF2-40B4-BE49-F238E27FC236}">
                <a16:creationId xmlns:a16="http://schemas.microsoft.com/office/drawing/2014/main" id="{2A6BD51E-EEE1-474B-A97E-F2112BD95750}"/>
              </a:ext>
            </a:extLst>
          </p:cNvPr>
          <p:cNvGraphicFramePr/>
          <p:nvPr/>
        </p:nvGraphicFramePr>
        <p:xfrm>
          <a:off x="7455878" y="280594"/>
          <a:ext cx="3521389" cy="21340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2093135"/>
            <a:ext cx="10095600" cy="4764800"/>
          </a:xfrm>
        </p:spPr>
        <p:txBody>
          <a:bodyPr/>
          <a:lstStyle/>
          <a:p>
            <a:pPr marL="558798" indent="-457200">
              <a:buFont typeface="+mj-lt"/>
              <a:buAutoNum type="arabicPeriod"/>
            </a:pPr>
            <a:r>
              <a:rPr lang="en-US" sz="2000" b="1" dirty="0"/>
              <a:t>One-way vs. mutual adaptability: </a:t>
            </a:r>
            <a:r>
              <a:rPr lang="en-US" sz="2000" dirty="0"/>
              <a:t>One-way adaptability (freezing the RGB encoder) will outperform mutual adaptability for most modalities and tasks while being more computationally efficient.</a:t>
            </a:r>
          </a:p>
          <a:p>
            <a:pPr marL="558798" indent="-457200">
              <a:buFont typeface="+mj-lt"/>
              <a:buAutoNum type="arabicPeriod"/>
            </a:pPr>
            <a:r>
              <a:rPr lang="en-US" sz="2000" b="1" dirty="0"/>
              <a:t>Fully integrated vs. pairwise alignment: </a:t>
            </a:r>
            <a:r>
              <a:rPr lang="en-US" sz="2000" dirty="0"/>
              <a:t>Fully integrated alignment will outperform pairwise alignment in terms of capturing complementary information from different modalities.</a:t>
            </a:r>
          </a:p>
          <a:p>
            <a:pPr marL="558798" indent="-457200">
              <a:buFont typeface="+mj-lt"/>
              <a:buAutoNum type="arabicPeriod"/>
            </a:pPr>
            <a:r>
              <a:rPr lang="en-US" sz="2000" b="1" dirty="0"/>
              <a:t>Modality-specific pre-trained encoders: </a:t>
            </a:r>
            <a:r>
              <a:rPr lang="en-US" sz="2000" dirty="0"/>
              <a:t>Using modality-specific pre-trained encoders will lead to faster convergence and higher performance compared to using weights initially trained on RGB data for all encoders.</a:t>
            </a:r>
          </a:p>
          <a:p>
            <a:pPr marL="558798" indent="-457200">
              <a:buFont typeface="+mj-lt"/>
              <a:buAutoNum type="arabicPeriod"/>
            </a:pPr>
            <a:r>
              <a:rPr lang="en-US" sz="2000" b="1" dirty="0"/>
              <a:t>Self-alignment: </a:t>
            </a:r>
            <a:r>
              <a:rPr lang="en-US" sz="2000" dirty="0"/>
              <a:t>Self-alignment of RGB representations will lead to improved performance of the target encoder (OMNIVORE) compared to the anchor encoder (CLIP-</a:t>
            </a:r>
            <a:r>
              <a:rPr lang="en-US" sz="2000" dirty="0" err="1"/>
              <a:t>ViP</a:t>
            </a:r>
            <a:r>
              <a:rPr lang="en-US" sz="2000" dirty="0"/>
              <a:t>) in both retrieval tasks and linear evaluation protocol.</a:t>
            </a:r>
          </a:p>
        </p:txBody>
      </p:sp>
      <p:sp>
        <p:nvSpPr>
          <p:cNvPr id="9" name="Geschweifte Klammer links 8">
            <a:extLst>
              <a:ext uri="{FF2B5EF4-FFF2-40B4-BE49-F238E27FC236}">
                <a16:creationId xmlns:a16="http://schemas.microsoft.com/office/drawing/2014/main" id="{06D1B984-8AD1-4285-BA37-231C8F1B614A}"/>
              </a:ext>
            </a:extLst>
          </p:cNvPr>
          <p:cNvSpPr/>
          <p:nvPr/>
        </p:nvSpPr>
        <p:spPr>
          <a:xfrm>
            <a:off x="901430" y="2302213"/>
            <a:ext cx="233464" cy="33917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2263796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CMVRA</a:t>
            </a:r>
            <a:br>
              <a:rPr lang="en-US" dirty="0"/>
            </a:br>
            <a:r>
              <a:rPr lang="en-US" b="1" dirty="0"/>
              <a:t>Hypotheses </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10</a:t>
            </a:fld>
            <a:endParaRPr lang="en" kern="0">
              <a:solidFill>
                <a:srgbClr val="0091EA"/>
              </a:solidFill>
            </a:endParaRPr>
          </a:p>
        </p:txBody>
      </p:sp>
      <p:graphicFrame>
        <p:nvGraphicFramePr>
          <p:cNvPr id="7" name="Diagramm 6">
            <a:extLst>
              <a:ext uri="{FF2B5EF4-FFF2-40B4-BE49-F238E27FC236}">
                <a16:creationId xmlns:a16="http://schemas.microsoft.com/office/drawing/2014/main" id="{2A6BD51E-EEE1-474B-A97E-F2112BD95750}"/>
              </a:ext>
            </a:extLst>
          </p:cNvPr>
          <p:cNvGraphicFramePr/>
          <p:nvPr/>
        </p:nvGraphicFramePr>
        <p:xfrm>
          <a:off x="7455878" y="280594"/>
          <a:ext cx="3521389" cy="21340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2093135"/>
            <a:ext cx="10095600" cy="4764800"/>
          </a:xfrm>
        </p:spPr>
        <p:txBody>
          <a:bodyPr/>
          <a:lstStyle/>
          <a:p>
            <a:pPr marL="558798" indent="-457200">
              <a:buFont typeface="+mj-lt"/>
              <a:buAutoNum type="arabicPeriod"/>
            </a:pPr>
            <a:r>
              <a:rPr lang="en-US" sz="1800" b="1" dirty="0"/>
              <a:t>Cross-Dataset robustness: </a:t>
            </a:r>
            <a:r>
              <a:rPr lang="en-US" sz="1800" dirty="0"/>
              <a:t>Encoders aligned on the larger, balanced NTU dataset will outperform those aligned on the smaller, imbalanced DAA dataset in the Linear Evaluation Protocol (LEP).</a:t>
            </a:r>
          </a:p>
          <a:p>
            <a:pPr marL="558798" indent="-457200">
              <a:buFont typeface="+mj-lt"/>
              <a:buAutoNum type="arabicPeriod"/>
            </a:pPr>
            <a:r>
              <a:rPr lang="en-US" sz="1800" b="1" dirty="0"/>
              <a:t>Retrieval vs. LEP:</a:t>
            </a:r>
            <a:r>
              <a:rPr lang="en-US" sz="1800" dirty="0"/>
              <a:t> Retrieval using the language encoder will be competitive with the LEP for many tasks while being more efficient and flexible.</a:t>
            </a:r>
          </a:p>
          <a:p>
            <a:pPr marL="558798" indent="-457200">
              <a:buFont typeface="+mj-lt"/>
              <a:buAutoNum type="arabicPeriod"/>
            </a:pPr>
            <a:r>
              <a:rPr lang="en-US" sz="1800" b="1" dirty="0"/>
              <a:t>Fusion:</a:t>
            </a:r>
            <a:r>
              <a:rPr lang="en-US" sz="1800" dirty="0"/>
              <a:t> The fusion performance, when evaluated through an attention-based mechanism, should surpass the performance of any individual encoder assessed with LEP.</a:t>
            </a:r>
          </a:p>
          <a:p>
            <a:pPr marL="558798" indent="-457200">
              <a:buFont typeface="+mj-lt"/>
              <a:buAutoNum type="arabicPeriod"/>
            </a:pPr>
            <a:r>
              <a:rPr lang="en-US" sz="1800" b="1" dirty="0"/>
              <a:t>Language variety: </a:t>
            </a:r>
            <a:r>
              <a:rPr lang="en-US" sz="1800" dirty="0"/>
              <a:t>Greater language variety during fine-tuning will not only improve RGB encoder performance but also facilitate better alignment and performance of the IR encoder.</a:t>
            </a:r>
          </a:p>
          <a:p>
            <a:pPr marL="558798" indent="-457200">
              <a:buFont typeface="+mj-lt"/>
              <a:buAutoNum type="arabicPeriod"/>
            </a:pPr>
            <a:r>
              <a:rPr lang="en-US" sz="1800" b="1" dirty="0"/>
              <a:t>Vision language model captioning: </a:t>
            </a:r>
            <a:r>
              <a:rPr lang="en-US" sz="1800" dirty="0"/>
              <a:t>Fine-tuning</a:t>
            </a:r>
            <a:r>
              <a:rPr lang="en-US" sz="1800" b="1" dirty="0"/>
              <a:t> </a:t>
            </a:r>
            <a:r>
              <a:rPr lang="en-US" sz="1800" dirty="0"/>
              <a:t>using captions generated by the </a:t>
            </a:r>
            <a:r>
              <a:rPr lang="en-US" sz="1800" dirty="0" err="1"/>
              <a:t>LLaVA</a:t>
            </a:r>
            <a:r>
              <a:rPr lang="en-US" sz="1800" dirty="0"/>
              <a:t> model will:  Outperform the base version (no fine-tuning) by leveraging the semantic information captured in the generated captions in retrieval evaluations.                                                                                                                                                                      </a:t>
            </a:r>
          </a:p>
        </p:txBody>
      </p:sp>
      <p:sp>
        <p:nvSpPr>
          <p:cNvPr id="3" name="Geschweifte Klammer links 2">
            <a:extLst>
              <a:ext uri="{FF2B5EF4-FFF2-40B4-BE49-F238E27FC236}">
                <a16:creationId xmlns:a16="http://schemas.microsoft.com/office/drawing/2014/main" id="{E2166E90-C3F2-48FA-B11D-29CA986FA44D}"/>
              </a:ext>
            </a:extLst>
          </p:cNvPr>
          <p:cNvSpPr/>
          <p:nvPr/>
        </p:nvSpPr>
        <p:spPr>
          <a:xfrm>
            <a:off x="901430" y="2302213"/>
            <a:ext cx="233464" cy="20882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8" name="Geschweifte Klammer links 7">
            <a:extLst>
              <a:ext uri="{FF2B5EF4-FFF2-40B4-BE49-F238E27FC236}">
                <a16:creationId xmlns:a16="http://schemas.microsoft.com/office/drawing/2014/main" id="{41F5DA5F-26B3-424A-B9FB-0F5E6E23525E}"/>
              </a:ext>
            </a:extLst>
          </p:cNvPr>
          <p:cNvSpPr/>
          <p:nvPr/>
        </p:nvSpPr>
        <p:spPr>
          <a:xfrm>
            <a:off x="947721" y="4390417"/>
            <a:ext cx="187173" cy="154994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2764581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Effective alignment strategies</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11</a:t>
            </a:fld>
            <a:endParaRPr lang="en" kern="0">
              <a:solidFill>
                <a:srgbClr val="0091EA"/>
              </a:solidFill>
            </a:endParaRPr>
          </a:p>
        </p:txBody>
      </p:sp>
      <p:sp>
        <p:nvSpPr>
          <p:cNvPr id="8" name="Textplatzhalter 7">
            <a:extLst>
              <a:ext uri="{FF2B5EF4-FFF2-40B4-BE49-F238E27FC236}">
                <a16:creationId xmlns:a16="http://schemas.microsoft.com/office/drawing/2014/main" id="{D6B16879-B92B-41FD-9953-0B26D283092C}"/>
              </a:ext>
            </a:extLst>
          </p:cNvPr>
          <p:cNvSpPr>
            <a:spLocks noGrp="1"/>
          </p:cNvSpPr>
          <p:nvPr>
            <p:ph type="body" idx="1"/>
          </p:nvPr>
        </p:nvSpPr>
        <p:spPr>
          <a:xfrm>
            <a:off x="810640" y="1592158"/>
            <a:ext cx="11030264" cy="3038208"/>
          </a:xfrm>
        </p:spPr>
        <p:txBody>
          <a:bodyPr/>
          <a:lstStyle/>
          <a:p>
            <a:pPr>
              <a:buFont typeface="Wingdings" panose="05000000000000000000" pitchFamily="2" charset="2"/>
              <a:buChar char="Ø"/>
            </a:pPr>
            <a:r>
              <a:rPr lang="en-US" sz="2400" dirty="0"/>
              <a:t>Pre-trained modality-specific models enhance alignment efficacy significantly</a:t>
            </a:r>
          </a:p>
          <a:p>
            <a:pPr>
              <a:buFont typeface="Wingdings" panose="05000000000000000000" pitchFamily="2" charset="2"/>
              <a:buChar char="Ø"/>
            </a:pPr>
            <a:r>
              <a:rPr lang="en-US" sz="2400" dirty="0"/>
              <a:t>OMNIVORE and CLIP-VIP showed great synergies for IR and depth</a:t>
            </a:r>
          </a:p>
          <a:p>
            <a:pPr>
              <a:buFont typeface="Wingdings" panose="05000000000000000000" pitchFamily="2" charset="2"/>
              <a:buChar char="Ø"/>
            </a:pPr>
            <a:r>
              <a:rPr lang="en-US" sz="2400" dirty="0"/>
              <a:t>Using a strong RGB encoder as base is superior to mutual adaptability</a:t>
            </a:r>
          </a:p>
          <a:p>
            <a:pPr>
              <a:buFont typeface="Wingdings" panose="05000000000000000000" pitchFamily="2" charset="2"/>
              <a:buChar char="Ø"/>
            </a:pPr>
            <a:r>
              <a:rPr lang="en-US" sz="2400" dirty="0"/>
              <a:t>Fully integrated alignment outperforms pairwise alignment with CLIP-</a:t>
            </a:r>
            <a:r>
              <a:rPr lang="en-US" sz="2400" dirty="0" err="1"/>
              <a:t>ViP</a:t>
            </a:r>
            <a:r>
              <a:rPr lang="en-US" sz="2400" dirty="0"/>
              <a:t> base</a:t>
            </a:r>
          </a:p>
        </p:txBody>
      </p:sp>
    </p:spTree>
    <p:extLst>
      <p:ext uri="{BB962C8B-B14F-4D97-AF65-F5344CB8AC3E}">
        <p14:creationId xmlns:p14="http://schemas.microsoft.com/office/powerpoint/2010/main" val="6902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Pairwise vs. Fully Integrated Alignment (to RGB)</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12</a:t>
            </a:fld>
            <a:endParaRPr lang="en" kern="0">
              <a:solidFill>
                <a:srgbClr val="0091EA"/>
              </a:solidFill>
            </a:endParaRPr>
          </a:p>
        </p:txBody>
      </p:sp>
      <p:sp>
        <p:nvSpPr>
          <p:cNvPr id="6" name="Rechteck 5">
            <a:extLst>
              <a:ext uri="{FF2B5EF4-FFF2-40B4-BE49-F238E27FC236}">
                <a16:creationId xmlns:a16="http://schemas.microsoft.com/office/drawing/2014/main" id="{3F098895-526E-4279-ACD4-4A3EE9007BB6}"/>
              </a:ext>
            </a:extLst>
          </p:cNvPr>
          <p:cNvSpPr/>
          <p:nvPr/>
        </p:nvSpPr>
        <p:spPr>
          <a:xfrm>
            <a:off x="541105" y="1410984"/>
            <a:ext cx="6636532" cy="4375683"/>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pic>
        <p:nvPicPr>
          <p:cNvPr id="105" name="Grafik 104">
            <a:extLst>
              <a:ext uri="{FF2B5EF4-FFF2-40B4-BE49-F238E27FC236}">
                <a16:creationId xmlns:a16="http://schemas.microsoft.com/office/drawing/2014/main" id="{1D750D5C-3090-43BC-A4FF-E67B4FFF616E}"/>
              </a:ext>
            </a:extLst>
          </p:cNvPr>
          <p:cNvPicPr>
            <a:picLocks noChangeAspect="1"/>
          </p:cNvPicPr>
          <p:nvPr/>
        </p:nvPicPr>
        <p:blipFill>
          <a:blip r:embed="rId2"/>
          <a:stretch>
            <a:fillRect/>
          </a:stretch>
        </p:blipFill>
        <p:spPr>
          <a:xfrm>
            <a:off x="3984214" y="4243161"/>
            <a:ext cx="183457" cy="202915"/>
          </a:xfrm>
          <a:prstGeom prst="rect">
            <a:avLst/>
          </a:prstGeom>
        </p:spPr>
      </p:pic>
      <p:sp>
        <p:nvSpPr>
          <p:cNvPr id="106" name="Rechteck 105">
            <a:extLst>
              <a:ext uri="{FF2B5EF4-FFF2-40B4-BE49-F238E27FC236}">
                <a16:creationId xmlns:a16="http://schemas.microsoft.com/office/drawing/2014/main" id="{48FAC706-6F77-4696-9D6B-D46EEF6BFE5E}"/>
              </a:ext>
            </a:extLst>
          </p:cNvPr>
          <p:cNvSpPr/>
          <p:nvPr/>
        </p:nvSpPr>
        <p:spPr>
          <a:xfrm>
            <a:off x="7274104" y="1410985"/>
            <a:ext cx="4116595" cy="437568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pic>
        <p:nvPicPr>
          <p:cNvPr id="11" name="Grafik 10">
            <a:extLst>
              <a:ext uri="{FF2B5EF4-FFF2-40B4-BE49-F238E27FC236}">
                <a16:creationId xmlns:a16="http://schemas.microsoft.com/office/drawing/2014/main" id="{265D1F05-BF08-492D-B728-DB5DD40A45F9}"/>
              </a:ext>
            </a:extLst>
          </p:cNvPr>
          <p:cNvPicPr>
            <a:picLocks noChangeAspect="1"/>
          </p:cNvPicPr>
          <p:nvPr/>
        </p:nvPicPr>
        <p:blipFill>
          <a:blip r:embed="rId3"/>
          <a:stretch>
            <a:fillRect/>
          </a:stretch>
        </p:blipFill>
        <p:spPr>
          <a:xfrm>
            <a:off x="7397680" y="2064987"/>
            <a:ext cx="3813867" cy="3067675"/>
          </a:xfrm>
          <a:prstGeom prst="rect">
            <a:avLst/>
          </a:prstGeom>
        </p:spPr>
      </p:pic>
      <p:sp>
        <p:nvSpPr>
          <p:cNvPr id="12" name="Textfeld 11">
            <a:extLst>
              <a:ext uri="{FF2B5EF4-FFF2-40B4-BE49-F238E27FC236}">
                <a16:creationId xmlns:a16="http://schemas.microsoft.com/office/drawing/2014/main" id="{7FFB2C87-D637-4D0F-9663-0C797F1D7E6D}"/>
              </a:ext>
            </a:extLst>
          </p:cNvPr>
          <p:cNvSpPr txBox="1"/>
          <p:nvPr/>
        </p:nvSpPr>
        <p:spPr>
          <a:xfrm>
            <a:off x="541106" y="1450964"/>
            <a:ext cx="1090363" cy="379656"/>
          </a:xfrm>
          <a:prstGeom prst="rect">
            <a:avLst/>
          </a:prstGeom>
          <a:noFill/>
        </p:spPr>
        <p:txBody>
          <a:bodyPr wrap="none" rtlCol="0">
            <a:spAutoFit/>
          </a:bodyPr>
          <a:lstStyle/>
          <a:p>
            <a:pPr defTabSz="1219170">
              <a:buClr>
                <a:srgbClr val="000000"/>
              </a:buClr>
            </a:pPr>
            <a:r>
              <a:rPr lang="en-AU" sz="1867" kern="0" dirty="0">
                <a:solidFill>
                  <a:srgbClr val="000000"/>
                </a:solidFill>
                <a:latin typeface="Arial"/>
                <a:cs typeface="Arial"/>
                <a:sym typeface="Arial"/>
              </a:rPr>
              <a:t>Pairwise</a:t>
            </a:r>
            <a:endParaRPr lang="de-DE" sz="1867" kern="0" dirty="0">
              <a:solidFill>
                <a:srgbClr val="000000"/>
              </a:solidFill>
              <a:latin typeface="Arial"/>
              <a:cs typeface="Arial"/>
              <a:sym typeface="Arial"/>
            </a:endParaRPr>
          </a:p>
        </p:txBody>
      </p:sp>
      <p:sp>
        <p:nvSpPr>
          <p:cNvPr id="107" name="Textfeld 106">
            <a:extLst>
              <a:ext uri="{FF2B5EF4-FFF2-40B4-BE49-F238E27FC236}">
                <a16:creationId xmlns:a16="http://schemas.microsoft.com/office/drawing/2014/main" id="{ED005D7E-D74B-4F33-9C26-093209DE967F}"/>
              </a:ext>
            </a:extLst>
          </p:cNvPr>
          <p:cNvSpPr txBox="1"/>
          <p:nvPr/>
        </p:nvSpPr>
        <p:spPr>
          <a:xfrm>
            <a:off x="7274105" y="1410984"/>
            <a:ext cx="1914307" cy="379656"/>
          </a:xfrm>
          <a:prstGeom prst="rect">
            <a:avLst/>
          </a:prstGeom>
          <a:noFill/>
        </p:spPr>
        <p:txBody>
          <a:bodyPr wrap="none" rtlCol="0">
            <a:spAutoFit/>
          </a:bodyPr>
          <a:lstStyle/>
          <a:p>
            <a:pPr defTabSz="1219170">
              <a:buClr>
                <a:srgbClr val="000000"/>
              </a:buClr>
            </a:pPr>
            <a:r>
              <a:rPr lang="en-BZ" sz="1867" kern="0" dirty="0">
                <a:solidFill>
                  <a:srgbClr val="000000"/>
                </a:solidFill>
                <a:latin typeface="Arial"/>
                <a:cs typeface="Arial"/>
                <a:sym typeface="Arial"/>
              </a:rPr>
              <a:t>Classifier</a:t>
            </a:r>
            <a:r>
              <a:rPr lang="de-DE" sz="1867" kern="0" dirty="0">
                <a:solidFill>
                  <a:srgbClr val="000000"/>
                </a:solidFill>
                <a:latin typeface="Arial"/>
                <a:cs typeface="Arial"/>
                <a:sym typeface="Arial"/>
              </a:rPr>
              <a:t> Phase</a:t>
            </a:r>
          </a:p>
        </p:txBody>
      </p:sp>
      <p:sp>
        <p:nvSpPr>
          <p:cNvPr id="13" name="Rechteck 12">
            <a:extLst>
              <a:ext uri="{FF2B5EF4-FFF2-40B4-BE49-F238E27FC236}">
                <a16:creationId xmlns:a16="http://schemas.microsoft.com/office/drawing/2014/main" id="{BBFB2761-5D6E-494A-ACD5-F31BDBD72D93}"/>
              </a:ext>
            </a:extLst>
          </p:cNvPr>
          <p:cNvSpPr/>
          <p:nvPr/>
        </p:nvSpPr>
        <p:spPr>
          <a:xfrm>
            <a:off x="541104" y="5920534"/>
            <a:ext cx="10849595" cy="534559"/>
          </a:xfrm>
          <a:prstGeom prst="rect">
            <a:avLst/>
          </a:prstGeom>
          <a:noFill/>
          <a:ln>
            <a:solidFill>
              <a:srgbClr val="607D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pic>
        <p:nvPicPr>
          <p:cNvPr id="109" name="Grafik 108" descr="Feuer">
            <a:extLst>
              <a:ext uri="{FF2B5EF4-FFF2-40B4-BE49-F238E27FC236}">
                <a16:creationId xmlns:a16="http://schemas.microsoft.com/office/drawing/2014/main" id="{585D4007-1616-4C0B-9C8B-5C82EFC189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761" y="6017729"/>
            <a:ext cx="285080" cy="321140"/>
          </a:xfrm>
          <a:prstGeom prst="rect">
            <a:avLst/>
          </a:prstGeom>
        </p:spPr>
      </p:pic>
      <p:pic>
        <p:nvPicPr>
          <p:cNvPr id="110" name="Grafik 109" descr="Schneeflocke">
            <a:extLst>
              <a:ext uri="{FF2B5EF4-FFF2-40B4-BE49-F238E27FC236}">
                <a16:creationId xmlns:a16="http://schemas.microsoft.com/office/drawing/2014/main" id="{A8AEDB55-4CD8-4A04-98AC-860F8A9E4C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72031" y="6017728"/>
            <a:ext cx="334272" cy="334272"/>
          </a:xfrm>
          <a:prstGeom prst="rect">
            <a:avLst/>
          </a:prstGeom>
        </p:spPr>
      </p:pic>
      <p:sp>
        <p:nvSpPr>
          <p:cNvPr id="14" name="Textfeld 13">
            <a:extLst>
              <a:ext uri="{FF2B5EF4-FFF2-40B4-BE49-F238E27FC236}">
                <a16:creationId xmlns:a16="http://schemas.microsoft.com/office/drawing/2014/main" id="{982E7A33-268E-4CB3-A7F2-878F356EB989}"/>
              </a:ext>
            </a:extLst>
          </p:cNvPr>
          <p:cNvSpPr txBox="1"/>
          <p:nvPr/>
        </p:nvSpPr>
        <p:spPr>
          <a:xfrm>
            <a:off x="885841" y="6003146"/>
            <a:ext cx="1789272"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Trainable weights</a:t>
            </a:r>
          </a:p>
        </p:txBody>
      </p:sp>
      <p:sp>
        <p:nvSpPr>
          <p:cNvPr id="112" name="Textfeld 111">
            <a:extLst>
              <a:ext uri="{FF2B5EF4-FFF2-40B4-BE49-F238E27FC236}">
                <a16:creationId xmlns:a16="http://schemas.microsoft.com/office/drawing/2014/main" id="{53D6C78C-4EDA-4502-84EE-6A9820F82293}"/>
              </a:ext>
            </a:extLst>
          </p:cNvPr>
          <p:cNvSpPr txBox="1"/>
          <p:nvPr/>
        </p:nvSpPr>
        <p:spPr>
          <a:xfrm>
            <a:off x="2995309" y="5992919"/>
            <a:ext cx="822661"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Frozen</a:t>
            </a:r>
          </a:p>
        </p:txBody>
      </p:sp>
      <p:pic>
        <p:nvPicPr>
          <p:cNvPr id="36" name="Grafik 35">
            <a:extLst>
              <a:ext uri="{FF2B5EF4-FFF2-40B4-BE49-F238E27FC236}">
                <a16:creationId xmlns:a16="http://schemas.microsoft.com/office/drawing/2014/main" id="{74E4C058-D8B6-410F-B6A2-AE23B2C9BFAE}"/>
              </a:ext>
            </a:extLst>
          </p:cNvPr>
          <p:cNvPicPr>
            <a:picLocks noChangeAspect="1"/>
          </p:cNvPicPr>
          <p:nvPr/>
        </p:nvPicPr>
        <p:blipFill>
          <a:blip r:embed="rId8"/>
          <a:stretch>
            <a:fillRect/>
          </a:stretch>
        </p:blipFill>
        <p:spPr>
          <a:xfrm>
            <a:off x="3887336" y="6085904"/>
            <a:ext cx="754397" cy="201173"/>
          </a:xfrm>
          <a:prstGeom prst="rect">
            <a:avLst/>
          </a:prstGeom>
        </p:spPr>
      </p:pic>
      <p:sp>
        <p:nvSpPr>
          <p:cNvPr id="117" name="Textfeld 116">
            <a:extLst>
              <a:ext uri="{FF2B5EF4-FFF2-40B4-BE49-F238E27FC236}">
                <a16:creationId xmlns:a16="http://schemas.microsoft.com/office/drawing/2014/main" id="{D8C2259C-2A4F-4296-BA41-8A64E3CD7A3E}"/>
              </a:ext>
            </a:extLst>
          </p:cNvPr>
          <p:cNvSpPr txBox="1"/>
          <p:nvPr/>
        </p:nvSpPr>
        <p:spPr>
          <a:xfrm>
            <a:off x="4693088" y="5982668"/>
            <a:ext cx="1574470"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Representation</a:t>
            </a:r>
          </a:p>
        </p:txBody>
      </p:sp>
      <p:pic>
        <p:nvPicPr>
          <p:cNvPr id="118" name="Grafik 117">
            <a:extLst>
              <a:ext uri="{FF2B5EF4-FFF2-40B4-BE49-F238E27FC236}">
                <a16:creationId xmlns:a16="http://schemas.microsoft.com/office/drawing/2014/main" id="{3993B616-297B-4EF5-86EF-3F6482EE8AE0}"/>
              </a:ext>
            </a:extLst>
          </p:cNvPr>
          <p:cNvPicPr>
            <a:picLocks noChangeAspect="1"/>
          </p:cNvPicPr>
          <p:nvPr/>
        </p:nvPicPr>
        <p:blipFill>
          <a:blip r:embed="rId2"/>
          <a:stretch>
            <a:fillRect/>
          </a:stretch>
        </p:blipFill>
        <p:spPr>
          <a:xfrm>
            <a:off x="6247602" y="5940195"/>
            <a:ext cx="394036" cy="435827"/>
          </a:xfrm>
          <a:prstGeom prst="rect">
            <a:avLst/>
          </a:prstGeom>
        </p:spPr>
      </p:pic>
      <p:pic>
        <p:nvPicPr>
          <p:cNvPr id="119" name="Grafik 118">
            <a:extLst>
              <a:ext uri="{FF2B5EF4-FFF2-40B4-BE49-F238E27FC236}">
                <a16:creationId xmlns:a16="http://schemas.microsoft.com/office/drawing/2014/main" id="{D52429B5-BDDD-4791-9E19-F9E8F7F585B3}"/>
              </a:ext>
            </a:extLst>
          </p:cNvPr>
          <p:cNvPicPr>
            <a:picLocks noChangeAspect="1"/>
          </p:cNvPicPr>
          <p:nvPr/>
        </p:nvPicPr>
        <p:blipFill>
          <a:blip r:embed="rId9"/>
          <a:stretch>
            <a:fillRect/>
          </a:stretch>
        </p:blipFill>
        <p:spPr>
          <a:xfrm>
            <a:off x="8073517" y="5939583"/>
            <a:ext cx="375785" cy="436575"/>
          </a:xfrm>
          <a:prstGeom prst="rect">
            <a:avLst/>
          </a:prstGeom>
        </p:spPr>
      </p:pic>
      <p:sp>
        <p:nvSpPr>
          <p:cNvPr id="120" name="Textfeld 119">
            <a:extLst>
              <a:ext uri="{FF2B5EF4-FFF2-40B4-BE49-F238E27FC236}">
                <a16:creationId xmlns:a16="http://schemas.microsoft.com/office/drawing/2014/main" id="{24A5489F-6EAA-4E1A-A97A-CCB895A50E2F}"/>
              </a:ext>
            </a:extLst>
          </p:cNvPr>
          <p:cNvSpPr txBox="1"/>
          <p:nvPr/>
        </p:nvSpPr>
        <p:spPr>
          <a:xfrm>
            <a:off x="6579967" y="5982667"/>
            <a:ext cx="1460656"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InfoNCE-Loss</a:t>
            </a:r>
          </a:p>
        </p:txBody>
      </p:sp>
      <p:sp>
        <p:nvSpPr>
          <p:cNvPr id="121" name="Textfeld 120">
            <a:extLst>
              <a:ext uri="{FF2B5EF4-FFF2-40B4-BE49-F238E27FC236}">
                <a16:creationId xmlns:a16="http://schemas.microsoft.com/office/drawing/2014/main" id="{4C49AF78-E15A-43D9-89FE-0A9EDF95F8F7}"/>
              </a:ext>
            </a:extLst>
          </p:cNvPr>
          <p:cNvSpPr txBox="1"/>
          <p:nvPr/>
        </p:nvSpPr>
        <p:spPr>
          <a:xfrm>
            <a:off x="8371033" y="5989107"/>
            <a:ext cx="2839239"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Balanced CrossEntropy-Loss</a:t>
            </a:r>
          </a:p>
        </p:txBody>
      </p:sp>
      <p:cxnSp>
        <p:nvCxnSpPr>
          <p:cNvPr id="39" name="Gerader Verbinder 38">
            <a:extLst>
              <a:ext uri="{FF2B5EF4-FFF2-40B4-BE49-F238E27FC236}">
                <a16:creationId xmlns:a16="http://schemas.microsoft.com/office/drawing/2014/main" id="{F0A8C590-A3BB-4D02-8FF6-FD49CD86A952}"/>
              </a:ext>
            </a:extLst>
          </p:cNvPr>
          <p:cNvCxnSpPr/>
          <p:nvPr/>
        </p:nvCxnSpPr>
        <p:spPr>
          <a:xfrm>
            <a:off x="2672031" y="5939583"/>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2" name="Gerader Verbinder 121">
            <a:extLst>
              <a:ext uri="{FF2B5EF4-FFF2-40B4-BE49-F238E27FC236}">
                <a16:creationId xmlns:a16="http://schemas.microsoft.com/office/drawing/2014/main" id="{E1301F8E-3CCA-48BF-929F-D22DFBD17C87}"/>
              </a:ext>
            </a:extLst>
          </p:cNvPr>
          <p:cNvCxnSpPr/>
          <p:nvPr/>
        </p:nvCxnSpPr>
        <p:spPr>
          <a:xfrm>
            <a:off x="3859369"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3" name="Gerader Verbinder 122">
            <a:extLst>
              <a:ext uri="{FF2B5EF4-FFF2-40B4-BE49-F238E27FC236}">
                <a16:creationId xmlns:a16="http://schemas.microsoft.com/office/drawing/2014/main" id="{BDEABF9B-1094-4B6C-8828-D2E9EA1EDCFF}"/>
              </a:ext>
            </a:extLst>
          </p:cNvPr>
          <p:cNvCxnSpPr/>
          <p:nvPr/>
        </p:nvCxnSpPr>
        <p:spPr>
          <a:xfrm>
            <a:off x="6247601" y="5948651"/>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6" name="Gerader Verbinder 125">
            <a:extLst>
              <a:ext uri="{FF2B5EF4-FFF2-40B4-BE49-F238E27FC236}">
                <a16:creationId xmlns:a16="http://schemas.microsoft.com/office/drawing/2014/main" id="{BFEAC2BA-D317-4295-A1F2-081649E3C4E6}"/>
              </a:ext>
            </a:extLst>
          </p:cNvPr>
          <p:cNvCxnSpPr/>
          <p:nvPr/>
        </p:nvCxnSpPr>
        <p:spPr>
          <a:xfrm>
            <a:off x="8073516"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pic>
        <p:nvPicPr>
          <p:cNvPr id="127" name="Grafik 126" descr="Feuer">
            <a:extLst>
              <a:ext uri="{FF2B5EF4-FFF2-40B4-BE49-F238E27FC236}">
                <a16:creationId xmlns:a16="http://schemas.microsoft.com/office/drawing/2014/main" id="{739CC667-12FE-4055-8BCA-58BE6BD463A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7815" y="2296378"/>
            <a:ext cx="176344" cy="125989"/>
          </a:xfrm>
          <a:prstGeom prst="rect">
            <a:avLst/>
          </a:prstGeom>
        </p:spPr>
      </p:pic>
      <p:pic>
        <p:nvPicPr>
          <p:cNvPr id="128" name="Grafik 127" descr="Feuer">
            <a:extLst>
              <a:ext uri="{FF2B5EF4-FFF2-40B4-BE49-F238E27FC236}">
                <a16:creationId xmlns:a16="http://schemas.microsoft.com/office/drawing/2014/main" id="{D674D778-75A0-443A-A80B-7F10DF143A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7815" y="2639779"/>
            <a:ext cx="176344" cy="125989"/>
          </a:xfrm>
          <a:prstGeom prst="rect">
            <a:avLst/>
          </a:prstGeom>
        </p:spPr>
      </p:pic>
      <p:pic>
        <p:nvPicPr>
          <p:cNvPr id="129" name="Grafik 128" descr="Feuer">
            <a:extLst>
              <a:ext uri="{FF2B5EF4-FFF2-40B4-BE49-F238E27FC236}">
                <a16:creationId xmlns:a16="http://schemas.microsoft.com/office/drawing/2014/main" id="{2C387B09-C0E3-462D-950E-CAB43AF743A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7815" y="3265312"/>
            <a:ext cx="176344" cy="125989"/>
          </a:xfrm>
          <a:prstGeom prst="rect">
            <a:avLst/>
          </a:prstGeom>
        </p:spPr>
      </p:pic>
      <p:pic>
        <p:nvPicPr>
          <p:cNvPr id="130" name="Grafik 129" descr="Feuer">
            <a:extLst>
              <a:ext uri="{FF2B5EF4-FFF2-40B4-BE49-F238E27FC236}">
                <a16:creationId xmlns:a16="http://schemas.microsoft.com/office/drawing/2014/main" id="{3D0FA0A1-8737-4F03-8A36-13016CE5906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7815" y="3641218"/>
            <a:ext cx="176344" cy="125989"/>
          </a:xfrm>
          <a:prstGeom prst="rect">
            <a:avLst/>
          </a:prstGeom>
        </p:spPr>
      </p:pic>
      <p:pic>
        <p:nvPicPr>
          <p:cNvPr id="131" name="Grafik 130" descr="Feuer">
            <a:extLst>
              <a:ext uri="{FF2B5EF4-FFF2-40B4-BE49-F238E27FC236}">
                <a16:creationId xmlns:a16="http://schemas.microsoft.com/office/drawing/2014/main" id="{BCB89DE6-F08C-4B47-92E5-B2932FEB05F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5904" y="4510680"/>
            <a:ext cx="176344" cy="125989"/>
          </a:xfrm>
          <a:prstGeom prst="rect">
            <a:avLst/>
          </a:prstGeom>
        </p:spPr>
      </p:pic>
      <p:pic>
        <p:nvPicPr>
          <p:cNvPr id="132" name="Grafik 131" descr="Feuer">
            <a:extLst>
              <a:ext uri="{FF2B5EF4-FFF2-40B4-BE49-F238E27FC236}">
                <a16:creationId xmlns:a16="http://schemas.microsoft.com/office/drawing/2014/main" id="{C175B61B-A5E6-4CFF-90CA-DA784608B2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5904" y="4140679"/>
            <a:ext cx="176344" cy="125989"/>
          </a:xfrm>
          <a:prstGeom prst="rect">
            <a:avLst/>
          </a:prstGeom>
        </p:spPr>
      </p:pic>
      <p:sp>
        <p:nvSpPr>
          <p:cNvPr id="3" name="Rechteck 2">
            <a:extLst>
              <a:ext uri="{FF2B5EF4-FFF2-40B4-BE49-F238E27FC236}">
                <a16:creationId xmlns:a16="http://schemas.microsoft.com/office/drawing/2014/main" id="{E50135FD-B625-441A-906A-653CCB9140B3}"/>
              </a:ext>
            </a:extLst>
          </p:cNvPr>
          <p:cNvSpPr/>
          <p:nvPr/>
        </p:nvSpPr>
        <p:spPr>
          <a:xfrm>
            <a:off x="1997413" y="1964487"/>
            <a:ext cx="1992853" cy="4578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Rechteck 40">
            <a:extLst>
              <a:ext uri="{FF2B5EF4-FFF2-40B4-BE49-F238E27FC236}">
                <a16:creationId xmlns:a16="http://schemas.microsoft.com/office/drawing/2014/main" id="{58A4B579-EF17-4E09-863B-2C14F33C2387}"/>
              </a:ext>
            </a:extLst>
          </p:cNvPr>
          <p:cNvSpPr/>
          <p:nvPr/>
        </p:nvSpPr>
        <p:spPr>
          <a:xfrm>
            <a:off x="2028257" y="3172832"/>
            <a:ext cx="1060798" cy="4578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43">
            <a:extLst>
              <a:ext uri="{FF2B5EF4-FFF2-40B4-BE49-F238E27FC236}">
                <a16:creationId xmlns:a16="http://schemas.microsoft.com/office/drawing/2014/main" id="{F9D6834A-A51E-4ECE-80C4-C8EACFAAE527}"/>
              </a:ext>
            </a:extLst>
          </p:cNvPr>
          <p:cNvSpPr/>
          <p:nvPr/>
        </p:nvSpPr>
        <p:spPr>
          <a:xfrm>
            <a:off x="2039510" y="4266668"/>
            <a:ext cx="1060798" cy="4578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Rechteck 44">
            <a:extLst>
              <a:ext uri="{FF2B5EF4-FFF2-40B4-BE49-F238E27FC236}">
                <a16:creationId xmlns:a16="http://schemas.microsoft.com/office/drawing/2014/main" id="{946C78EE-92F3-42FF-BBC3-66513BD700B8}"/>
              </a:ext>
            </a:extLst>
          </p:cNvPr>
          <p:cNvSpPr/>
          <p:nvPr/>
        </p:nvSpPr>
        <p:spPr>
          <a:xfrm>
            <a:off x="3202678" y="4365390"/>
            <a:ext cx="684658" cy="2712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6" name="Rechteck 45">
            <a:extLst>
              <a:ext uri="{FF2B5EF4-FFF2-40B4-BE49-F238E27FC236}">
                <a16:creationId xmlns:a16="http://schemas.microsoft.com/office/drawing/2014/main" id="{BF3D129C-62E4-466A-9907-4BEED58D2D49}"/>
              </a:ext>
            </a:extLst>
          </p:cNvPr>
          <p:cNvSpPr/>
          <p:nvPr/>
        </p:nvSpPr>
        <p:spPr>
          <a:xfrm>
            <a:off x="4214288" y="4403504"/>
            <a:ext cx="854889" cy="1520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7" name="Gerader Verbinder 46">
            <a:extLst>
              <a:ext uri="{FF2B5EF4-FFF2-40B4-BE49-F238E27FC236}">
                <a16:creationId xmlns:a16="http://schemas.microsoft.com/office/drawing/2014/main" id="{711A6F31-D5D4-436B-96CB-0B8B55B8A1E3}"/>
              </a:ext>
            </a:extLst>
          </p:cNvPr>
          <p:cNvCxnSpPr>
            <a:cxnSpLocks/>
          </p:cNvCxnSpPr>
          <p:nvPr/>
        </p:nvCxnSpPr>
        <p:spPr>
          <a:xfrm>
            <a:off x="541105" y="3623817"/>
            <a:ext cx="6636532"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8" name="Textfeld 47">
            <a:extLst>
              <a:ext uri="{FF2B5EF4-FFF2-40B4-BE49-F238E27FC236}">
                <a16:creationId xmlns:a16="http://schemas.microsoft.com/office/drawing/2014/main" id="{D69E924B-6479-4BD1-816C-8A47B63BFDFE}"/>
              </a:ext>
            </a:extLst>
          </p:cNvPr>
          <p:cNvSpPr txBox="1"/>
          <p:nvPr/>
        </p:nvSpPr>
        <p:spPr>
          <a:xfrm>
            <a:off x="541106" y="3630250"/>
            <a:ext cx="1830950" cy="379656"/>
          </a:xfrm>
          <a:prstGeom prst="rect">
            <a:avLst/>
          </a:prstGeom>
          <a:noFill/>
        </p:spPr>
        <p:txBody>
          <a:bodyPr wrap="none" rtlCol="0">
            <a:spAutoFit/>
          </a:bodyPr>
          <a:lstStyle/>
          <a:p>
            <a:pPr defTabSz="1219170">
              <a:buClr>
                <a:srgbClr val="000000"/>
              </a:buClr>
            </a:pPr>
            <a:r>
              <a:rPr lang="en-AU" sz="1867" kern="0" dirty="0">
                <a:solidFill>
                  <a:srgbClr val="000000"/>
                </a:solidFill>
                <a:latin typeface="Arial"/>
                <a:cs typeface="Arial"/>
                <a:sym typeface="Arial"/>
              </a:rPr>
              <a:t>Fully Integrated</a:t>
            </a:r>
            <a:endParaRPr lang="de-DE" sz="1867" kern="0" dirty="0">
              <a:solidFill>
                <a:srgbClr val="000000"/>
              </a:solidFill>
              <a:latin typeface="Arial"/>
              <a:cs typeface="Arial"/>
              <a:sym typeface="Arial"/>
            </a:endParaRPr>
          </a:p>
        </p:txBody>
      </p:sp>
      <p:pic>
        <p:nvPicPr>
          <p:cNvPr id="5" name="Grafik 4">
            <a:extLst>
              <a:ext uri="{FF2B5EF4-FFF2-40B4-BE49-F238E27FC236}">
                <a16:creationId xmlns:a16="http://schemas.microsoft.com/office/drawing/2014/main" id="{5E73EA36-3FC8-4BED-8500-0F964E779547}"/>
              </a:ext>
            </a:extLst>
          </p:cNvPr>
          <p:cNvPicPr>
            <a:picLocks noChangeAspect="1"/>
          </p:cNvPicPr>
          <p:nvPr/>
        </p:nvPicPr>
        <p:blipFill>
          <a:blip r:embed="rId10"/>
          <a:stretch>
            <a:fillRect/>
          </a:stretch>
        </p:blipFill>
        <p:spPr>
          <a:xfrm>
            <a:off x="2388658" y="3665759"/>
            <a:ext cx="718254" cy="2078966"/>
          </a:xfrm>
          <a:prstGeom prst="rect">
            <a:avLst/>
          </a:prstGeom>
        </p:spPr>
      </p:pic>
      <p:pic>
        <p:nvPicPr>
          <p:cNvPr id="50" name="Grafik 49">
            <a:extLst>
              <a:ext uri="{FF2B5EF4-FFF2-40B4-BE49-F238E27FC236}">
                <a16:creationId xmlns:a16="http://schemas.microsoft.com/office/drawing/2014/main" id="{D8102A15-C4C4-4B9E-BDB3-63FC8344A19D}"/>
              </a:ext>
            </a:extLst>
          </p:cNvPr>
          <p:cNvPicPr>
            <a:picLocks noChangeAspect="1"/>
          </p:cNvPicPr>
          <p:nvPr/>
        </p:nvPicPr>
        <p:blipFill>
          <a:blip r:embed="rId10"/>
          <a:stretch>
            <a:fillRect/>
          </a:stretch>
        </p:blipFill>
        <p:spPr>
          <a:xfrm>
            <a:off x="2312904" y="1534095"/>
            <a:ext cx="718254" cy="2078966"/>
          </a:xfrm>
          <a:prstGeom prst="rect">
            <a:avLst/>
          </a:prstGeom>
        </p:spPr>
      </p:pic>
      <p:pic>
        <p:nvPicPr>
          <p:cNvPr id="7" name="Grafik 6">
            <a:extLst>
              <a:ext uri="{FF2B5EF4-FFF2-40B4-BE49-F238E27FC236}">
                <a16:creationId xmlns:a16="http://schemas.microsoft.com/office/drawing/2014/main" id="{7D756DCB-1A66-4C68-A97F-A7ACEA496778}"/>
              </a:ext>
            </a:extLst>
          </p:cNvPr>
          <p:cNvPicPr>
            <a:picLocks noChangeAspect="1"/>
          </p:cNvPicPr>
          <p:nvPr/>
        </p:nvPicPr>
        <p:blipFill>
          <a:blip r:embed="rId11"/>
          <a:stretch>
            <a:fillRect/>
          </a:stretch>
        </p:blipFill>
        <p:spPr>
          <a:xfrm>
            <a:off x="5350676" y="4103686"/>
            <a:ext cx="1751227" cy="1065964"/>
          </a:xfrm>
          <a:prstGeom prst="rect">
            <a:avLst/>
          </a:prstGeom>
        </p:spPr>
      </p:pic>
      <p:pic>
        <p:nvPicPr>
          <p:cNvPr id="8" name="Grafik 7">
            <a:extLst>
              <a:ext uri="{FF2B5EF4-FFF2-40B4-BE49-F238E27FC236}">
                <a16:creationId xmlns:a16="http://schemas.microsoft.com/office/drawing/2014/main" id="{0E94B0A7-6B2B-4EE1-9A20-5AC4381C096D}"/>
              </a:ext>
            </a:extLst>
          </p:cNvPr>
          <p:cNvPicPr>
            <a:picLocks noChangeAspect="1"/>
          </p:cNvPicPr>
          <p:nvPr/>
        </p:nvPicPr>
        <p:blipFill>
          <a:blip r:embed="rId11"/>
          <a:stretch>
            <a:fillRect/>
          </a:stretch>
        </p:blipFill>
        <p:spPr>
          <a:xfrm>
            <a:off x="5164269" y="1450964"/>
            <a:ext cx="1195591" cy="727751"/>
          </a:xfrm>
          <a:prstGeom prst="rect">
            <a:avLst/>
          </a:prstGeom>
        </p:spPr>
      </p:pic>
      <p:pic>
        <p:nvPicPr>
          <p:cNvPr id="53" name="Grafik 52">
            <a:extLst>
              <a:ext uri="{FF2B5EF4-FFF2-40B4-BE49-F238E27FC236}">
                <a16:creationId xmlns:a16="http://schemas.microsoft.com/office/drawing/2014/main" id="{7B11C951-08BE-4706-850A-20461100A894}"/>
              </a:ext>
            </a:extLst>
          </p:cNvPr>
          <p:cNvPicPr>
            <a:picLocks noChangeAspect="1"/>
          </p:cNvPicPr>
          <p:nvPr/>
        </p:nvPicPr>
        <p:blipFill>
          <a:blip r:embed="rId11"/>
          <a:stretch>
            <a:fillRect/>
          </a:stretch>
        </p:blipFill>
        <p:spPr>
          <a:xfrm>
            <a:off x="5191393" y="2179775"/>
            <a:ext cx="1195591" cy="727751"/>
          </a:xfrm>
          <a:prstGeom prst="rect">
            <a:avLst/>
          </a:prstGeom>
        </p:spPr>
      </p:pic>
      <p:pic>
        <p:nvPicPr>
          <p:cNvPr id="54" name="Grafik 53">
            <a:extLst>
              <a:ext uri="{FF2B5EF4-FFF2-40B4-BE49-F238E27FC236}">
                <a16:creationId xmlns:a16="http://schemas.microsoft.com/office/drawing/2014/main" id="{7A8CA83A-D8E5-4174-8BAA-B7B7051E9569}"/>
              </a:ext>
            </a:extLst>
          </p:cNvPr>
          <p:cNvPicPr>
            <a:picLocks noChangeAspect="1"/>
          </p:cNvPicPr>
          <p:nvPr/>
        </p:nvPicPr>
        <p:blipFill>
          <a:blip r:embed="rId11"/>
          <a:stretch>
            <a:fillRect/>
          </a:stretch>
        </p:blipFill>
        <p:spPr>
          <a:xfrm>
            <a:off x="5222004" y="2864387"/>
            <a:ext cx="1195591" cy="727751"/>
          </a:xfrm>
          <a:prstGeom prst="rect">
            <a:avLst/>
          </a:prstGeom>
        </p:spPr>
      </p:pic>
      <p:pic>
        <p:nvPicPr>
          <p:cNvPr id="10" name="Grafik 9">
            <a:extLst>
              <a:ext uri="{FF2B5EF4-FFF2-40B4-BE49-F238E27FC236}">
                <a16:creationId xmlns:a16="http://schemas.microsoft.com/office/drawing/2014/main" id="{9C8D9D95-E6FF-4AFA-A08E-9F712D7B53CB}"/>
              </a:ext>
            </a:extLst>
          </p:cNvPr>
          <p:cNvPicPr>
            <a:picLocks noChangeAspect="1"/>
          </p:cNvPicPr>
          <p:nvPr/>
        </p:nvPicPr>
        <p:blipFill>
          <a:blip r:embed="rId12"/>
          <a:stretch>
            <a:fillRect/>
          </a:stretch>
        </p:blipFill>
        <p:spPr>
          <a:xfrm>
            <a:off x="3138996" y="5148065"/>
            <a:ext cx="1390434" cy="289476"/>
          </a:xfrm>
          <a:prstGeom prst="rect">
            <a:avLst/>
          </a:prstGeom>
        </p:spPr>
      </p:pic>
      <p:pic>
        <p:nvPicPr>
          <p:cNvPr id="15" name="Grafik 14">
            <a:extLst>
              <a:ext uri="{FF2B5EF4-FFF2-40B4-BE49-F238E27FC236}">
                <a16:creationId xmlns:a16="http://schemas.microsoft.com/office/drawing/2014/main" id="{D27CC942-5992-451D-AB29-0936776FA64E}"/>
              </a:ext>
            </a:extLst>
          </p:cNvPr>
          <p:cNvPicPr>
            <a:picLocks noChangeAspect="1"/>
          </p:cNvPicPr>
          <p:nvPr/>
        </p:nvPicPr>
        <p:blipFill>
          <a:blip r:embed="rId13"/>
          <a:stretch>
            <a:fillRect/>
          </a:stretch>
        </p:blipFill>
        <p:spPr>
          <a:xfrm>
            <a:off x="3112469" y="4514071"/>
            <a:ext cx="1390387" cy="340598"/>
          </a:xfrm>
          <a:prstGeom prst="rect">
            <a:avLst/>
          </a:prstGeom>
        </p:spPr>
      </p:pic>
      <p:pic>
        <p:nvPicPr>
          <p:cNvPr id="16" name="Grafik 15">
            <a:extLst>
              <a:ext uri="{FF2B5EF4-FFF2-40B4-BE49-F238E27FC236}">
                <a16:creationId xmlns:a16="http://schemas.microsoft.com/office/drawing/2014/main" id="{21A55B86-107D-4A5E-827A-6650798969E4}"/>
              </a:ext>
            </a:extLst>
          </p:cNvPr>
          <p:cNvPicPr>
            <a:picLocks noChangeAspect="1"/>
          </p:cNvPicPr>
          <p:nvPr/>
        </p:nvPicPr>
        <p:blipFill>
          <a:blip r:embed="rId14"/>
          <a:stretch>
            <a:fillRect/>
          </a:stretch>
        </p:blipFill>
        <p:spPr>
          <a:xfrm>
            <a:off x="3153123" y="3820078"/>
            <a:ext cx="1329694" cy="366040"/>
          </a:xfrm>
          <a:prstGeom prst="rect">
            <a:avLst/>
          </a:prstGeom>
        </p:spPr>
      </p:pic>
      <p:pic>
        <p:nvPicPr>
          <p:cNvPr id="17" name="Grafik 16">
            <a:extLst>
              <a:ext uri="{FF2B5EF4-FFF2-40B4-BE49-F238E27FC236}">
                <a16:creationId xmlns:a16="http://schemas.microsoft.com/office/drawing/2014/main" id="{D123B599-3D81-43D2-897D-23688D6D315B}"/>
              </a:ext>
            </a:extLst>
          </p:cNvPr>
          <p:cNvPicPr>
            <a:picLocks noChangeAspect="1"/>
          </p:cNvPicPr>
          <p:nvPr/>
        </p:nvPicPr>
        <p:blipFill>
          <a:blip r:embed="rId15"/>
          <a:stretch>
            <a:fillRect/>
          </a:stretch>
        </p:blipFill>
        <p:spPr>
          <a:xfrm>
            <a:off x="4720384" y="4534089"/>
            <a:ext cx="697587" cy="293983"/>
          </a:xfrm>
          <a:prstGeom prst="rect">
            <a:avLst/>
          </a:prstGeom>
        </p:spPr>
      </p:pic>
      <p:pic>
        <p:nvPicPr>
          <p:cNvPr id="60" name="Grafik 59">
            <a:extLst>
              <a:ext uri="{FF2B5EF4-FFF2-40B4-BE49-F238E27FC236}">
                <a16:creationId xmlns:a16="http://schemas.microsoft.com/office/drawing/2014/main" id="{E524F311-E4A5-49F1-BF6A-39C65AB7BB15}"/>
              </a:ext>
            </a:extLst>
          </p:cNvPr>
          <p:cNvPicPr>
            <a:picLocks noChangeAspect="1"/>
          </p:cNvPicPr>
          <p:nvPr/>
        </p:nvPicPr>
        <p:blipFill>
          <a:blip r:embed="rId15"/>
          <a:stretch>
            <a:fillRect/>
          </a:stretch>
        </p:blipFill>
        <p:spPr>
          <a:xfrm>
            <a:off x="4571772" y="1728281"/>
            <a:ext cx="592496" cy="249695"/>
          </a:xfrm>
          <a:prstGeom prst="rect">
            <a:avLst/>
          </a:prstGeom>
        </p:spPr>
      </p:pic>
      <p:pic>
        <p:nvPicPr>
          <p:cNvPr id="18" name="Grafik 17">
            <a:extLst>
              <a:ext uri="{FF2B5EF4-FFF2-40B4-BE49-F238E27FC236}">
                <a16:creationId xmlns:a16="http://schemas.microsoft.com/office/drawing/2014/main" id="{E1602CDD-D62C-4F0D-B064-D3F3410E0ABF}"/>
              </a:ext>
            </a:extLst>
          </p:cNvPr>
          <p:cNvPicPr>
            <a:picLocks noChangeAspect="1"/>
          </p:cNvPicPr>
          <p:nvPr/>
        </p:nvPicPr>
        <p:blipFill>
          <a:blip r:embed="rId16"/>
          <a:stretch>
            <a:fillRect/>
          </a:stretch>
        </p:blipFill>
        <p:spPr>
          <a:xfrm>
            <a:off x="2936710" y="1720647"/>
            <a:ext cx="1195591" cy="257329"/>
          </a:xfrm>
          <a:prstGeom prst="rect">
            <a:avLst/>
          </a:prstGeom>
        </p:spPr>
      </p:pic>
      <p:pic>
        <p:nvPicPr>
          <p:cNvPr id="63" name="Grafik 62">
            <a:extLst>
              <a:ext uri="{FF2B5EF4-FFF2-40B4-BE49-F238E27FC236}">
                <a16:creationId xmlns:a16="http://schemas.microsoft.com/office/drawing/2014/main" id="{FE90EB40-5B2F-41FF-B745-ECCD40F96337}"/>
              </a:ext>
            </a:extLst>
          </p:cNvPr>
          <p:cNvPicPr>
            <a:picLocks noChangeAspect="1"/>
          </p:cNvPicPr>
          <p:nvPr/>
        </p:nvPicPr>
        <p:blipFill>
          <a:blip r:embed="rId15"/>
          <a:stretch>
            <a:fillRect/>
          </a:stretch>
        </p:blipFill>
        <p:spPr>
          <a:xfrm>
            <a:off x="4611121" y="2430914"/>
            <a:ext cx="592496" cy="249695"/>
          </a:xfrm>
          <a:prstGeom prst="rect">
            <a:avLst/>
          </a:prstGeom>
        </p:spPr>
      </p:pic>
      <p:pic>
        <p:nvPicPr>
          <p:cNvPr id="64" name="Grafik 63">
            <a:extLst>
              <a:ext uri="{FF2B5EF4-FFF2-40B4-BE49-F238E27FC236}">
                <a16:creationId xmlns:a16="http://schemas.microsoft.com/office/drawing/2014/main" id="{1F7F07A6-B8AD-4D31-B6F0-935915EA91C2}"/>
              </a:ext>
            </a:extLst>
          </p:cNvPr>
          <p:cNvPicPr>
            <a:picLocks noChangeAspect="1"/>
          </p:cNvPicPr>
          <p:nvPr/>
        </p:nvPicPr>
        <p:blipFill>
          <a:blip r:embed="rId15"/>
          <a:stretch>
            <a:fillRect/>
          </a:stretch>
        </p:blipFill>
        <p:spPr>
          <a:xfrm>
            <a:off x="4641732" y="3115841"/>
            <a:ext cx="592496" cy="249695"/>
          </a:xfrm>
          <a:prstGeom prst="rect">
            <a:avLst/>
          </a:prstGeom>
        </p:spPr>
      </p:pic>
      <p:pic>
        <p:nvPicPr>
          <p:cNvPr id="19" name="Grafik 18">
            <a:extLst>
              <a:ext uri="{FF2B5EF4-FFF2-40B4-BE49-F238E27FC236}">
                <a16:creationId xmlns:a16="http://schemas.microsoft.com/office/drawing/2014/main" id="{FEC11802-383C-4F79-8EB6-EC8967D49AE7}"/>
              </a:ext>
            </a:extLst>
          </p:cNvPr>
          <p:cNvPicPr>
            <a:picLocks noChangeAspect="1"/>
          </p:cNvPicPr>
          <p:nvPr/>
        </p:nvPicPr>
        <p:blipFill>
          <a:blip r:embed="rId17"/>
          <a:stretch>
            <a:fillRect/>
          </a:stretch>
        </p:blipFill>
        <p:spPr>
          <a:xfrm>
            <a:off x="2920501" y="2412216"/>
            <a:ext cx="1249012" cy="270057"/>
          </a:xfrm>
          <a:prstGeom prst="rect">
            <a:avLst/>
          </a:prstGeom>
        </p:spPr>
      </p:pic>
      <p:cxnSp>
        <p:nvCxnSpPr>
          <p:cNvPr id="22" name="Gerade Verbindung mit Pfeil 21">
            <a:extLst>
              <a:ext uri="{FF2B5EF4-FFF2-40B4-BE49-F238E27FC236}">
                <a16:creationId xmlns:a16="http://schemas.microsoft.com/office/drawing/2014/main" id="{808933D8-B1EA-4041-ABF5-85113C094048}"/>
              </a:ext>
            </a:extLst>
          </p:cNvPr>
          <p:cNvCxnSpPr>
            <a:cxnSpLocks/>
            <a:stCxn id="18" idx="3"/>
            <a:endCxn id="60" idx="1"/>
          </p:cNvCxnSpPr>
          <p:nvPr/>
        </p:nvCxnSpPr>
        <p:spPr>
          <a:xfrm>
            <a:off x="4132301" y="1849312"/>
            <a:ext cx="439471" cy="381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851210C7-8626-4AC0-8BFB-F160A351D3BC}"/>
              </a:ext>
            </a:extLst>
          </p:cNvPr>
          <p:cNvCxnSpPr>
            <a:cxnSpLocks/>
            <a:stCxn id="19" idx="3"/>
            <a:endCxn id="63" idx="1"/>
          </p:cNvCxnSpPr>
          <p:nvPr/>
        </p:nvCxnSpPr>
        <p:spPr>
          <a:xfrm>
            <a:off x="4169513" y="2547245"/>
            <a:ext cx="441608" cy="851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155788E3-B36B-4292-B1CE-2F21ECCA7856}"/>
              </a:ext>
            </a:extLst>
          </p:cNvPr>
          <p:cNvCxnSpPr>
            <a:cxnSpLocks/>
            <a:endCxn id="64" idx="1"/>
          </p:cNvCxnSpPr>
          <p:nvPr/>
        </p:nvCxnSpPr>
        <p:spPr>
          <a:xfrm>
            <a:off x="4167261" y="3234183"/>
            <a:ext cx="474471" cy="650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1E361946-33CA-4961-9397-E5D481DAFD87}"/>
              </a:ext>
            </a:extLst>
          </p:cNvPr>
          <p:cNvCxnSpPr>
            <a:cxnSpLocks/>
            <a:stCxn id="16" idx="3"/>
            <a:endCxn id="17" idx="0"/>
          </p:cNvCxnSpPr>
          <p:nvPr/>
        </p:nvCxnSpPr>
        <p:spPr>
          <a:xfrm>
            <a:off x="4482817" y="4003098"/>
            <a:ext cx="586361" cy="53099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CAB506D7-94A4-4FA4-A5AE-A27DF3B8C745}"/>
              </a:ext>
            </a:extLst>
          </p:cNvPr>
          <p:cNvCxnSpPr>
            <a:cxnSpLocks/>
            <a:stCxn id="15" idx="3"/>
            <a:endCxn id="17" idx="1"/>
          </p:cNvCxnSpPr>
          <p:nvPr/>
        </p:nvCxnSpPr>
        <p:spPr>
          <a:xfrm flipV="1">
            <a:off x="4502856" y="4681081"/>
            <a:ext cx="217528" cy="328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Gerade Verbindung mit Pfeil 54">
            <a:extLst>
              <a:ext uri="{FF2B5EF4-FFF2-40B4-BE49-F238E27FC236}">
                <a16:creationId xmlns:a16="http://schemas.microsoft.com/office/drawing/2014/main" id="{F6B0342B-49D8-4076-8123-5837C764F99F}"/>
              </a:ext>
            </a:extLst>
          </p:cNvPr>
          <p:cNvCxnSpPr>
            <a:cxnSpLocks/>
            <a:stCxn id="10" idx="3"/>
            <a:endCxn id="17" idx="2"/>
          </p:cNvCxnSpPr>
          <p:nvPr/>
        </p:nvCxnSpPr>
        <p:spPr>
          <a:xfrm flipV="1">
            <a:off x="4529430" y="4828072"/>
            <a:ext cx="539748" cy="46473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Gerade Verbindung mit Pfeil 57">
            <a:extLst>
              <a:ext uri="{FF2B5EF4-FFF2-40B4-BE49-F238E27FC236}">
                <a16:creationId xmlns:a16="http://schemas.microsoft.com/office/drawing/2014/main" id="{6C021F37-A6EA-4315-B757-4A1F514086A9}"/>
              </a:ext>
            </a:extLst>
          </p:cNvPr>
          <p:cNvCxnSpPr>
            <a:cxnSpLocks/>
          </p:cNvCxnSpPr>
          <p:nvPr/>
        </p:nvCxnSpPr>
        <p:spPr>
          <a:xfrm flipV="1">
            <a:off x="4247932" y="4776916"/>
            <a:ext cx="3315" cy="39273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Gerade Verbindung mit Pfeil 92">
            <a:extLst>
              <a:ext uri="{FF2B5EF4-FFF2-40B4-BE49-F238E27FC236}">
                <a16:creationId xmlns:a16="http://schemas.microsoft.com/office/drawing/2014/main" id="{2CA1174D-6A3F-4FC6-9AB6-47BC8CC275ED}"/>
              </a:ext>
            </a:extLst>
          </p:cNvPr>
          <p:cNvCxnSpPr>
            <a:cxnSpLocks/>
          </p:cNvCxnSpPr>
          <p:nvPr/>
        </p:nvCxnSpPr>
        <p:spPr>
          <a:xfrm flipH="1" flipV="1">
            <a:off x="4251247" y="4140679"/>
            <a:ext cx="1" cy="4148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98" name="Grafik 97">
            <a:extLst>
              <a:ext uri="{FF2B5EF4-FFF2-40B4-BE49-F238E27FC236}">
                <a16:creationId xmlns:a16="http://schemas.microsoft.com/office/drawing/2014/main" id="{F21C8434-71DA-4D6F-A328-29AFDA088C57}"/>
              </a:ext>
            </a:extLst>
          </p:cNvPr>
          <p:cNvPicPr>
            <a:picLocks noChangeAspect="1"/>
          </p:cNvPicPr>
          <p:nvPr/>
        </p:nvPicPr>
        <p:blipFill>
          <a:blip r:embed="rId2"/>
          <a:stretch>
            <a:fillRect/>
          </a:stretch>
        </p:blipFill>
        <p:spPr>
          <a:xfrm>
            <a:off x="3989257" y="4887078"/>
            <a:ext cx="183457" cy="202915"/>
          </a:xfrm>
          <a:prstGeom prst="rect">
            <a:avLst/>
          </a:prstGeom>
        </p:spPr>
      </p:pic>
      <p:pic>
        <p:nvPicPr>
          <p:cNvPr id="99" name="Grafik 98">
            <a:extLst>
              <a:ext uri="{FF2B5EF4-FFF2-40B4-BE49-F238E27FC236}">
                <a16:creationId xmlns:a16="http://schemas.microsoft.com/office/drawing/2014/main" id="{EBE5FDDB-EBC7-4551-9E7A-10AE3C337303}"/>
              </a:ext>
            </a:extLst>
          </p:cNvPr>
          <p:cNvPicPr>
            <a:picLocks noChangeAspect="1"/>
          </p:cNvPicPr>
          <p:nvPr/>
        </p:nvPicPr>
        <p:blipFill>
          <a:blip r:embed="rId2"/>
          <a:stretch>
            <a:fillRect/>
          </a:stretch>
        </p:blipFill>
        <p:spPr>
          <a:xfrm>
            <a:off x="4565837" y="4414766"/>
            <a:ext cx="183457" cy="202915"/>
          </a:xfrm>
          <a:prstGeom prst="rect">
            <a:avLst/>
          </a:prstGeom>
        </p:spPr>
      </p:pic>
      <p:pic>
        <p:nvPicPr>
          <p:cNvPr id="100" name="Grafik 99">
            <a:extLst>
              <a:ext uri="{FF2B5EF4-FFF2-40B4-BE49-F238E27FC236}">
                <a16:creationId xmlns:a16="http://schemas.microsoft.com/office/drawing/2014/main" id="{42B717A4-E987-4557-8C53-79B0907E143E}"/>
              </a:ext>
            </a:extLst>
          </p:cNvPr>
          <p:cNvPicPr>
            <a:picLocks noChangeAspect="1"/>
          </p:cNvPicPr>
          <p:nvPr/>
        </p:nvPicPr>
        <p:blipFill>
          <a:blip r:embed="rId2"/>
          <a:stretch>
            <a:fillRect/>
          </a:stretch>
        </p:blipFill>
        <p:spPr>
          <a:xfrm>
            <a:off x="4830069" y="4080677"/>
            <a:ext cx="183457" cy="202915"/>
          </a:xfrm>
          <a:prstGeom prst="rect">
            <a:avLst/>
          </a:prstGeom>
        </p:spPr>
      </p:pic>
      <p:pic>
        <p:nvPicPr>
          <p:cNvPr id="111" name="Grafik 110">
            <a:extLst>
              <a:ext uri="{FF2B5EF4-FFF2-40B4-BE49-F238E27FC236}">
                <a16:creationId xmlns:a16="http://schemas.microsoft.com/office/drawing/2014/main" id="{8EB81141-97FD-44C7-8757-0781AA0F7D48}"/>
              </a:ext>
            </a:extLst>
          </p:cNvPr>
          <p:cNvPicPr>
            <a:picLocks noChangeAspect="1"/>
          </p:cNvPicPr>
          <p:nvPr/>
        </p:nvPicPr>
        <p:blipFill>
          <a:blip r:embed="rId2"/>
          <a:stretch>
            <a:fillRect/>
          </a:stretch>
        </p:blipFill>
        <p:spPr>
          <a:xfrm>
            <a:off x="4881539" y="5046607"/>
            <a:ext cx="183457" cy="202915"/>
          </a:xfrm>
          <a:prstGeom prst="rect">
            <a:avLst/>
          </a:prstGeom>
        </p:spPr>
      </p:pic>
      <p:pic>
        <p:nvPicPr>
          <p:cNvPr id="113" name="Grafik 112">
            <a:extLst>
              <a:ext uri="{FF2B5EF4-FFF2-40B4-BE49-F238E27FC236}">
                <a16:creationId xmlns:a16="http://schemas.microsoft.com/office/drawing/2014/main" id="{291E4DA5-6DCC-452A-94D6-AB8C02A12D44}"/>
              </a:ext>
            </a:extLst>
          </p:cNvPr>
          <p:cNvPicPr>
            <a:picLocks noChangeAspect="1"/>
          </p:cNvPicPr>
          <p:nvPr/>
        </p:nvPicPr>
        <p:blipFill>
          <a:blip r:embed="rId2"/>
          <a:stretch>
            <a:fillRect/>
          </a:stretch>
        </p:blipFill>
        <p:spPr>
          <a:xfrm>
            <a:off x="4318366" y="3291761"/>
            <a:ext cx="183457" cy="202915"/>
          </a:xfrm>
          <a:prstGeom prst="rect">
            <a:avLst/>
          </a:prstGeom>
        </p:spPr>
      </p:pic>
      <p:pic>
        <p:nvPicPr>
          <p:cNvPr id="114" name="Grafik 113">
            <a:extLst>
              <a:ext uri="{FF2B5EF4-FFF2-40B4-BE49-F238E27FC236}">
                <a16:creationId xmlns:a16="http://schemas.microsoft.com/office/drawing/2014/main" id="{7452EB72-9BBB-4377-B3A9-CD15390E1A94}"/>
              </a:ext>
            </a:extLst>
          </p:cNvPr>
          <p:cNvPicPr>
            <a:picLocks noChangeAspect="1"/>
          </p:cNvPicPr>
          <p:nvPr/>
        </p:nvPicPr>
        <p:blipFill>
          <a:blip r:embed="rId2"/>
          <a:stretch>
            <a:fillRect/>
          </a:stretch>
        </p:blipFill>
        <p:spPr>
          <a:xfrm>
            <a:off x="4315644" y="2608978"/>
            <a:ext cx="183457" cy="202915"/>
          </a:xfrm>
          <a:prstGeom prst="rect">
            <a:avLst/>
          </a:prstGeom>
        </p:spPr>
      </p:pic>
      <p:pic>
        <p:nvPicPr>
          <p:cNvPr id="115" name="Grafik 114">
            <a:extLst>
              <a:ext uri="{FF2B5EF4-FFF2-40B4-BE49-F238E27FC236}">
                <a16:creationId xmlns:a16="http://schemas.microsoft.com/office/drawing/2014/main" id="{0A14EE9A-D181-45C0-B168-7EB57C829739}"/>
              </a:ext>
            </a:extLst>
          </p:cNvPr>
          <p:cNvPicPr>
            <a:picLocks noChangeAspect="1"/>
          </p:cNvPicPr>
          <p:nvPr/>
        </p:nvPicPr>
        <p:blipFill>
          <a:blip r:embed="rId2"/>
          <a:stretch>
            <a:fillRect/>
          </a:stretch>
        </p:blipFill>
        <p:spPr>
          <a:xfrm>
            <a:off x="4254763" y="1906345"/>
            <a:ext cx="183457" cy="202915"/>
          </a:xfrm>
          <a:prstGeom prst="rect">
            <a:avLst/>
          </a:prstGeom>
        </p:spPr>
      </p:pic>
      <p:pic>
        <p:nvPicPr>
          <p:cNvPr id="71" name="Grafik 70">
            <a:extLst>
              <a:ext uri="{FF2B5EF4-FFF2-40B4-BE49-F238E27FC236}">
                <a16:creationId xmlns:a16="http://schemas.microsoft.com/office/drawing/2014/main" id="{BBE00658-74A1-4FF4-A9B1-E42CA493BFA1}"/>
              </a:ext>
            </a:extLst>
          </p:cNvPr>
          <p:cNvPicPr>
            <a:picLocks noChangeAspect="1"/>
          </p:cNvPicPr>
          <p:nvPr/>
        </p:nvPicPr>
        <p:blipFill>
          <a:blip r:embed="rId18"/>
          <a:stretch>
            <a:fillRect/>
          </a:stretch>
        </p:blipFill>
        <p:spPr>
          <a:xfrm>
            <a:off x="2995577" y="3103261"/>
            <a:ext cx="1157154" cy="256227"/>
          </a:xfrm>
          <a:prstGeom prst="rect">
            <a:avLst/>
          </a:prstGeom>
        </p:spPr>
      </p:pic>
    </p:spTree>
    <p:extLst>
      <p:ext uri="{BB962C8B-B14F-4D97-AF65-F5344CB8AC3E}">
        <p14:creationId xmlns:p14="http://schemas.microsoft.com/office/powerpoint/2010/main" val="1020887020"/>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Pairwise vs. Fully Integrated Alignment </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13</a:t>
            </a:fld>
            <a:endParaRPr lang="en" kern="0">
              <a:solidFill>
                <a:srgbClr val="0091EA"/>
              </a:solidFill>
            </a:endParaRPr>
          </a:p>
        </p:txBody>
      </p:sp>
      <p:graphicFrame>
        <p:nvGraphicFramePr>
          <p:cNvPr id="7" name="Diagramm 6">
            <a:extLst>
              <a:ext uri="{FF2B5EF4-FFF2-40B4-BE49-F238E27FC236}">
                <a16:creationId xmlns:a16="http://schemas.microsoft.com/office/drawing/2014/main" id="{2A6BD51E-EEE1-474B-A97E-F2112BD95750}"/>
              </a:ext>
            </a:extLst>
          </p:cNvPr>
          <p:cNvGraphicFramePr/>
          <p:nvPr>
            <p:extLst/>
          </p:nvPr>
        </p:nvGraphicFramePr>
        <p:xfrm>
          <a:off x="7916767" y="410828"/>
          <a:ext cx="3521389" cy="21340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Placeholder 2">
            <a:extLst>
              <a:ext uri="{FF2B5EF4-FFF2-40B4-BE49-F238E27FC236}">
                <a16:creationId xmlns:a16="http://schemas.microsoft.com/office/drawing/2014/main" id="{495F0477-F2F4-48B2-BAF1-24E9B3E9E6B1}"/>
              </a:ext>
            </a:extLst>
          </p:cNvPr>
          <p:cNvSpPr>
            <a:spLocks noGrp="1"/>
          </p:cNvSpPr>
          <p:nvPr>
            <p:ph type="body" idx="1"/>
          </p:nvPr>
        </p:nvSpPr>
        <p:spPr>
          <a:xfrm>
            <a:off x="7637653" y="2829373"/>
            <a:ext cx="4009771" cy="2461956"/>
          </a:xfrm>
        </p:spPr>
        <p:txBody>
          <a:bodyPr/>
          <a:lstStyle/>
          <a:p>
            <a:pPr>
              <a:buFont typeface="Wingdings" panose="05000000000000000000" pitchFamily="2" charset="2"/>
              <a:buChar char="Ø"/>
            </a:pPr>
            <a:r>
              <a:rPr lang="en-US" sz="2133" dirty="0">
                <a:solidFill>
                  <a:srgbClr val="FF0000"/>
                </a:solidFill>
              </a:rPr>
              <a:t>Fully Integrated Alignment </a:t>
            </a:r>
            <a:r>
              <a:rPr lang="en-US" sz="2133" dirty="0"/>
              <a:t>yields benefits primarily when oriented towards rich, </a:t>
            </a:r>
            <a:r>
              <a:rPr lang="en-US" sz="2133" dirty="0">
                <a:solidFill>
                  <a:srgbClr val="FF0000"/>
                </a:solidFill>
              </a:rPr>
              <a:t>foundational representations </a:t>
            </a:r>
            <a:r>
              <a:rPr lang="en-US" sz="2133" dirty="0"/>
              <a:t>rather than those refined through fine-tuning.</a:t>
            </a:r>
          </a:p>
        </p:txBody>
      </p:sp>
      <p:pic>
        <p:nvPicPr>
          <p:cNvPr id="3" name="Grafik 2">
            <a:extLst>
              <a:ext uri="{FF2B5EF4-FFF2-40B4-BE49-F238E27FC236}">
                <a16:creationId xmlns:a16="http://schemas.microsoft.com/office/drawing/2014/main" id="{14E21B8D-D5A4-4AB8-8FEC-14008D2107F8}"/>
              </a:ext>
            </a:extLst>
          </p:cNvPr>
          <p:cNvPicPr>
            <a:picLocks noChangeAspect="1"/>
          </p:cNvPicPr>
          <p:nvPr/>
        </p:nvPicPr>
        <p:blipFill>
          <a:blip r:embed="rId7"/>
          <a:stretch>
            <a:fillRect/>
          </a:stretch>
        </p:blipFill>
        <p:spPr>
          <a:xfrm>
            <a:off x="1293482" y="2260363"/>
            <a:ext cx="5819775" cy="3076575"/>
          </a:xfrm>
          <a:prstGeom prst="rect">
            <a:avLst/>
          </a:prstGeom>
        </p:spPr>
      </p:pic>
    </p:spTree>
    <p:extLst>
      <p:ext uri="{BB962C8B-B14F-4D97-AF65-F5344CB8AC3E}">
        <p14:creationId xmlns:p14="http://schemas.microsoft.com/office/powerpoint/2010/main" val="4242214384"/>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Successful self alignment improves alignment towards text</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14</a:t>
            </a:fld>
            <a:endParaRPr lang="en" kern="0">
              <a:solidFill>
                <a:srgbClr val="0091EA"/>
              </a:solidFill>
            </a:endParaRPr>
          </a:p>
        </p:txBody>
      </p:sp>
      <p:pic>
        <p:nvPicPr>
          <p:cNvPr id="3" name="Grafik 2">
            <a:extLst>
              <a:ext uri="{FF2B5EF4-FFF2-40B4-BE49-F238E27FC236}">
                <a16:creationId xmlns:a16="http://schemas.microsoft.com/office/drawing/2014/main" id="{2A3A031D-6DB0-4A31-A3DD-1309496B4FA1}"/>
              </a:ext>
            </a:extLst>
          </p:cNvPr>
          <p:cNvPicPr>
            <a:picLocks noChangeAspect="1"/>
          </p:cNvPicPr>
          <p:nvPr/>
        </p:nvPicPr>
        <p:blipFill>
          <a:blip r:embed="rId2"/>
          <a:stretch>
            <a:fillRect/>
          </a:stretch>
        </p:blipFill>
        <p:spPr>
          <a:xfrm>
            <a:off x="2326910" y="2681592"/>
            <a:ext cx="7538179" cy="2007140"/>
          </a:xfrm>
          <a:prstGeom prst="rect">
            <a:avLst/>
          </a:prstGeom>
        </p:spPr>
      </p:pic>
    </p:spTree>
    <p:extLst>
      <p:ext uri="{BB962C8B-B14F-4D97-AF65-F5344CB8AC3E}">
        <p14:creationId xmlns:p14="http://schemas.microsoft.com/office/powerpoint/2010/main" val="3274784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Self Alignment and LLaVa generated captions</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15</a:t>
            </a:fld>
            <a:endParaRPr lang="en" kern="0">
              <a:solidFill>
                <a:srgbClr val="0091EA"/>
              </a:solidFill>
            </a:endParaRPr>
          </a:p>
        </p:txBody>
      </p:sp>
      <p:sp>
        <p:nvSpPr>
          <p:cNvPr id="6" name="Text Placeholder 2">
            <a:extLst>
              <a:ext uri="{FF2B5EF4-FFF2-40B4-BE49-F238E27FC236}">
                <a16:creationId xmlns:a16="http://schemas.microsoft.com/office/drawing/2014/main" id="{495F0477-F2F4-48B2-BAF1-24E9B3E9E6B1}"/>
              </a:ext>
            </a:extLst>
          </p:cNvPr>
          <p:cNvSpPr>
            <a:spLocks noGrp="1"/>
          </p:cNvSpPr>
          <p:nvPr>
            <p:ph type="body" idx="1"/>
          </p:nvPr>
        </p:nvSpPr>
        <p:spPr>
          <a:xfrm>
            <a:off x="7637653" y="2829373"/>
            <a:ext cx="4009771" cy="2461956"/>
          </a:xfrm>
        </p:spPr>
        <p:txBody>
          <a:bodyPr/>
          <a:lstStyle/>
          <a:p>
            <a:pPr>
              <a:buFont typeface="Wingdings" panose="05000000000000000000" pitchFamily="2" charset="2"/>
              <a:buChar char="Ø"/>
            </a:pPr>
            <a:r>
              <a:rPr lang="en-US" sz="2133" dirty="0">
                <a:solidFill>
                  <a:schemeClr val="tx1"/>
                </a:solidFill>
              </a:rPr>
              <a:t>Fine-tuning on LLaVa generated captions paired with self alignment significantly improve upon base version</a:t>
            </a:r>
          </a:p>
        </p:txBody>
      </p:sp>
      <p:pic>
        <p:nvPicPr>
          <p:cNvPr id="3" name="Grafik 2">
            <a:extLst>
              <a:ext uri="{FF2B5EF4-FFF2-40B4-BE49-F238E27FC236}">
                <a16:creationId xmlns:a16="http://schemas.microsoft.com/office/drawing/2014/main" id="{53522E0F-53D2-443E-AE6C-CEFBBF037915}"/>
              </a:ext>
            </a:extLst>
          </p:cNvPr>
          <p:cNvPicPr>
            <a:picLocks noChangeAspect="1"/>
          </p:cNvPicPr>
          <p:nvPr/>
        </p:nvPicPr>
        <p:blipFill>
          <a:blip r:embed="rId2"/>
          <a:stretch>
            <a:fillRect/>
          </a:stretch>
        </p:blipFill>
        <p:spPr>
          <a:xfrm>
            <a:off x="500727" y="2270191"/>
            <a:ext cx="6889127" cy="3190267"/>
          </a:xfrm>
          <a:prstGeom prst="rect">
            <a:avLst/>
          </a:prstGeom>
        </p:spPr>
      </p:pic>
      <p:sp>
        <p:nvSpPr>
          <p:cNvPr id="5" name="Rechteck 4">
            <a:extLst>
              <a:ext uri="{FF2B5EF4-FFF2-40B4-BE49-F238E27FC236}">
                <a16:creationId xmlns:a16="http://schemas.microsoft.com/office/drawing/2014/main" id="{4AFF5C67-41A6-4D7C-93E9-969EB16513B1}"/>
              </a:ext>
            </a:extLst>
          </p:cNvPr>
          <p:cNvSpPr/>
          <p:nvPr/>
        </p:nvSpPr>
        <p:spPr>
          <a:xfrm>
            <a:off x="544576" y="3988340"/>
            <a:ext cx="6744684" cy="13748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66729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Fusion</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16</a:t>
            </a:fld>
            <a:endParaRPr lang="en" kern="0">
              <a:solidFill>
                <a:srgbClr val="0091EA"/>
              </a:solidFill>
            </a:endParaRPr>
          </a:p>
        </p:txBody>
      </p:sp>
      <p:sp>
        <p:nvSpPr>
          <p:cNvPr id="6" name="Text Placeholder 2">
            <a:extLst>
              <a:ext uri="{FF2B5EF4-FFF2-40B4-BE49-F238E27FC236}">
                <a16:creationId xmlns:a16="http://schemas.microsoft.com/office/drawing/2014/main" id="{495F0477-F2F4-48B2-BAF1-24E9B3E9E6B1}"/>
              </a:ext>
            </a:extLst>
          </p:cNvPr>
          <p:cNvSpPr>
            <a:spLocks noGrp="1"/>
          </p:cNvSpPr>
          <p:nvPr>
            <p:ph type="body" idx="1"/>
          </p:nvPr>
        </p:nvSpPr>
        <p:spPr>
          <a:xfrm>
            <a:off x="7637653" y="2829373"/>
            <a:ext cx="4009771" cy="2461956"/>
          </a:xfrm>
        </p:spPr>
        <p:txBody>
          <a:bodyPr/>
          <a:lstStyle/>
          <a:p>
            <a:pPr>
              <a:buFont typeface="Wingdings" panose="05000000000000000000" pitchFamily="2" charset="2"/>
              <a:buChar char="Ø"/>
            </a:pPr>
            <a:r>
              <a:rPr lang="en-US" sz="2133" dirty="0"/>
              <a:t>Adding a simple attention based fusion head shows robustness against missing modalities to some extent</a:t>
            </a:r>
          </a:p>
          <a:p>
            <a:pPr>
              <a:buFont typeface="Wingdings" panose="05000000000000000000" pitchFamily="2" charset="2"/>
              <a:buChar char="Ø"/>
            </a:pPr>
            <a:r>
              <a:rPr lang="en-US" sz="2133" dirty="0"/>
              <a:t>Aligned encoders learn complimentary features on NTU but fail on DAA</a:t>
            </a:r>
          </a:p>
          <a:p>
            <a:pPr>
              <a:buFont typeface="Wingdings" panose="05000000000000000000" pitchFamily="2" charset="2"/>
              <a:buChar char="Ø"/>
            </a:pPr>
            <a:endParaRPr lang="en-US" sz="2133" dirty="0"/>
          </a:p>
        </p:txBody>
      </p:sp>
      <p:pic>
        <p:nvPicPr>
          <p:cNvPr id="8" name="Grafik 7">
            <a:extLst>
              <a:ext uri="{FF2B5EF4-FFF2-40B4-BE49-F238E27FC236}">
                <a16:creationId xmlns:a16="http://schemas.microsoft.com/office/drawing/2014/main" id="{8E7F7E8C-A067-4F53-A1C6-D6916383732D}"/>
              </a:ext>
            </a:extLst>
          </p:cNvPr>
          <p:cNvPicPr>
            <a:picLocks noChangeAspect="1"/>
          </p:cNvPicPr>
          <p:nvPr/>
        </p:nvPicPr>
        <p:blipFill>
          <a:blip r:embed="rId2"/>
          <a:stretch>
            <a:fillRect/>
          </a:stretch>
        </p:blipFill>
        <p:spPr>
          <a:xfrm>
            <a:off x="946623" y="1477860"/>
            <a:ext cx="5772150" cy="5143500"/>
          </a:xfrm>
          <a:prstGeom prst="rect">
            <a:avLst/>
          </a:prstGeom>
        </p:spPr>
      </p:pic>
    </p:spTree>
    <p:extLst>
      <p:ext uri="{BB962C8B-B14F-4D97-AF65-F5344CB8AC3E}">
        <p14:creationId xmlns:p14="http://schemas.microsoft.com/office/powerpoint/2010/main" val="3082962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 </a:t>
            </a:r>
            <a:br>
              <a:rPr lang="en-US" dirty="0"/>
            </a:br>
            <a:r>
              <a:rPr lang="en-US" b="1" dirty="0"/>
              <a:t>Conclusions</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17</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1347627"/>
            <a:ext cx="10095600" cy="4764800"/>
          </a:xfrm>
        </p:spPr>
        <p:txBody>
          <a:bodyPr/>
          <a:lstStyle/>
          <a:p>
            <a:r>
              <a:rPr lang="en-US" sz="2400" b="1" dirty="0">
                <a:solidFill>
                  <a:schemeClr val="tx1"/>
                </a:solidFill>
              </a:rPr>
              <a:t>Created CMVRA: </a:t>
            </a:r>
            <a:r>
              <a:rPr lang="en-US" sz="2400" dirty="0">
                <a:solidFill>
                  <a:schemeClr val="tx1"/>
                </a:solidFill>
              </a:rPr>
              <a:t>A novel framework unifying RGB, depth, infrared, skeleton, and text data into a shared embedding for enhanced action recognition.</a:t>
            </a:r>
          </a:p>
          <a:p>
            <a:r>
              <a:rPr lang="en-US" sz="2400" b="1" dirty="0">
                <a:solidFill>
                  <a:schemeClr val="tx1"/>
                </a:solidFill>
              </a:rPr>
              <a:t>Advanced Alignment Techniques: </a:t>
            </a:r>
            <a:r>
              <a:rPr lang="en-US" sz="2400" dirty="0">
                <a:solidFill>
                  <a:schemeClr val="tx1"/>
                </a:solidFill>
              </a:rPr>
              <a:t>Achieved faster encoder alignment with modality-specific pre-training and improved embedding quality through self-alignment.</a:t>
            </a:r>
          </a:p>
          <a:p>
            <a:r>
              <a:rPr lang="en-US" sz="2400" b="1" dirty="0">
                <a:solidFill>
                  <a:schemeClr val="tx1"/>
                </a:solidFill>
              </a:rPr>
              <a:t>Integrated Vision-Language Models: </a:t>
            </a:r>
            <a:r>
              <a:rPr lang="en-US" sz="2400" dirty="0">
                <a:solidFill>
                  <a:schemeClr val="tx1"/>
                </a:solidFill>
              </a:rPr>
              <a:t>Demonstrated the potential of vision-language models for label-free classification across modalities</a:t>
            </a:r>
          </a:p>
        </p:txBody>
      </p:sp>
    </p:spTree>
    <p:extLst>
      <p:ext uri="{BB962C8B-B14F-4D97-AF65-F5344CB8AC3E}">
        <p14:creationId xmlns:p14="http://schemas.microsoft.com/office/powerpoint/2010/main" val="1870038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6"/>
          <p:cNvSpPr txBox="1">
            <a:spLocks noGrp="1"/>
          </p:cNvSpPr>
          <p:nvPr>
            <p:ph type="ctrTitle" idx="4294967295"/>
          </p:nvPr>
        </p:nvSpPr>
        <p:spPr>
          <a:xfrm>
            <a:off x="914400" y="688723"/>
            <a:ext cx="10363200" cy="1546400"/>
          </a:xfrm>
          <a:prstGeom prst="rect">
            <a:avLst/>
          </a:prstGeom>
        </p:spPr>
        <p:txBody>
          <a:bodyPr spcFirstLastPara="1" wrap="square" lIns="121900" tIns="121900" rIns="121900" bIns="121900" anchor="b" anchorCtr="0">
            <a:noAutofit/>
          </a:bodyPr>
          <a:lstStyle/>
          <a:p>
            <a:r>
              <a:rPr lang="en" sz="8000" b="1"/>
              <a:t>Thanks!</a:t>
            </a:r>
            <a:endParaRPr sz="8000" b="1"/>
          </a:p>
        </p:txBody>
      </p:sp>
      <p:sp>
        <p:nvSpPr>
          <p:cNvPr id="404" name="Google Shape;404;p36"/>
          <p:cNvSpPr txBox="1">
            <a:spLocks noGrp="1"/>
          </p:cNvSpPr>
          <p:nvPr>
            <p:ph type="subTitle" idx="4294967295"/>
          </p:nvPr>
        </p:nvSpPr>
        <p:spPr>
          <a:xfrm>
            <a:off x="914400" y="2186551"/>
            <a:ext cx="8791600" cy="1046400"/>
          </a:xfrm>
          <a:prstGeom prst="rect">
            <a:avLst/>
          </a:prstGeom>
        </p:spPr>
        <p:txBody>
          <a:bodyPr spcFirstLastPara="1" wrap="square" lIns="121900" tIns="121900" rIns="121900" bIns="121900" anchor="t" anchorCtr="0">
            <a:noAutofit/>
          </a:bodyPr>
          <a:lstStyle/>
          <a:p>
            <a:pPr marL="0" indent="0">
              <a:spcBef>
                <a:spcPts val="800"/>
              </a:spcBef>
              <a:buNone/>
            </a:pPr>
            <a:r>
              <a:rPr lang="en" sz="4800" b="1"/>
              <a:t>Any questions?</a:t>
            </a:r>
            <a:endParaRPr sz="4800" b="1"/>
          </a:p>
        </p:txBody>
      </p:sp>
      <p:sp>
        <p:nvSpPr>
          <p:cNvPr id="406" name="Google Shape;406;p36"/>
          <p:cNvSpPr txBox="1">
            <a:spLocks noGrp="1"/>
          </p:cNvSpPr>
          <p:nvPr>
            <p:ph type="sldNum" idx="12"/>
          </p:nvPr>
        </p:nvSpPr>
        <p:spPr>
          <a:xfrm>
            <a:off x="11205845" y="6333135"/>
            <a:ext cx="731600" cy="524800"/>
          </a:xfrm>
          <a:prstGeom prst="rect">
            <a:avLst/>
          </a:prstGeom>
        </p:spPr>
        <p:txBody>
          <a:bodyPr spcFirstLastPara="1" wrap="square" lIns="121900" tIns="121900" rIns="121900" bIns="121900" anchor="t" anchorCtr="0">
            <a:noAutofit/>
          </a:bodyPr>
          <a:lstStyle/>
          <a:p>
            <a:pPr defTabSz="1219170">
              <a:buClr>
                <a:srgbClr val="000000"/>
              </a:buClr>
            </a:pPr>
            <a:fld id="{00000000-1234-1234-1234-123412341234}" type="slidenum">
              <a:rPr lang="en" kern="0">
                <a:solidFill>
                  <a:srgbClr val="0091EA"/>
                </a:solidFill>
              </a:rPr>
              <a:pPr defTabSz="1219170">
                <a:buClr>
                  <a:srgbClr val="000000"/>
                </a:buClr>
              </a:pPr>
              <a:t>18</a:t>
            </a:fld>
            <a:endParaRPr kern="0">
              <a:solidFill>
                <a:srgbClr val="0091E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Beating </a:t>
            </a:r>
            <a:r>
              <a:rPr lang="en-US" b="1" dirty="0" err="1"/>
              <a:t>sota</a:t>
            </a:r>
            <a:r>
              <a:rPr lang="en-US" b="1" dirty="0"/>
              <a:t> on DAA ZS benchmark</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19</a:t>
            </a:fld>
            <a:endParaRPr lang="en" kern="0">
              <a:solidFill>
                <a:srgbClr val="0091EA"/>
              </a:solidFill>
            </a:endParaRPr>
          </a:p>
        </p:txBody>
      </p:sp>
      <p:sp>
        <p:nvSpPr>
          <p:cNvPr id="6" name="Text Placeholder 2">
            <a:extLst>
              <a:ext uri="{FF2B5EF4-FFF2-40B4-BE49-F238E27FC236}">
                <a16:creationId xmlns:a16="http://schemas.microsoft.com/office/drawing/2014/main" id="{495F0477-F2F4-48B2-BAF1-24E9B3E9E6B1}"/>
              </a:ext>
            </a:extLst>
          </p:cNvPr>
          <p:cNvSpPr>
            <a:spLocks noGrp="1"/>
          </p:cNvSpPr>
          <p:nvPr>
            <p:ph type="body" idx="1"/>
          </p:nvPr>
        </p:nvSpPr>
        <p:spPr>
          <a:xfrm>
            <a:off x="7637653" y="2829373"/>
            <a:ext cx="4009771" cy="2461956"/>
          </a:xfrm>
        </p:spPr>
        <p:txBody>
          <a:bodyPr/>
          <a:lstStyle/>
          <a:p>
            <a:pPr>
              <a:buFont typeface="Wingdings" panose="05000000000000000000" pitchFamily="2" charset="2"/>
              <a:buChar char="Ø"/>
            </a:pPr>
            <a:r>
              <a:rPr lang="en-US" sz="2133" dirty="0">
                <a:solidFill>
                  <a:schemeClr val="tx1"/>
                </a:solidFill>
              </a:rPr>
              <a:t>We beat previous </a:t>
            </a:r>
            <a:r>
              <a:rPr lang="en-US" sz="2133" dirty="0" err="1">
                <a:solidFill>
                  <a:schemeClr val="tx1"/>
                </a:solidFill>
              </a:rPr>
              <a:t>sota</a:t>
            </a:r>
            <a:r>
              <a:rPr lang="en-US" sz="2133" dirty="0">
                <a:solidFill>
                  <a:schemeClr val="tx1"/>
                </a:solidFill>
              </a:rPr>
              <a:t> on DAA ZS benchmark with RGB self alignment</a:t>
            </a:r>
          </a:p>
          <a:p>
            <a:pPr>
              <a:buFont typeface="Wingdings" panose="05000000000000000000" pitchFamily="2" charset="2"/>
              <a:buChar char="Ø"/>
            </a:pPr>
            <a:r>
              <a:rPr lang="en-US" sz="2133" dirty="0">
                <a:solidFill>
                  <a:schemeClr val="tx1"/>
                </a:solidFill>
              </a:rPr>
              <a:t>We also surpass </a:t>
            </a:r>
            <a:r>
              <a:rPr lang="en-US" sz="2133" dirty="0" err="1">
                <a:solidFill>
                  <a:schemeClr val="tx1"/>
                </a:solidFill>
              </a:rPr>
              <a:t>sota</a:t>
            </a:r>
            <a:r>
              <a:rPr lang="en-US" sz="2133" dirty="0">
                <a:solidFill>
                  <a:schemeClr val="tx1"/>
                </a:solidFill>
              </a:rPr>
              <a:t> in IR</a:t>
            </a:r>
          </a:p>
          <a:p>
            <a:pPr>
              <a:buFont typeface="Wingdings" panose="05000000000000000000" pitchFamily="2" charset="2"/>
              <a:buChar char="Ø"/>
            </a:pPr>
            <a:endParaRPr lang="en-US" sz="2133" dirty="0">
              <a:solidFill>
                <a:schemeClr val="tx1"/>
              </a:solidFill>
            </a:endParaRPr>
          </a:p>
        </p:txBody>
      </p:sp>
      <p:pic>
        <p:nvPicPr>
          <p:cNvPr id="5" name="Grafik 4">
            <a:extLst>
              <a:ext uri="{FF2B5EF4-FFF2-40B4-BE49-F238E27FC236}">
                <a16:creationId xmlns:a16="http://schemas.microsoft.com/office/drawing/2014/main" id="{6211F03A-6866-4813-B053-4643B5B156F7}"/>
              </a:ext>
            </a:extLst>
          </p:cNvPr>
          <p:cNvPicPr>
            <a:picLocks noChangeAspect="1"/>
          </p:cNvPicPr>
          <p:nvPr/>
        </p:nvPicPr>
        <p:blipFill>
          <a:blip r:embed="rId2"/>
          <a:stretch>
            <a:fillRect/>
          </a:stretch>
        </p:blipFill>
        <p:spPr>
          <a:xfrm>
            <a:off x="1048200" y="2622076"/>
            <a:ext cx="5972175" cy="2876550"/>
          </a:xfrm>
          <a:prstGeom prst="rect">
            <a:avLst/>
          </a:prstGeom>
        </p:spPr>
      </p:pic>
    </p:spTree>
    <p:extLst>
      <p:ext uri="{BB962C8B-B14F-4D97-AF65-F5344CB8AC3E}">
        <p14:creationId xmlns:p14="http://schemas.microsoft.com/office/powerpoint/2010/main" val="1047978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Fusion</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20</a:t>
            </a:fld>
            <a:endParaRPr lang="en" kern="0">
              <a:solidFill>
                <a:srgbClr val="0091EA"/>
              </a:solidFill>
            </a:endParaRPr>
          </a:p>
        </p:txBody>
      </p:sp>
      <p:sp>
        <p:nvSpPr>
          <p:cNvPr id="6" name="Text Placeholder 2">
            <a:extLst>
              <a:ext uri="{FF2B5EF4-FFF2-40B4-BE49-F238E27FC236}">
                <a16:creationId xmlns:a16="http://schemas.microsoft.com/office/drawing/2014/main" id="{495F0477-F2F4-48B2-BAF1-24E9B3E9E6B1}"/>
              </a:ext>
            </a:extLst>
          </p:cNvPr>
          <p:cNvSpPr>
            <a:spLocks noGrp="1"/>
          </p:cNvSpPr>
          <p:nvPr>
            <p:ph type="body" idx="1"/>
          </p:nvPr>
        </p:nvSpPr>
        <p:spPr>
          <a:xfrm>
            <a:off x="7637653" y="2829373"/>
            <a:ext cx="4009771" cy="2461956"/>
          </a:xfrm>
        </p:spPr>
        <p:txBody>
          <a:bodyPr/>
          <a:lstStyle/>
          <a:p>
            <a:pPr>
              <a:buFont typeface="Wingdings" panose="05000000000000000000" pitchFamily="2" charset="2"/>
              <a:buChar char="Ø"/>
            </a:pPr>
            <a:r>
              <a:rPr lang="en-US" sz="2133" dirty="0"/>
              <a:t>Adding a simple attention based fusion head shows robustness against missing modalities to some extent</a:t>
            </a:r>
          </a:p>
          <a:p>
            <a:pPr>
              <a:buFont typeface="Wingdings" panose="05000000000000000000" pitchFamily="2" charset="2"/>
              <a:buChar char="Ø"/>
            </a:pPr>
            <a:r>
              <a:rPr lang="en-US" sz="2133" dirty="0"/>
              <a:t>Aligned encoders learn complimentary features on NTU but fail on DAA</a:t>
            </a:r>
          </a:p>
          <a:p>
            <a:pPr>
              <a:buFont typeface="Wingdings" panose="05000000000000000000" pitchFamily="2" charset="2"/>
              <a:buChar char="Ø"/>
            </a:pPr>
            <a:endParaRPr lang="en-US" sz="2133" dirty="0"/>
          </a:p>
        </p:txBody>
      </p:sp>
      <p:pic>
        <p:nvPicPr>
          <p:cNvPr id="3" name="Grafik 2">
            <a:extLst>
              <a:ext uri="{FF2B5EF4-FFF2-40B4-BE49-F238E27FC236}">
                <a16:creationId xmlns:a16="http://schemas.microsoft.com/office/drawing/2014/main" id="{47DE93A4-AC18-48E9-9470-8C9B8B54CF93}"/>
              </a:ext>
            </a:extLst>
          </p:cNvPr>
          <p:cNvPicPr>
            <a:picLocks noChangeAspect="1"/>
          </p:cNvPicPr>
          <p:nvPr/>
        </p:nvPicPr>
        <p:blipFill>
          <a:blip r:embed="rId2"/>
          <a:stretch>
            <a:fillRect/>
          </a:stretch>
        </p:blipFill>
        <p:spPr>
          <a:xfrm>
            <a:off x="1048200" y="1442089"/>
            <a:ext cx="5244133" cy="5005084"/>
          </a:xfrm>
          <a:prstGeom prst="rect">
            <a:avLst/>
          </a:prstGeom>
        </p:spPr>
      </p:pic>
    </p:spTree>
    <p:extLst>
      <p:ext uri="{BB962C8B-B14F-4D97-AF65-F5344CB8AC3E}">
        <p14:creationId xmlns:p14="http://schemas.microsoft.com/office/powerpoint/2010/main" val="3565578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1. Convergence Improvements</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21</a:t>
            </a:fld>
            <a:endParaRPr lang="en" kern="0">
              <a:solidFill>
                <a:srgbClr val="0091EA"/>
              </a:solidFill>
            </a:endParaRPr>
          </a:p>
        </p:txBody>
      </p:sp>
      <p:sp>
        <p:nvSpPr>
          <p:cNvPr id="6" name="Rechteck 5">
            <a:extLst>
              <a:ext uri="{FF2B5EF4-FFF2-40B4-BE49-F238E27FC236}">
                <a16:creationId xmlns:a16="http://schemas.microsoft.com/office/drawing/2014/main" id="{3F098895-526E-4279-ACD4-4A3EE9007BB6}"/>
              </a:ext>
            </a:extLst>
          </p:cNvPr>
          <p:cNvSpPr/>
          <p:nvPr/>
        </p:nvSpPr>
        <p:spPr>
          <a:xfrm>
            <a:off x="541105" y="1410984"/>
            <a:ext cx="6636532" cy="4375683"/>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sp>
        <p:nvSpPr>
          <p:cNvPr id="106" name="Rechteck 105">
            <a:extLst>
              <a:ext uri="{FF2B5EF4-FFF2-40B4-BE49-F238E27FC236}">
                <a16:creationId xmlns:a16="http://schemas.microsoft.com/office/drawing/2014/main" id="{48FAC706-6F77-4696-9D6B-D46EEF6BFE5E}"/>
              </a:ext>
            </a:extLst>
          </p:cNvPr>
          <p:cNvSpPr/>
          <p:nvPr/>
        </p:nvSpPr>
        <p:spPr>
          <a:xfrm>
            <a:off x="7274104" y="1410985"/>
            <a:ext cx="4116595" cy="437568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sp>
        <p:nvSpPr>
          <p:cNvPr id="107" name="Textfeld 106">
            <a:extLst>
              <a:ext uri="{FF2B5EF4-FFF2-40B4-BE49-F238E27FC236}">
                <a16:creationId xmlns:a16="http://schemas.microsoft.com/office/drawing/2014/main" id="{ED005D7E-D74B-4F33-9C26-093209DE967F}"/>
              </a:ext>
            </a:extLst>
          </p:cNvPr>
          <p:cNvSpPr txBox="1"/>
          <p:nvPr/>
        </p:nvSpPr>
        <p:spPr>
          <a:xfrm>
            <a:off x="7274105" y="1410984"/>
            <a:ext cx="1914307" cy="379656"/>
          </a:xfrm>
          <a:prstGeom prst="rect">
            <a:avLst/>
          </a:prstGeom>
          <a:noFill/>
        </p:spPr>
        <p:txBody>
          <a:bodyPr wrap="none" rtlCol="0">
            <a:spAutoFit/>
          </a:bodyPr>
          <a:lstStyle/>
          <a:p>
            <a:pPr defTabSz="1219170">
              <a:buClr>
                <a:srgbClr val="000000"/>
              </a:buClr>
            </a:pPr>
            <a:r>
              <a:rPr lang="en-BZ" sz="1867" kern="0" dirty="0">
                <a:solidFill>
                  <a:srgbClr val="000000"/>
                </a:solidFill>
                <a:latin typeface="Arial"/>
                <a:cs typeface="Arial"/>
                <a:sym typeface="Arial"/>
              </a:rPr>
              <a:t>Classifier</a:t>
            </a:r>
            <a:r>
              <a:rPr lang="de-DE" sz="1867" kern="0" dirty="0">
                <a:solidFill>
                  <a:srgbClr val="000000"/>
                </a:solidFill>
                <a:latin typeface="Arial"/>
                <a:cs typeface="Arial"/>
                <a:sym typeface="Arial"/>
              </a:rPr>
              <a:t> Phase</a:t>
            </a:r>
          </a:p>
        </p:txBody>
      </p:sp>
      <p:sp>
        <p:nvSpPr>
          <p:cNvPr id="13" name="Rechteck 12">
            <a:extLst>
              <a:ext uri="{FF2B5EF4-FFF2-40B4-BE49-F238E27FC236}">
                <a16:creationId xmlns:a16="http://schemas.microsoft.com/office/drawing/2014/main" id="{BBFB2761-5D6E-494A-ACD5-F31BDBD72D93}"/>
              </a:ext>
            </a:extLst>
          </p:cNvPr>
          <p:cNvSpPr/>
          <p:nvPr/>
        </p:nvSpPr>
        <p:spPr>
          <a:xfrm>
            <a:off x="541104" y="5920534"/>
            <a:ext cx="10849595" cy="534559"/>
          </a:xfrm>
          <a:prstGeom prst="rect">
            <a:avLst/>
          </a:prstGeom>
          <a:noFill/>
          <a:ln>
            <a:solidFill>
              <a:srgbClr val="607D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pic>
        <p:nvPicPr>
          <p:cNvPr id="109" name="Grafik 108" descr="Feuer">
            <a:extLst>
              <a:ext uri="{FF2B5EF4-FFF2-40B4-BE49-F238E27FC236}">
                <a16:creationId xmlns:a16="http://schemas.microsoft.com/office/drawing/2014/main" id="{585D4007-1616-4C0B-9C8B-5C82EFC189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761" y="6017729"/>
            <a:ext cx="285080" cy="321140"/>
          </a:xfrm>
          <a:prstGeom prst="rect">
            <a:avLst/>
          </a:prstGeom>
        </p:spPr>
      </p:pic>
      <p:pic>
        <p:nvPicPr>
          <p:cNvPr id="110" name="Grafik 109" descr="Schneeflocke">
            <a:extLst>
              <a:ext uri="{FF2B5EF4-FFF2-40B4-BE49-F238E27FC236}">
                <a16:creationId xmlns:a16="http://schemas.microsoft.com/office/drawing/2014/main" id="{A8AEDB55-4CD8-4A04-98AC-860F8A9E4C8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72031" y="6017728"/>
            <a:ext cx="334272" cy="334272"/>
          </a:xfrm>
          <a:prstGeom prst="rect">
            <a:avLst/>
          </a:prstGeom>
        </p:spPr>
      </p:pic>
      <p:sp>
        <p:nvSpPr>
          <p:cNvPr id="14" name="Textfeld 13">
            <a:extLst>
              <a:ext uri="{FF2B5EF4-FFF2-40B4-BE49-F238E27FC236}">
                <a16:creationId xmlns:a16="http://schemas.microsoft.com/office/drawing/2014/main" id="{982E7A33-268E-4CB3-A7F2-878F356EB989}"/>
              </a:ext>
            </a:extLst>
          </p:cNvPr>
          <p:cNvSpPr txBox="1"/>
          <p:nvPr/>
        </p:nvSpPr>
        <p:spPr>
          <a:xfrm>
            <a:off x="885841" y="6003146"/>
            <a:ext cx="1789272"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Trainable weights</a:t>
            </a:r>
          </a:p>
        </p:txBody>
      </p:sp>
      <p:sp>
        <p:nvSpPr>
          <p:cNvPr id="112" name="Textfeld 111">
            <a:extLst>
              <a:ext uri="{FF2B5EF4-FFF2-40B4-BE49-F238E27FC236}">
                <a16:creationId xmlns:a16="http://schemas.microsoft.com/office/drawing/2014/main" id="{53D6C78C-4EDA-4502-84EE-6A9820F82293}"/>
              </a:ext>
            </a:extLst>
          </p:cNvPr>
          <p:cNvSpPr txBox="1"/>
          <p:nvPr/>
        </p:nvSpPr>
        <p:spPr>
          <a:xfrm>
            <a:off x="2995309" y="5992919"/>
            <a:ext cx="822661"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Frozen</a:t>
            </a:r>
          </a:p>
        </p:txBody>
      </p:sp>
      <p:pic>
        <p:nvPicPr>
          <p:cNvPr id="36" name="Grafik 35">
            <a:extLst>
              <a:ext uri="{FF2B5EF4-FFF2-40B4-BE49-F238E27FC236}">
                <a16:creationId xmlns:a16="http://schemas.microsoft.com/office/drawing/2014/main" id="{74E4C058-D8B6-410F-B6A2-AE23B2C9BFAE}"/>
              </a:ext>
            </a:extLst>
          </p:cNvPr>
          <p:cNvPicPr>
            <a:picLocks noChangeAspect="1"/>
          </p:cNvPicPr>
          <p:nvPr/>
        </p:nvPicPr>
        <p:blipFill>
          <a:blip r:embed="rId6"/>
          <a:stretch>
            <a:fillRect/>
          </a:stretch>
        </p:blipFill>
        <p:spPr>
          <a:xfrm>
            <a:off x="3887336" y="6085904"/>
            <a:ext cx="754397" cy="201173"/>
          </a:xfrm>
          <a:prstGeom prst="rect">
            <a:avLst/>
          </a:prstGeom>
        </p:spPr>
      </p:pic>
      <p:sp>
        <p:nvSpPr>
          <p:cNvPr id="117" name="Textfeld 116">
            <a:extLst>
              <a:ext uri="{FF2B5EF4-FFF2-40B4-BE49-F238E27FC236}">
                <a16:creationId xmlns:a16="http://schemas.microsoft.com/office/drawing/2014/main" id="{D8C2259C-2A4F-4296-BA41-8A64E3CD7A3E}"/>
              </a:ext>
            </a:extLst>
          </p:cNvPr>
          <p:cNvSpPr txBox="1"/>
          <p:nvPr/>
        </p:nvSpPr>
        <p:spPr>
          <a:xfrm>
            <a:off x="4693088" y="5982668"/>
            <a:ext cx="1574470"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Representation</a:t>
            </a:r>
          </a:p>
        </p:txBody>
      </p:sp>
      <p:pic>
        <p:nvPicPr>
          <p:cNvPr id="118" name="Grafik 117">
            <a:extLst>
              <a:ext uri="{FF2B5EF4-FFF2-40B4-BE49-F238E27FC236}">
                <a16:creationId xmlns:a16="http://schemas.microsoft.com/office/drawing/2014/main" id="{3993B616-297B-4EF5-86EF-3F6482EE8AE0}"/>
              </a:ext>
            </a:extLst>
          </p:cNvPr>
          <p:cNvPicPr>
            <a:picLocks noChangeAspect="1"/>
          </p:cNvPicPr>
          <p:nvPr/>
        </p:nvPicPr>
        <p:blipFill>
          <a:blip r:embed="rId7"/>
          <a:stretch>
            <a:fillRect/>
          </a:stretch>
        </p:blipFill>
        <p:spPr>
          <a:xfrm>
            <a:off x="6247602" y="5940195"/>
            <a:ext cx="394036" cy="435827"/>
          </a:xfrm>
          <a:prstGeom prst="rect">
            <a:avLst/>
          </a:prstGeom>
        </p:spPr>
      </p:pic>
      <p:pic>
        <p:nvPicPr>
          <p:cNvPr id="119" name="Grafik 118">
            <a:extLst>
              <a:ext uri="{FF2B5EF4-FFF2-40B4-BE49-F238E27FC236}">
                <a16:creationId xmlns:a16="http://schemas.microsoft.com/office/drawing/2014/main" id="{D52429B5-BDDD-4791-9E19-F9E8F7F585B3}"/>
              </a:ext>
            </a:extLst>
          </p:cNvPr>
          <p:cNvPicPr>
            <a:picLocks noChangeAspect="1"/>
          </p:cNvPicPr>
          <p:nvPr/>
        </p:nvPicPr>
        <p:blipFill>
          <a:blip r:embed="rId8"/>
          <a:stretch>
            <a:fillRect/>
          </a:stretch>
        </p:blipFill>
        <p:spPr>
          <a:xfrm>
            <a:off x="8073517" y="5939583"/>
            <a:ext cx="375785" cy="436575"/>
          </a:xfrm>
          <a:prstGeom prst="rect">
            <a:avLst/>
          </a:prstGeom>
        </p:spPr>
      </p:pic>
      <p:sp>
        <p:nvSpPr>
          <p:cNvPr id="120" name="Textfeld 119">
            <a:extLst>
              <a:ext uri="{FF2B5EF4-FFF2-40B4-BE49-F238E27FC236}">
                <a16:creationId xmlns:a16="http://schemas.microsoft.com/office/drawing/2014/main" id="{24A5489F-6EAA-4E1A-A97A-CCB895A50E2F}"/>
              </a:ext>
            </a:extLst>
          </p:cNvPr>
          <p:cNvSpPr txBox="1"/>
          <p:nvPr/>
        </p:nvSpPr>
        <p:spPr>
          <a:xfrm>
            <a:off x="6579967" y="5982667"/>
            <a:ext cx="1460656"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InfoNCE-Loss</a:t>
            </a:r>
          </a:p>
        </p:txBody>
      </p:sp>
      <p:sp>
        <p:nvSpPr>
          <p:cNvPr id="121" name="Textfeld 120">
            <a:extLst>
              <a:ext uri="{FF2B5EF4-FFF2-40B4-BE49-F238E27FC236}">
                <a16:creationId xmlns:a16="http://schemas.microsoft.com/office/drawing/2014/main" id="{4C49AF78-E15A-43D9-89FE-0A9EDF95F8F7}"/>
              </a:ext>
            </a:extLst>
          </p:cNvPr>
          <p:cNvSpPr txBox="1"/>
          <p:nvPr/>
        </p:nvSpPr>
        <p:spPr>
          <a:xfrm>
            <a:off x="8371033" y="5989107"/>
            <a:ext cx="2839239"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Balanced CrossEntropy-Loss</a:t>
            </a:r>
          </a:p>
        </p:txBody>
      </p:sp>
      <p:cxnSp>
        <p:nvCxnSpPr>
          <p:cNvPr id="39" name="Gerader Verbinder 38">
            <a:extLst>
              <a:ext uri="{FF2B5EF4-FFF2-40B4-BE49-F238E27FC236}">
                <a16:creationId xmlns:a16="http://schemas.microsoft.com/office/drawing/2014/main" id="{F0A8C590-A3BB-4D02-8FF6-FD49CD86A952}"/>
              </a:ext>
            </a:extLst>
          </p:cNvPr>
          <p:cNvCxnSpPr/>
          <p:nvPr/>
        </p:nvCxnSpPr>
        <p:spPr>
          <a:xfrm>
            <a:off x="2672031" y="5939583"/>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2" name="Gerader Verbinder 121">
            <a:extLst>
              <a:ext uri="{FF2B5EF4-FFF2-40B4-BE49-F238E27FC236}">
                <a16:creationId xmlns:a16="http://schemas.microsoft.com/office/drawing/2014/main" id="{E1301F8E-3CCA-48BF-929F-D22DFBD17C87}"/>
              </a:ext>
            </a:extLst>
          </p:cNvPr>
          <p:cNvCxnSpPr/>
          <p:nvPr/>
        </p:nvCxnSpPr>
        <p:spPr>
          <a:xfrm>
            <a:off x="3859369"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3" name="Gerader Verbinder 122">
            <a:extLst>
              <a:ext uri="{FF2B5EF4-FFF2-40B4-BE49-F238E27FC236}">
                <a16:creationId xmlns:a16="http://schemas.microsoft.com/office/drawing/2014/main" id="{BDEABF9B-1094-4B6C-8828-D2E9EA1EDCFF}"/>
              </a:ext>
            </a:extLst>
          </p:cNvPr>
          <p:cNvCxnSpPr/>
          <p:nvPr/>
        </p:nvCxnSpPr>
        <p:spPr>
          <a:xfrm>
            <a:off x="6247601" y="5948651"/>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6" name="Gerader Verbinder 125">
            <a:extLst>
              <a:ext uri="{FF2B5EF4-FFF2-40B4-BE49-F238E27FC236}">
                <a16:creationId xmlns:a16="http://schemas.microsoft.com/office/drawing/2014/main" id="{BFEAC2BA-D317-4295-A1F2-081649E3C4E6}"/>
              </a:ext>
            </a:extLst>
          </p:cNvPr>
          <p:cNvCxnSpPr/>
          <p:nvPr/>
        </p:nvCxnSpPr>
        <p:spPr>
          <a:xfrm>
            <a:off x="8073516"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pic>
        <p:nvPicPr>
          <p:cNvPr id="10" name="Grafik 9">
            <a:extLst>
              <a:ext uri="{FF2B5EF4-FFF2-40B4-BE49-F238E27FC236}">
                <a16:creationId xmlns:a16="http://schemas.microsoft.com/office/drawing/2014/main" id="{8DC41B62-6F70-4B5F-9742-CEAA109C21D6}"/>
              </a:ext>
            </a:extLst>
          </p:cNvPr>
          <p:cNvPicPr>
            <a:picLocks noChangeAspect="1"/>
          </p:cNvPicPr>
          <p:nvPr/>
        </p:nvPicPr>
        <p:blipFill>
          <a:blip r:embed="rId9"/>
          <a:stretch>
            <a:fillRect/>
          </a:stretch>
        </p:blipFill>
        <p:spPr>
          <a:xfrm>
            <a:off x="717757" y="1481494"/>
            <a:ext cx="6005315" cy="4227517"/>
          </a:xfrm>
          <a:prstGeom prst="rect">
            <a:avLst/>
          </a:prstGeom>
        </p:spPr>
      </p:pic>
      <p:pic>
        <p:nvPicPr>
          <p:cNvPr id="103" name="Grafik 102">
            <a:extLst>
              <a:ext uri="{FF2B5EF4-FFF2-40B4-BE49-F238E27FC236}">
                <a16:creationId xmlns:a16="http://schemas.microsoft.com/office/drawing/2014/main" id="{9FEC0DF8-2418-415F-9973-9EE851E7EE6E}"/>
              </a:ext>
            </a:extLst>
          </p:cNvPr>
          <p:cNvPicPr>
            <a:picLocks noChangeAspect="1"/>
          </p:cNvPicPr>
          <p:nvPr/>
        </p:nvPicPr>
        <p:blipFill>
          <a:blip r:embed="rId7"/>
          <a:stretch>
            <a:fillRect/>
          </a:stretch>
        </p:blipFill>
        <p:spPr>
          <a:xfrm>
            <a:off x="5502893" y="4864392"/>
            <a:ext cx="463008" cy="512115"/>
          </a:xfrm>
          <a:prstGeom prst="rect">
            <a:avLst/>
          </a:prstGeom>
        </p:spPr>
      </p:pic>
      <p:sp>
        <p:nvSpPr>
          <p:cNvPr id="12" name="Textfeld 11">
            <a:extLst>
              <a:ext uri="{FF2B5EF4-FFF2-40B4-BE49-F238E27FC236}">
                <a16:creationId xmlns:a16="http://schemas.microsoft.com/office/drawing/2014/main" id="{7FFB2C87-D637-4D0F-9663-0C797F1D7E6D}"/>
              </a:ext>
            </a:extLst>
          </p:cNvPr>
          <p:cNvSpPr txBox="1"/>
          <p:nvPr/>
        </p:nvSpPr>
        <p:spPr>
          <a:xfrm>
            <a:off x="541106" y="1450964"/>
            <a:ext cx="1992853" cy="379656"/>
          </a:xfrm>
          <a:prstGeom prst="rect">
            <a:avLst/>
          </a:prstGeom>
          <a:noFill/>
        </p:spPr>
        <p:txBody>
          <a:bodyPr wrap="none" rtlCol="0">
            <a:spAutoFit/>
          </a:bodyPr>
          <a:lstStyle/>
          <a:p>
            <a:pPr defTabSz="1219170">
              <a:buClr>
                <a:srgbClr val="000000"/>
              </a:buClr>
            </a:pPr>
            <a:r>
              <a:rPr lang="de-DE" sz="1867" kern="0" dirty="0">
                <a:solidFill>
                  <a:srgbClr val="000000"/>
                </a:solidFill>
                <a:latin typeface="Arial"/>
                <a:cs typeface="Arial"/>
                <a:sym typeface="Arial"/>
              </a:rPr>
              <a:t>Alignment Phase</a:t>
            </a:r>
          </a:p>
        </p:txBody>
      </p:sp>
      <p:pic>
        <p:nvPicPr>
          <p:cNvPr id="15" name="Grafik 14">
            <a:extLst>
              <a:ext uri="{FF2B5EF4-FFF2-40B4-BE49-F238E27FC236}">
                <a16:creationId xmlns:a16="http://schemas.microsoft.com/office/drawing/2014/main" id="{61B40FD6-76EE-4E52-BFF1-FACD50CD0541}"/>
              </a:ext>
            </a:extLst>
          </p:cNvPr>
          <p:cNvPicPr>
            <a:picLocks noChangeAspect="1"/>
          </p:cNvPicPr>
          <p:nvPr/>
        </p:nvPicPr>
        <p:blipFill>
          <a:blip r:embed="rId10"/>
          <a:stretch>
            <a:fillRect/>
          </a:stretch>
        </p:blipFill>
        <p:spPr>
          <a:xfrm>
            <a:off x="7882668" y="3119627"/>
            <a:ext cx="2858312" cy="2589384"/>
          </a:xfrm>
          <a:prstGeom prst="rect">
            <a:avLst/>
          </a:prstGeom>
        </p:spPr>
      </p:pic>
      <p:pic>
        <p:nvPicPr>
          <p:cNvPr id="40" name="Grafik 39" descr="Feuer">
            <a:extLst>
              <a:ext uri="{FF2B5EF4-FFF2-40B4-BE49-F238E27FC236}">
                <a16:creationId xmlns:a16="http://schemas.microsoft.com/office/drawing/2014/main" id="{C03F092F-3AED-4768-85FF-E76583A50C0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71765" y="3326158"/>
            <a:ext cx="287892" cy="205685"/>
          </a:xfrm>
          <a:prstGeom prst="rect">
            <a:avLst/>
          </a:prstGeom>
        </p:spPr>
      </p:pic>
      <p:pic>
        <p:nvPicPr>
          <p:cNvPr id="42" name="Grafik 41" descr="Feuer">
            <a:extLst>
              <a:ext uri="{FF2B5EF4-FFF2-40B4-BE49-F238E27FC236}">
                <a16:creationId xmlns:a16="http://schemas.microsoft.com/office/drawing/2014/main" id="{AC2D1AD1-CF54-40C7-9D88-5A9A0CAB95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71763" y="3965356"/>
            <a:ext cx="287892" cy="205685"/>
          </a:xfrm>
          <a:prstGeom prst="rect">
            <a:avLst/>
          </a:prstGeom>
        </p:spPr>
      </p:pic>
      <p:pic>
        <p:nvPicPr>
          <p:cNvPr id="43" name="Grafik 42" descr="Feuer">
            <a:extLst>
              <a:ext uri="{FF2B5EF4-FFF2-40B4-BE49-F238E27FC236}">
                <a16:creationId xmlns:a16="http://schemas.microsoft.com/office/drawing/2014/main" id="{129B6DDB-3594-49C9-A6CA-7E2AA7F8EF1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71762" y="4604555"/>
            <a:ext cx="287892" cy="205685"/>
          </a:xfrm>
          <a:prstGeom prst="rect">
            <a:avLst/>
          </a:prstGeom>
        </p:spPr>
      </p:pic>
      <p:pic>
        <p:nvPicPr>
          <p:cNvPr id="44" name="Grafik 43" descr="Feuer">
            <a:extLst>
              <a:ext uri="{FF2B5EF4-FFF2-40B4-BE49-F238E27FC236}">
                <a16:creationId xmlns:a16="http://schemas.microsoft.com/office/drawing/2014/main" id="{35B72E88-0719-432B-A4C6-2FE15BFE98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71761" y="5244254"/>
            <a:ext cx="287892" cy="205685"/>
          </a:xfrm>
          <a:prstGeom prst="rect">
            <a:avLst/>
          </a:prstGeom>
        </p:spPr>
      </p:pic>
    </p:spTree>
    <p:extLst>
      <p:ext uri="{BB962C8B-B14F-4D97-AF65-F5344CB8AC3E}">
        <p14:creationId xmlns:p14="http://schemas.microsoft.com/office/powerpoint/2010/main" val="3375617066"/>
      </p:ext>
    </p:extLst>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Improving Alignment Convergence</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22</a:t>
            </a:fld>
            <a:endParaRPr lang="en" kern="0">
              <a:solidFill>
                <a:srgbClr val="0091EA"/>
              </a:solidFill>
            </a:endParaRPr>
          </a:p>
        </p:txBody>
      </p:sp>
      <p:graphicFrame>
        <p:nvGraphicFramePr>
          <p:cNvPr id="7" name="Diagramm 6">
            <a:extLst>
              <a:ext uri="{FF2B5EF4-FFF2-40B4-BE49-F238E27FC236}">
                <a16:creationId xmlns:a16="http://schemas.microsoft.com/office/drawing/2014/main" id="{2A6BD51E-EEE1-474B-A97E-F2112BD95750}"/>
              </a:ext>
            </a:extLst>
          </p:cNvPr>
          <p:cNvGraphicFramePr/>
          <p:nvPr/>
        </p:nvGraphicFramePr>
        <p:xfrm>
          <a:off x="7455878" y="280594"/>
          <a:ext cx="3521389" cy="21340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platzhalter 7">
            <a:extLst>
              <a:ext uri="{FF2B5EF4-FFF2-40B4-BE49-F238E27FC236}">
                <a16:creationId xmlns:a16="http://schemas.microsoft.com/office/drawing/2014/main" id="{D6B16879-B92B-41FD-9953-0B26D283092C}"/>
              </a:ext>
            </a:extLst>
          </p:cNvPr>
          <p:cNvSpPr>
            <a:spLocks noGrp="1"/>
          </p:cNvSpPr>
          <p:nvPr>
            <p:ph type="body" idx="1"/>
          </p:nvPr>
        </p:nvSpPr>
        <p:spPr>
          <a:xfrm>
            <a:off x="7096310" y="2318490"/>
            <a:ext cx="4770533" cy="4258916"/>
          </a:xfrm>
        </p:spPr>
        <p:txBody>
          <a:bodyPr/>
          <a:lstStyle/>
          <a:p>
            <a:pPr>
              <a:buFont typeface="Wingdings" panose="05000000000000000000" pitchFamily="2" charset="2"/>
              <a:buChar char="Ø"/>
            </a:pPr>
            <a:r>
              <a:rPr lang="en-US" sz="2000" dirty="0"/>
              <a:t>Pretrained modality-specific models enhance alignment efficacy significantly</a:t>
            </a:r>
          </a:p>
          <a:p>
            <a:pPr>
              <a:buFont typeface="Wingdings" panose="05000000000000000000" pitchFamily="2" charset="2"/>
              <a:buChar char="Ø"/>
            </a:pPr>
            <a:r>
              <a:rPr lang="en-US" sz="2000" dirty="0"/>
              <a:t>Modality specific MAEs outperform CLIP-VIP and OMNIVORE improves results further </a:t>
            </a:r>
          </a:p>
          <a:p>
            <a:pPr>
              <a:buFont typeface="Wingdings" panose="05000000000000000000" pitchFamily="2" charset="2"/>
              <a:buChar char="Ø"/>
            </a:pPr>
            <a:r>
              <a:rPr lang="en-US" sz="2000" dirty="0"/>
              <a:t>On NTU the performance gap to RGB is smaller than on DAA</a:t>
            </a:r>
            <a:endParaRPr lang="de-DE" sz="2000" dirty="0"/>
          </a:p>
        </p:txBody>
      </p:sp>
      <p:pic>
        <p:nvPicPr>
          <p:cNvPr id="3" name="Grafik 2">
            <a:extLst>
              <a:ext uri="{FF2B5EF4-FFF2-40B4-BE49-F238E27FC236}">
                <a16:creationId xmlns:a16="http://schemas.microsoft.com/office/drawing/2014/main" id="{60BD4A09-23E0-4EFD-8F77-37D0D65F6A2E}"/>
              </a:ext>
            </a:extLst>
          </p:cNvPr>
          <p:cNvPicPr>
            <a:picLocks noChangeAspect="1"/>
          </p:cNvPicPr>
          <p:nvPr/>
        </p:nvPicPr>
        <p:blipFill>
          <a:blip r:embed="rId7"/>
          <a:stretch>
            <a:fillRect/>
          </a:stretch>
        </p:blipFill>
        <p:spPr>
          <a:xfrm>
            <a:off x="1396441" y="1347626"/>
            <a:ext cx="4992061" cy="5389334"/>
          </a:xfrm>
          <a:prstGeom prst="rect">
            <a:avLst/>
          </a:prstGeom>
        </p:spPr>
      </p:pic>
    </p:spTree>
    <p:extLst>
      <p:ext uri="{BB962C8B-B14F-4D97-AF65-F5344CB8AC3E}">
        <p14:creationId xmlns:p14="http://schemas.microsoft.com/office/powerpoint/2010/main" val="159066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2. One-Way vs Mutual Adaptability</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23</a:t>
            </a:fld>
            <a:endParaRPr lang="en" kern="0">
              <a:solidFill>
                <a:srgbClr val="0091EA"/>
              </a:solidFill>
            </a:endParaRPr>
          </a:p>
        </p:txBody>
      </p:sp>
      <p:sp>
        <p:nvSpPr>
          <p:cNvPr id="6" name="Rechteck 5">
            <a:extLst>
              <a:ext uri="{FF2B5EF4-FFF2-40B4-BE49-F238E27FC236}">
                <a16:creationId xmlns:a16="http://schemas.microsoft.com/office/drawing/2014/main" id="{3F098895-526E-4279-ACD4-4A3EE9007BB6}"/>
              </a:ext>
            </a:extLst>
          </p:cNvPr>
          <p:cNvSpPr/>
          <p:nvPr/>
        </p:nvSpPr>
        <p:spPr>
          <a:xfrm>
            <a:off x="541105" y="1410984"/>
            <a:ext cx="6636532" cy="4375683"/>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sp>
        <p:nvSpPr>
          <p:cNvPr id="106" name="Rechteck 105">
            <a:extLst>
              <a:ext uri="{FF2B5EF4-FFF2-40B4-BE49-F238E27FC236}">
                <a16:creationId xmlns:a16="http://schemas.microsoft.com/office/drawing/2014/main" id="{48FAC706-6F77-4696-9D6B-D46EEF6BFE5E}"/>
              </a:ext>
            </a:extLst>
          </p:cNvPr>
          <p:cNvSpPr/>
          <p:nvPr/>
        </p:nvSpPr>
        <p:spPr>
          <a:xfrm>
            <a:off x="7274104" y="1410985"/>
            <a:ext cx="4116595" cy="437568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sp>
        <p:nvSpPr>
          <p:cNvPr id="12" name="Textfeld 11">
            <a:extLst>
              <a:ext uri="{FF2B5EF4-FFF2-40B4-BE49-F238E27FC236}">
                <a16:creationId xmlns:a16="http://schemas.microsoft.com/office/drawing/2014/main" id="{7FFB2C87-D637-4D0F-9663-0C797F1D7E6D}"/>
              </a:ext>
            </a:extLst>
          </p:cNvPr>
          <p:cNvSpPr txBox="1"/>
          <p:nvPr/>
        </p:nvSpPr>
        <p:spPr>
          <a:xfrm>
            <a:off x="541106" y="1450964"/>
            <a:ext cx="1992853" cy="379656"/>
          </a:xfrm>
          <a:prstGeom prst="rect">
            <a:avLst/>
          </a:prstGeom>
          <a:noFill/>
        </p:spPr>
        <p:txBody>
          <a:bodyPr wrap="none" rtlCol="0">
            <a:spAutoFit/>
          </a:bodyPr>
          <a:lstStyle/>
          <a:p>
            <a:pPr defTabSz="1219170">
              <a:buClr>
                <a:srgbClr val="000000"/>
              </a:buClr>
            </a:pPr>
            <a:r>
              <a:rPr lang="de-DE" sz="1867" kern="0" dirty="0">
                <a:solidFill>
                  <a:srgbClr val="000000"/>
                </a:solidFill>
                <a:latin typeface="Arial"/>
                <a:cs typeface="Arial"/>
                <a:sym typeface="Arial"/>
              </a:rPr>
              <a:t>Alignment Phase</a:t>
            </a:r>
          </a:p>
        </p:txBody>
      </p:sp>
      <p:sp>
        <p:nvSpPr>
          <p:cNvPr id="107" name="Textfeld 106">
            <a:extLst>
              <a:ext uri="{FF2B5EF4-FFF2-40B4-BE49-F238E27FC236}">
                <a16:creationId xmlns:a16="http://schemas.microsoft.com/office/drawing/2014/main" id="{ED005D7E-D74B-4F33-9C26-093209DE967F}"/>
              </a:ext>
            </a:extLst>
          </p:cNvPr>
          <p:cNvSpPr txBox="1"/>
          <p:nvPr/>
        </p:nvSpPr>
        <p:spPr>
          <a:xfrm>
            <a:off x="7274105" y="1410984"/>
            <a:ext cx="1914307" cy="379656"/>
          </a:xfrm>
          <a:prstGeom prst="rect">
            <a:avLst/>
          </a:prstGeom>
          <a:noFill/>
        </p:spPr>
        <p:txBody>
          <a:bodyPr wrap="none" rtlCol="0">
            <a:spAutoFit/>
          </a:bodyPr>
          <a:lstStyle/>
          <a:p>
            <a:pPr defTabSz="1219170">
              <a:buClr>
                <a:srgbClr val="000000"/>
              </a:buClr>
            </a:pPr>
            <a:r>
              <a:rPr lang="en-BZ" sz="1867" kern="0" dirty="0">
                <a:solidFill>
                  <a:srgbClr val="000000"/>
                </a:solidFill>
                <a:latin typeface="Arial"/>
                <a:cs typeface="Arial"/>
                <a:sym typeface="Arial"/>
              </a:rPr>
              <a:t>Classifier</a:t>
            </a:r>
            <a:r>
              <a:rPr lang="de-DE" sz="1867" kern="0" dirty="0">
                <a:solidFill>
                  <a:srgbClr val="000000"/>
                </a:solidFill>
                <a:latin typeface="Arial"/>
                <a:cs typeface="Arial"/>
                <a:sym typeface="Arial"/>
              </a:rPr>
              <a:t> Phase</a:t>
            </a:r>
          </a:p>
        </p:txBody>
      </p:sp>
      <p:sp>
        <p:nvSpPr>
          <p:cNvPr id="13" name="Rechteck 12">
            <a:extLst>
              <a:ext uri="{FF2B5EF4-FFF2-40B4-BE49-F238E27FC236}">
                <a16:creationId xmlns:a16="http://schemas.microsoft.com/office/drawing/2014/main" id="{BBFB2761-5D6E-494A-ACD5-F31BDBD72D93}"/>
              </a:ext>
            </a:extLst>
          </p:cNvPr>
          <p:cNvSpPr/>
          <p:nvPr/>
        </p:nvSpPr>
        <p:spPr>
          <a:xfrm>
            <a:off x="541104" y="5920534"/>
            <a:ext cx="10849595" cy="534559"/>
          </a:xfrm>
          <a:prstGeom prst="rect">
            <a:avLst/>
          </a:prstGeom>
          <a:noFill/>
          <a:ln>
            <a:solidFill>
              <a:srgbClr val="607D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pic>
        <p:nvPicPr>
          <p:cNvPr id="109" name="Grafik 108" descr="Feuer">
            <a:extLst>
              <a:ext uri="{FF2B5EF4-FFF2-40B4-BE49-F238E27FC236}">
                <a16:creationId xmlns:a16="http://schemas.microsoft.com/office/drawing/2014/main" id="{585D4007-1616-4C0B-9C8B-5C82EFC189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761" y="6017729"/>
            <a:ext cx="285080" cy="321140"/>
          </a:xfrm>
          <a:prstGeom prst="rect">
            <a:avLst/>
          </a:prstGeom>
        </p:spPr>
      </p:pic>
      <p:pic>
        <p:nvPicPr>
          <p:cNvPr id="110" name="Grafik 109" descr="Schneeflocke">
            <a:extLst>
              <a:ext uri="{FF2B5EF4-FFF2-40B4-BE49-F238E27FC236}">
                <a16:creationId xmlns:a16="http://schemas.microsoft.com/office/drawing/2014/main" id="{A8AEDB55-4CD8-4A04-98AC-860F8A9E4C8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72031" y="6017728"/>
            <a:ext cx="334272" cy="334272"/>
          </a:xfrm>
          <a:prstGeom prst="rect">
            <a:avLst/>
          </a:prstGeom>
        </p:spPr>
      </p:pic>
      <p:sp>
        <p:nvSpPr>
          <p:cNvPr id="14" name="Textfeld 13">
            <a:extLst>
              <a:ext uri="{FF2B5EF4-FFF2-40B4-BE49-F238E27FC236}">
                <a16:creationId xmlns:a16="http://schemas.microsoft.com/office/drawing/2014/main" id="{982E7A33-268E-4CB3-A7F2-878F356EB989}"/>
              </a:ext>
            </a:extLst>
          </p:cNvPr>
          <p:cNvSpPr txBox="1"/>
          <p:nvPr/>
        </p:nvSpPr>
        <p:spPr>
          <a:xfrm>
            <a:off x="885841" y="6003146"/>
            <a:ext cx="1789272"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Trainable weights</a:t>
            </a:r>
          </a:p>
        </p:txBody>
      </p:sp>
      <p:sp>
        <p:nvSpPr>
          <p:cNvPr id="112" name="Textfeld 111">
            <a:extLst>
              <a:ext uri="{FF2B5EF4-FFF2-40B4-BE49-F238E27FC236}">
                <a16:creationId xmlns:a16="http://schemas.microsoft.com/office/drawing/2014/main" id="{53D6C78C-4EDA-4502-84EE-6A9820F82293}"/>
              </a:ext>
            </a:extLst>
          </p:cNvPr>
          <p:cNvSpPr txBox="1"/>
          <p:nvPr/>
        </p:nvSpPr>
        <p:spPr>
          <a:xfrm>
            <a:off x="2995309" y="5992919"/>
            <a:ext cx="822661"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Frozen</a:t>
            </a:r>
          </a:p>
        </p:txBody>
      </p:sp>
      <p:pic>
        <p:nvPicPr>
          <p:cNvPr id="36" name="Grafik 35">
            <a:extLst>
              <a:ext uri="{FF2B5EF4-FFF2-40B4-BE49-F238E27FC236}">
                <a16:creationId xmlns:a16="http://schemas.microsoft.com/office/drawing/2014/main" id="{74E4C058-D8B6-410F-B6A2-AE23B2C9BFAE}"/>
              </a:ext>
            </a:extLst>
          </p:cNvPr>
          <p:cNvPicPr>
            <a:picLocks noChangeAspect="1"/>
          </p:cNvPicPr>
          <p:nvPr/>
        </p:nvPicPr>
        <p:blipFill>
          <a:blip r:embed="rId6"/>
          <a:stretch>
            <a:fillRect/>
          </a:stretch>
        </p:blipFill>
        <p:spPr>
          <a:xfrm>
            <a:off x="3887336" y="6085904"/>
            <a:ext cx="754397" cy="201173"/>
          </a:xfrm>
          <a:prstGeom prst="rect">
            <a:avLst/>
          </a:prstGeom>
        </p:spPr>
      </p:pic>
      <p:sp>
        <p:nvSpPr>
          <p:cNvPr id="117" name="Textfeld 116">
            <a:extLst>
              <a:ext uri="{FF2B5EF4-FFF2-40B4-BE49-F238E27FC236}">
                <a16:creationId xmlns:a16="http://schemas.microsoft.com/office/drawing/2014/main" id="{D8C2259C-2A4F-4296-BA41-8A64E3CD7A3E}"/>
              </a:ext>
            </a:extLst>
          </p:cNvPr>
          <p:cNvSpPr txBox="1"/>
          <p:nvPr/>
        </p:nvSpPr>
        <p:spPr>
          <a:xfrm>
            <a:off x="4693088" y="5982668"/>
            <a:ext cx="1574470"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Representation</a:t>
            </a:r>
          </a:p>
        </p:txBody>
      </p:sp>
      <p:pic>
        <p:nvPicPr>
          <p:cNvPr id="118" name="Grafik 117">
            <a:extLst>
              <a:ext uri="{FF2B5EF4-FFF2-40B4-BE49-F238E27FC236}">
                <a16:creationId xmlns:a16="http://schemas.microsoft.com/office/drawing/2014/main" id="{3993B616-297B-4EF5-86EF-3F6482EE8AE0}"/>
              </a:ext>
            </a:extLst>
          </p:cNvPr>
          <p:cNvPicPr>
            <a:picLocks noChangeAspect="1"/>
          </p:cNvPicPr>
          <p:nvPr/>
        </p:nvPicPr>
        <p:blipFill>
          <a:blip r:embed="rId7"/>
          <a:stretch>
            <a:fillRect/>
          </a:stretch>
        </p:blipFill>
        <p:spPr>
          <a:xfrm>
            <a:off x="6247602" y="5940195"/>
            <a:ext cx="394036" cy="435827"/>
          </a:xfrm>
          <a:prstGeom prst="rect">
            <a:avLst/>
          </a:prstGeom>
        </p:spPr>
      </p:pic>
      <p:pic>
        <p:nvPicPr>
          <p:cNvPr id="119" name="Grafik 118">
            <a:extLst>
              <a:ext uri="{FF2B5EF4-FFF2-40B4-BE49-F238E27FC236}">
                <a16:creationId xmlns:a16="http://schemas.microsoft.com/office/drawing/2014/main" id="{D52429B5-BDDD-4791-9E19-F9E8F7F585B3}"/>
              </a:ext>
            </a:extLst>
          </p:cNvPr>
          <p:cNvPicPr>
            <a:picLocks noChangeAspect="1"/>
          </p:cNvPicPr>
          <p:nvPr/>
        </p:nvPicPr>
        <p:blipFill>
          <a:blip r:embed="rId8"/>
          <a:stretch>
            <a:fillRect/>
          </a:stretch>
        </p:blipFill>
        <p:spPr>
          <a:xfrm>
            <a:off x="8073517" y="5939583"/>
            <a:ext cx="375785" cy="436575"/>
          </a:xfrm>
          <a:prstGeom prst="rect">
            <a:avLst/>
          </a:prstGeom>
        </p:spPr>
      </p:pic>
      <p:sp>
        <p:nvSpPr>
          <p:cNvPr id="120" name="Textfeld 119">
            <a:extLst>
              <a:ext uri="{FF2B5EF4-FFF2-40B4-BE49-F238E27FC236}">
                <a16:creationId xmlns:a16="http://schemas.microsoft.com/office/drawing/2014/main" id="{24A5489F-6EAA-4E1A-A97A-CCB895A50E2F}"/>
              </a:ext>
            </a:extLst>
          </p:cNvPr>
          <p:cNvSpPr txBox="1"/>
          <p:nvPr/>
        </p:nvSpPr>
        <p:spPr>
          <a:xfrm>
            <a:off x="6579967" y="5982667"/>
            <a:ext cx="1460656"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InfoNCE-Loss</a:t>
            </a:r>
          </a:p>
        </p:txBody>
      </p:sp>
      <p:sp>
        <p:nvSpPr>
          <p:cNvPr id="121" name="Textfeld 120">
            <a:extLst>
              <a:ext uri="{FF2B5EF4-FFF2-40B4-BE49-F238E27FC236}">
                <a16:creationId xmlns:a16="http://schemas.microsoft.com/office/drawing/2014/main" id="{4C49AF78-E15A-43D9-89FE-0A9EDF95F8F7}"/>
              </a:ext>
            </a:extLst>
          </p:cNvPr>
          <p:cNvSpPr txBox="1"/>
          <p:nvPr/>
        </p:nvSpPr>
        <p:spPr>
          <a:xfrm>
            <a:off x="8371033" y="5989107"/>
            <a:ext cx="2839239"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Balanced CrossEntropy-Loss</a:t>
            </a:r>
          </a:p>
        </p:txBody>
      </p:sp>
      <p:cxnSp>
        <p:nvCxnSpPr>
          <p:cNvPr id="39" name="Gerader Verbinder 38">
            <a:extLst>
              <a:ext uri="{FF2B5EF4-FFF2-40B4-BE49-F238E27FC236}">
                <a16:creationId xmlns:a16="http://schemas.microsoft.com/office/drawing/2014/main" id="{F0A8C590-A3BB-4D02-8FF6-FD49CD86A952}"/>
              </a:ext>
            </a:extLst>
          </p:cNvPr>
          <p:cNvCxnSpPr/>
          <p:nvPr/>
        </p:nvCxnSpPr>
        <p:spPr>
          <a:xfrm>
            <a:off x="2672031" y="5939583"/>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2" name="Gerader Verbinder 121">
            <a:extLst>
              <a:ext uri="{FF2B5EF4-FFF2-40B4-BE49-F238E27FC236}">
                <a16:creationId xmlns:a16="http://schemas.microsoft.com/office/drawing/2014/main" id="{E1301F8E-3CCA-48BF-929F-D22DFBD17C87}"/>
              </a:ext>
            </a:extLst>
          </p:cNvPr>
          <p:cNvCxnSpPr/>
          <p:nvPr/>
        </p:nvCxnSpPr>
        <p:spPr>
          <a:xfrm>
            <a:off x="3859369"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3" name="Gerader Verbinder 122">
            <a:extLst>
              <a:ext uri="{FF2B5EF4-FFF2-40B4-BE49-F238E27FC236}">
                <a16:creationId xmlns:a16="http://schemas.microsoft.com/office/drawing/2014/main" id="{BDEABF9B-1094-4B6C-8828-D2E9EA1EDCFF}"/>
              </a:ext>
            </a:extLst>
          </p:cNvPr>
          <p:cNvCxnSpPr/>
          <p:nvPr/>
        </p:nvCxnSpPr>
        <p:spPr>
          <a:xfrm>
            <a:off x="6247601" y="5948651"/>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6" name="Gerader Verbinder 125">
            <a:extLst>
              <a:ext uri="{FF2B5EF4-FFF2-40B4-BE49-F238E27FC236}">
                <a16:creationId xmlns:a16="http://schemas.microsoft.com/office/drawing/2014/main" id="{BFEAC2BA-D317-4295-A1F2-081649E3C4E6}"/>
              </a:ext>
            </a:extLst>
          </p:cNvPr>
          <p:cNvCxnSpPr/>
          <p:nvPr/>
        </p:nvCxnSpPr>
        <p:spPr>
          <a:xfrm>
            <a:off x="8073516"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pic>
        <p:nvPicPr>
          <p:cNvPr id="3" name="Grafik 2">
            <a:extLst>
              <a:ext uri="{FF2B5EF4-FFF2-40B4-BE49-F238E27FC236}">
                <a16:creationId xmlns:a16="http://schemas.microsoft.com/office/drawing/2014/main" id="{897285E3-9624-47DB-AF45-824632457FF3}"/>
              </a:ext>
            </a:extLst>
          </p:cNvPr>
          <p:cNvPicPr>
            <a:picLocks noChangeAspect="1"/>
          </p:cNvPicPr>
          <p:nvPr/>
        </p:nvPicPr>
        <p:blipFill>
          <a:blip r:embed="rId9"/>
          <a:stretch>
            <a:fillRect/>
          </a:stretch>
        </p:blipFill>
        <p:spPr>
          <a:xfrm>
            <a:off x="541104" y="2440215"/>
            <a:ext cx="6613281" cy="2256704"/>
          </a:xfrm>
          <a:prstGeom prst="rect">
            <a:avLst/>
          </a:prstGeom>
        </p:spPr>
      </p:pic>
      <p:pic>
        <p:nvPicPr>
          <p:cNvPr id="5" name="Grafik 4">
            <a:extLst>
              <a:ext uri="{FF2B5EF4-FFF2-40B4-BE49-F238E27FC236}">
                <a16:creationId xmlns:a16="http://schemas.microsoft.com/office/drawing/2014/main" id="{B0ABAEC9-9DBF-4B39-AC4B-921E7118655B}"/>
              </a:ext>
            </a:extLst>
          </p:cNvPr>
          <p:cNvPicPr>
            <a:picLocks noChangeAspect="1"/>
          </p:cNvPicPr>
          <p:nvPr/>
        </p:nvPicPr>
        <p:blipFill>
          <a:blip r:embed="rId10"/>
          <a:stretch>
            <a:fillRect/>
          </a:stretch>
        </p:blipFill>
        <p:spPr>
          <a:xfrm>
            <a:off x="7324632" y="2336850"/>
            <a:ext cx="4015539" cy="2757303"/>
          </a:xfrm>
          <a:prstGeom prst="rect">
            <a:avLst/>
          </a:prstGeom>
        </p:spPr>
      </p:pic>
      <p:pic>
        <p:nvPicPr>
          <p:cNvPr id="37" name="Grafik 36" descr="Feuer">
            <a:extLst>
              <a:ext uri="{FF2B5EF4-FFF2-40B4-BE49-F238E27FC236}">
                <a16:creationId xmlns:a16="http://schemas.microsoft.com/office/drawing/2014/main" id="{94A2604A-8792-4878-93A0-D069BEB012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52609" y="2440215"/>
            <a:ext cx="176344" cy="125989"/>
          </a:xfrm>
          <a:prstGeom prst="rect">
            <a:avLst/>
          </a:prstGeom>
        </p:spPr>
      </p:pic>
      <p:pic>
        <p:nvPicPr>
          <p:cNvPr id="38" name="Grafik 37" descr="Feuer">
            <a:extLst>
              <a:ext uri="{FF2B5EF4-FFF2-40B4-BE49-F238E27FC236}">
                <a16:creationId xmlns:a16="http://schemas.microsoft.com/office/drawing/2014/main" id="{AFB63505-6D22-4226-9CE6-A887EDE9A5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52609" y="2833798"/>
            <a:ext cx="176344" cy="125989"/>
          </a:xfrm>
          <a:prstGeom prst="rect">
            <a:avLst/>
          </a:prstGeom>
        </p:spPr>
      </p:pic>
      <p:pic>
        <p:nvPicPr>
          <p:cNvPr id="41" name="Grafik 40" descr="Feuer">
            <a:extLst>
              <a:ext uri="{FF2B5EF4-FFF2-40B4-BE49-F238E27FC236}">
                <a16:creationId xmlns:a16="http://schemas.microsoft.com/office/drawing/2014/main" id="{DEEE55F5-E724-4201-9C33-563411FBC62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46780" y="3232828"/>
            <a:ext cx="176344" cy="125989"/>
          </a:xfrm>
          <a:prstGeom prst="rect">
            <a:avLst/>
          </a:prstGeom>
        </p:spPr>
      </p:pic>
      <p:pic>
        <p:nvPicPr>
          <p:cNvPr id="42" name="Grafik 41" descr="Feuer">
            <a:extLst>
              <a:ext uri="{FF2B5EF4-FFF2-40B4-BE49-F238E27FC236}">
                <a16:creationId xmlns:a16="http://schemas.microsoft.com/office/drawing/2014/main" id="{C130AE91-470F-4CFD-B5EB-9B166FB5A0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41821" y="4057682"/>
            <a:ext cx="176344" cy="125989"/>
          </a:xfrm>
          <a:prstGeom prst="rect">
            <a:avLst/>
          </a:prstGeom>
        </p:spPr>
      </p:pic>
      <p:pic>
        <p:nvPicPr>
          <p:cNvPr id="43" name="Grafik 42" descr="Feuer">
            <a:extLst>
              <a:ext uri="{FF2B5EF4-FFF2-40B4-BE49-F238E27FC236}">
                <a16:creationId xmlns:a16="http://schemas.microsoft.com/office/drawing/2014/main" id="{B94DD7AF-0EBB-4DC1-A897-13E271A9E30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46780" y="4441419"/>
            <a:ext cx="176344" cy="125989"/>
          </a:xfrm>
          <a:prstGeom prst="rect">
            <a:avLst/>
          </a:prstGeom>
        </p:spPr>
      </p:pic>
      <p:pic>
        <p:nvPicPr>
          <p:cNvPr id="44" name="Grafik 43" descr="Feuer">
            <a:extLst>
              <a:ext uri="{FF2B5EF4-FFF2-40B4-BE49-F238E27FC236}">
                <a16:creationId xmlns:a16="http://schemas.microsoft.com/office/drawing/2014/main" id="{BF7B4FFD-2159-4D4C-A1FB-25A1A6579D6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52609" y="4850295"/>
            <a:ext cx="176344" cy="125989"/>
          </a:xfrm>
          <a:prstGeom prst="rect">
            <a:avLst/>
          </a:prstGeom>
        </p:spPr>
      </p:pic>
    </p:spTree>
    <p:extLst>
      <p:ext uri="{BB962C8B-B14F-4D97-AF65-F5344CB8AC3E}">
        <p14:creationId xmlns:p14="http://schemas.microsoft.com/office/powerpoint/2010/main" val="3851513152"/>
      </p:ext>
    </p:extLst>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One-Way outperforms Mutual Adaptability</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24</a:t>
            </a:fld>
            <a:endParaRPr lang="en" kern="0">
              <a:solidFill>
                <a:srgbClr val="0091EA"/>
              </a:solidFill>
            </a:endParaRPr>
          </a:p>
        </p:txBody>
      </p:sp>
      <p:graphicFrame>
        <p:nvGraphicFramePr>
          <p:cNvPr id="7" name="Diagramm 6">
            <a:extLst>
              <a:ext uri="{FF2B5EF4-FFF2-40B4-BE49-F238E27FC236}">
                <a16:creationId xmlns:a16="http://schemas.microsoft.com/office/drawing/2014/main" id="{2A6BD51E-EEE1-474B-A97E-F2112BD95750}"/>
              </a:ext>
            </a:extLst>
          </p:cNvPr>
          <p:cNvGraphicFramePr/>
          <p:nvPr/>
        </p:nvGraphicFramePr>
        <p:xfrm>
          <a:off x="7455878" y="280594"/>
          <a:ext cx="3521389" cy="21340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platzhalter 7">
            <a:extLst>
              <a:ext uri="{FF2B5EF4-FFF2-40B4-BE49-F238E27FC236}">
                <a16:creationId xmlns:a16="http://schemas.microsoft.com/office/drawing/2014/main" id="{D6B16879-B92B-41FD-9953-0B26D283092C}"/>
              </a:ext>
            </a:extLst>
          </p:cNvPr>
          <p:cNvSpPr>
            <a:spLocks noGrp="1"/>
          </p:cNvSpPr>
          <p:nvPr>
            <p:ph type="body" idx="1"/>
          </p:nvPr>
        </p:nvSpPr>
        <p:spPr>
          <a:xfrm>
            <a:off x="8430638" y="2318490"/>
            <a:ext cx="3436205" cy="4258916"/>
          </a:xfrm>
        </p:spPr>
        <p:txBody>
          <a:bodyPr/>
          <a:lstStyle/>
          <a:p>
            <a:pPr>
              <a:buFont typeface="Wingdings" panose="05000000000000000000" pitchFamily="2" charset="2"/>
              <a:buChar char="Ø"/>
            </a:pPr>
            <a:r>
              <a:rPr lang="en-US" sz="1800" dirty="0"/>
              <a:t>Mutual Adaptability </a:t>
            </a:r>
            <a:r>
              <a:rPr lang="en-US" sz="1800" dirty="0">
                <a:solidFill>
                  <a:srgbClr val="FF0000"/>
                </a:solidFill>
              </a:rPr>
              <a:t>improves loss convergence </a:t>
            </a:r>
            <a:r>
              <a:rPr lang="en-US" sz="1800" dirty="0"/>
              <a:t>significantly </a:t>
            </a:r>
          </a:p>
          <a:p>
            <a:pPr>
              <a:buFont typeface="Wingdings" panose="05000000000000000000" pitchFamily="2" charset="2"/>
              <a:buChar char="Ø"/>
            </a:pPr>
            <a:r>
              <a:rPr lang="en-US" sz="1800" dirty="0"/>
              <a:t>Loss convergence improvements do </a:t>
            </a:r>
            <a:r>
              <a:rPr lang="en-US" sz="1800" dirty="0">
                <a:solidFill>
                  <a:srgbClr val="FF0000"/>
                </a:solidFill>
              </a:rPr>
              <a:t>not necessarily</a:t>
            </a:r>
            <a:r>
              <a:rPr lang="en-US" sz="1800" dirty="0"/>
              <a:t> result in higher </a:t>
            </a:r>
            <a:r>
              <a:rPr lang="en-US" sz="1800" dirty="0">
                <a:solidFill>
                  <a:srgbClr val="FF0000"/>
                </a:solidFill>
              </a:rPr>
              <a:t>classifier performance</a:t>
            </a:r>
          </a:p>
          <a:p>
            <a:pPr>
              <a:buFont typeface="Wingdings" panose="05000000000000000000" pitchFamily="2" charset="2"/>
              <a:buChar char="Ø"/>
            </a:pPr>
            <a:r>
              <a:rPr lang="en-US" sz="1800" dirty="0"/>
              <a:t>For the best combination </a:t>
            </a:r>
            <a:r>
              <a:rPr lang="en-US" sz="1800" dirty="0">
                <a:solidFill>
                  <a:srgbClr val="FF0000"/>
                </a:solidFill>
              </a:rPr>
              <a:t>“binding to RGB” </a:t>
            </a:r>
            <a:r>
              <a:rPr lang="en-US" sz="1800" dirty="0"/>
              <a:t>leads to superior results for both modalities</a:t>
            </a:r>
            <a:endParaRPr lang="de-DE" sz="1800" dirty="0"/>
          </a:p>
        </p:txBody>
      </p:sp>
      <p:pic>
        <p:nvPicPr>
          <p:cNvPr id="5" name="Grafik 4">
            <a:extLst>
              <a:ext uri="{FF2B5EF4-FFF2-40B4-BE49-F238E27FC236}">
                <a16:creationId xmlns:a16="http://schemas.microsoft.com/office/drawing/2014/main" id="{CB6D22E3-02C3-4B32-B24B-A7D910EDE451}"/>
              </a:ext>
            </a:extLst>
          </p:cNvPr>
          <p:cNvPicPr>
            <a:picLocks noChangeAspect="1"/>
          </p:cNvPicPr>
          <p:nvPr/>
        </p:nvPicPr>
        <p:blipFill>
          <a:blip r:embed="rId7"/>
          <a:stretch>
            <a:fillRect/>
          </a:stretch>
        </p:blipFill>
        <p:spPr>
          <a:xfrm>
            <a:off x="196405" y="2983149"/>
            <a:ext cx="8328634" cy="2036324"/>
          </a:xfrm>
          <a:prstGeom prst="rect">
            <a:avLst/>
          </a:prstGeom>
        </p:spPr>
      </p:pic>
      <p:sp>
        <p:nvSpPr>
          <p:cNvPr id="9" name="Rechteck 8">
            <a:extLst>
              <a:ext uri="{FF2B5EF4-FFF2-40B4-BE49-F238E27FC236}">
                <a16:creationId xmlns:a16="http://schemas.microsoft.com/office/drawing/2014/main" id="{79055EBD-6CE2-4442-9167-6FFEC449CB38}"/>
              </a:ext>
            </a:extLst>
          </p:cNvPr>
          <p:cNvSpPr/>
          <p:nvPr/>
        </p:nvSpPr>
        <p:spPr>
          <a:xfrm>
            <a:off x="161616" y="4390417"/>
            <a:ext cx="8398212" cy="41504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88110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3. Pairwise vs. Fully Integrated Alignment (to RGB)</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25</a:t>
            </a:fld>
            <a:endParaRPr lang="en" kern="0">
              <a:solidFill>
                <a:srgbClr val="0091EA"/>
              </a:solidFill>
            </a:endParaRPr>
          </a:p>
        </p:txBody>
      </p:sp>
      <p:sp>
        <p:nvSpPr>
          <p:cNvPr id="6" name="Rechteck 5">
            <a:extLst>
              <a:ext uri="{FF2B5EF4-FFF2-40B4-BE49-F238E27FC236}">
                <a16:creationId xmlns:a16="http://schemas.microsoft.com/office/drawing/2014/main" id="{3F098895-526E-4279-ACD4-4A3EE9007BB6}"/>
              </a:ext>
            </a:extLst>
          </p:cNvPr>
          <p:cNvSpPr/>
          <p:nvPr/>
        </p:nvSpPr>
        <p:spPr>
          <a:xfrm>
            <a:off x="541105" y="1410984"/>
            <a:ext cx="6636532" cy="4375683"/>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pic>
        <p:nvPicPr>
          <p:cNvPr id="9" name="Grafik 8">
            <a:extLst>
              <a:ext uri="{FF2B5EF4-FFF2-40B4-BE49-F238E27FC236}">
                <a16:creationId xmlns:a16="http://schemas.microsoft.com/office/drawing/2014/main" id="{ED0F066E-473F-45F2-B54D-3A0AC7203AAC}"/>
              </a:ext>
            </a:extLst>
          </p:cNvPr>
          <p:cNvPicPr>
            <a:picLocks noChangeAspect="1"/>
          </p:cNvPicPr>
          <p:nvPr/>
        </p:nvPicPr>
        <p:blipFill>
          <a:blip r:embed="rId2"/>
          <a:stretch>
            <a:fillRect/>
          </a:stretch>
        </p:blipFill>
        <p:spPr>
          <a:xfrm>
            <a:off x="4283752" y="2816449"/>
            <a:ext cx="183457" cy="202915"/>
          </a:xfrm>
          <a:prstGeom prst="rect">
            <a:avLst/>
          </a:prstGeom>
        </p:spPr>
      </p:pic>
      <p:pic>
        <p:nvPicPr>
          <p:cNvPr id="85" name="Grafik 84">
            <a:extLst>
              <a:ext uri="{FF2B5EF4-FFF2-40B4-BE49-F238E27FC236}">
                <a16:creationId xmlns:a16="http://schemas.microsoft.com/office/drawing/2014/main" id="{770CE795-B66E-43A7-8C95-5D9EDAC28CEA}"/>
              </a:ext>
            </a:extLst>
          </p:cNvPr>
          <p:cNvPicPr>
            <a:picLocks noChangeAspect="1"/>
          </p:cNvPicPr>
          <p:nvPr/>
        </p:nvPicPr>
        <p:blipFill>
          <a:blip r:embed="rId2"/>
          <a:stretch>
            <a:fillRect/>
          </a:stretch>
        </p:blipFill>
        <p:spPr>
          <a:xfrm>
            <a:off x="3257108" y="3015647"/>
            <a:ext cx="183457" cy="202915"/>
          </a:xfrm>
          <a:prstGeom prst="rect">
            <a:avLst/>
          </a:prstGeom>
        </p:spPr>
      </p:pic>
      <p:pic>
        <p:nvPicPr>
          <p:cNvPr id="86" name="Grafik 85">
            <a:extLst>
              <a:ext uri="{FF2B5EF4-FFF2-40B4-BE49-F238E27FC236}">
                <a16:creationId xmlns:a16="http://schemas.microsoft.com/office/drawing/2014/main" id="{DBB15E8E-7A13-4EC4-9042-F6834229D8EB}"/>
              </a:ext>
            </a:extLst>
          </p:cNvPr>
          <p:cNvPicPr>
            <a:picLocks noChangeAspect="1"/>
          </p:cNvPicPr>
          <p:nvPr/>
        </p:nvPicPr>
        <p:blipFill>
          <a:blip r:embed="rId2"/>
          <a:stretch>
            <a:fillRect/>
          </a:stretch>
        </p:blipFill>
        <p:spPr>
          <a:xfrm>
            <a:off x="3681242" y="4119075"/>
            <a:ext cx="183457" cy="202915"/>
          </a:xfrm>
          <a:prstGeom prst="rect">
            <a:avLst/>
          </a:prstGeom>
        </p:spPr>
      </p:pic>
      <p:pic>
        <p:nvPicPr>
          <p:cNvPr id="101" name="Grafik 100">
            <a:extLst>
              <a:ext uri="{FF2B5EF4-FFF2-40B4-BE49-F238E27FC236}">
                <a16:creationId xmlns:a16="http://schemas.microsoft.com/office/drawing/2014/main" id="{574EE0F4-CD19-44FA-963B-AEAD86DF487A}"/>
              </a:ext>
            </a:extLst>
          </p:cNvPr>
          <p:cNvPicPr>
            <a:picLocks noChangeAspect="1"/>
          </p:cNvPicPr>
          <p:nvPr/>
        </p:nvPicPr>
        <p:blipFill>
          <a:blip r:embed="rId2"/>
          <a:stretch>
            <a:fillRect/>
          </a:stretch>
        </p:blipFill>
        <p:spPr>
          <a:xfrm>
            <a:off x="3685517" y="3566425"/>
            <a:ext cx="183457" cy="202915"/>
          </a:xfrm>
          <a:prstGeom prst="rect">
            <a:avLst/>
          </a:prstGeom>
        </p:spPr>
      </p:pic>
      <p:pic>
        <p:nvPicPr>
          <p:cNvPr id="102" name="Grafik 101">
            <a:extLst>
              <a:ext uri="{FF2B5EF4-FFF2-40B4-BE49-F238E27FC236}">
                <a16:creationId xmlns:a16="http://schemas.microsoft.com/office/drawing/2014/main" id="{92465A8F-76B0-4BAE-9757-5C9711E0E679}"/>
              </a:ext>
            </a:extLst>
          </p:cNvPr>
          <p:cNvPicPr>
            <a:picLocks noChangeAspect="1"/>
          </p:cNvPicPr>
          <p:nvPr/>
        </p:nvPicPr>
        <p:blipFill>
          <a:blip r:embed="rId2"/>
          <a:stretch>
            <a:fillRect/>
          </a:stretch>
        </p:blipFill>
        <p:spPr>
          <a:xfrm>
            <a:off x="3681242" y="3005387"/>
            <a:ext cx="183457" cy="202915"/>
          </a:xfrm>
          <a:prstGeom prst="rect">
            <a:avLst/>
          </a:prstGeom>
        </p:spPr>
      </p:pic>
      <p:pic>
        <p:nvPicPr>
          <p:cNvPr id="103" name="Grafik 102">
            <a:extLst>
              <a:ext uri="{FF2B5EF4-FFF2-40B4-BE49-F238E27FC236}">
                <a16:creationId xmlns:a16="http://schemas.microsoft.com/office/drawing/2014/main" id="{9FEC0DF8-2418-415F-9973-9EE851E7EE6E}"/>
              </a:ext>
            </a:extLst>
          </p:cNvPr>
          <p:cNvPicPr>
            <a:picLocks noChangeAspect="1"/>
          </p:cNvPicPr>
          <p:nvPr/>
        </p:nvPicPr>
        <p:blipFill>
          <a:blip r:embed="rId2"/>
          <a:stretch>
            <a:fillRect/>
          </a:stretch>
        </p:blipFill>
        <p:spPr>
          <a:xfrm>
            <a:off x="2873382" y="3003817"/>
            <a:ext cx="183457" cy="202915"/>
          </a:xfrm>
          <a:prstGeom prst="rect">
            <a:avLst/>
          </a:prstGeom>
        </p:spPr>
      </p:pic>
      <p:pic>
        <p:nvPicPr>
          <p:cNvPr id="104" name="Grafik 103">
            <a:extLst>
              <a:ext uri="{FF2B5EF4-FFF2-40B4-BE49-F238E27FC236}">
                <a16:creationId xmlns:a16="http://schemas.microsoft.com/office/drawing/2014/main" id="{333191FA-14FA-4FE6-BAB8-8AA4AACAA8B5}"/>
              </a:ext>
            </a:extLst>
          </p:cNvPr>
          <p:cNvPicPr>
            <a:picLocks noChangeAspect="1"/>
          </p:cNvPicPr>
          <p:nvPr/>
        </p:nvPicPr>
        <p:blipFill>
          <a:blip r:embed="rId2"/>
          <a:stretch>
            <a:fillRect/>
          </a:stretch>
        </p:blipFill>
        <p:spPr>
          <a:xfrm>
            <a:off x="3256225" y="4165211"/>
            <a:ext cx="183457" cy="202915"/>
          </a:xfrm>
          <a:prstGeom prst="rect">
            <a:avLst/>
          </a:prstGeom>
        </p:spPr>
      </p:pic>
      <p:pic>
        <p:nvPicPr>
          <p:cNvPr id="105" name="Grafik 104">
            <a:extLst>
              <a:ext uri="{FF2B5EF4-FFF2-40B4-BE49-F238E27FC236}">
                <a16:creationId xmlns:a16="http://schemas.microsoft.com/office/drawing/2014/main" id="{1D750D5C-3090-43BC-A4FF-E67B4FFF616E}"/>
              </a:ext>
            </a:extLst>
          </p:cNvPr>
          <p:cNvPicPr>
            <a:picLocks noChangeAspect="1"/>
          </p:cNvPicPr>
          <p:nvPr/>
        </p:nvPicPr>
        <p:blipFill>
          <a:blip r:embed="rId2"/>
          <a:stretch>
            <a:fillRect/>
          </a:stretch>
        </p:blipFill>
        <p:spPr>
          <a:xfrm>
            <a:off x="4192024" y="4192603"/>
            <a:ext cx="183457" cy="202915"/>
          </a:xfrm>
          <a:prstGeom prst="rect">
            <a:avLst/>
          </a:prstGeom>
        </p:spPr>
      </p:pic>
      <p:sp>
        <p:nvSpPr>
          <p:cNvPr id="106" name="Rechteck 105">
            <a:extLst>
              <a:ext uri="{FF2B5EF4-FFF2-40B4-BE49-F238E27FC236}">
                <a16:creationId xmlns:a16="http://schemas.microsoft.com/office/drawing/2014/main" id="{48FAC706-6F77-4696-9D6B-D46EEF6BFE5E}"/>
              </a:ext>
            </a:extLst>
          </p:cNvPr>
          <p:cNvSpPr/>
          <p:nvPr/>
        </p:nvSpPr>
        <p:spPr>
          <a:xfrm>
            <a:off x="7274104" y="1410985"/>
            <a:ext cx="4116595" cy="437568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pic>
        <p:nvPicPr>
          <p:cNvPr id="11" name="Grafik 10">
            <a:extLst>
              <a:ext uri="{FF2B5EF4-FFF2-40B4-BE49-F238E27FC236}">
                <a16:creationId xmlns:a16="http://schemas.microsoft.com/office/drawing/2014/main" id="{265D1F05-BF08-492D-B728-DB5DD40A45F9}"/>
              </a:ext>
            </a:extLst>
          </p:cNvPr>
          <p:cNvPicPr>
            <a:picLocks noChangeAspect="1"/>
          </p:cNvPicPr>
          <p:nvPr/>
        </p:nvPicPr>
        <p:blipFill>
          <a:blip r:embed="rId3"/>
          <a:stretch>
            <a:fillRect/>
          </a:stretch>
        </p:blipFill>
        <p:spPr>
          <a:xfrm>
            <a:off x="7397680" y="2064987"/>
            <a:ext cx="3813867" cy="3067675"/>
          </a:xfrm>
          <a:prstGeom prst="rect">
            <a:avLst/>
          </a:prstGeom>
        </p:spPr>
      </p:pic>
      <p:sp>
        <p:nvSpPr>
          <p:cNvPr id="12" name="Textfeld 11">
            <a:extLst>
              <a:ext uri="{FF2B5EF4-FFF2-40B4-BE49-F238E27FC236}">
                <a16:creationId xmlns:a16="http://schemas.microsoft.com/office/drawing/2014/main" id="{7FFB2C87-D637-4D0F-9663-0C797F1D7E6D}"/>
              </a:ext>
            </a:extLst>
          </p:cNvPr>
          <p:cNvSpPr txBox="1"/>
          <p:nvPr/>
        </p:nvSpPr>
        <p:spPr>
          <a:xfrm>
            <a:off x="541106" y="1450964"/>
            <a:ext cx="1992853" cy="379656"/>
          </a:xfrm>
          <a:prstGeom prst="rect">
            <a:avLst/>
          </a:prstGeom>
          <a:noFill/>
        </p:spPr>
        <p:txBody>
          <a:bodyPr wrap="none" rtlCol="0">
            <a:spAutoFit/>
          </a:bodyPr>
          <a:lstStyle/>
          <a:p>
            <a:pPr defTabSz="1219170">
              <a:buClr>
                <a:srgbClr val="000000"/>
              </a:buClr>
            </a:pPr>
            <a:r>
              <a:rPr lang="de-DE" sz="1867" kern="0" dirty="0">
                <a:solidFill>
                  <a:srgbClr val="000000"/>
                </a:solidFill>
                <a:latin typeface="Arial"/>
                <a:cs typeface="Arial"/>
                <a:sym typeface="Arial"/>
              </a:rPr>
              <a:t>Alignment Phase</a:t>
            </a:r>
          </a:p>
        </p:txBody>
      </p:sp>
      <p:sp>
        <p:nvSpPr>
          <p:cNvPr id="107" name="Textfeld 106">
            <a:extLst>
              <a:ext uri="{FF2B5EF4-FFF2-40B4-BE49-F238E27FC236}">
                <a16:creationId xmlns:a16="http://schemas.microsoft.com/office/drawing/2014/main" id="{ED005D7E-D74B-4F33-9C26-093209DE967F}"/>
              </a:ext>
            </a:extLst>
          </p:cNvPr>
          <p:cNvSpPr txBox="1"/>
          <p:nvPr/>
        </p:nvSpPr>
        <p:spPr>
          <a:xfrm>
            <a:off x="7274105" y="1410984"/>
            <a:ext cx="1914307" cy="379656"/>
          </a:xfrm>
          <a:prstGeom prst="rect">
            <a:avLst/>
          </a:prstGeom>
          <a:noFill/>
        </p:spPr>
        <p:txBody>
          <a:bodyPr wrap="none" rtlCol="0">
            <a:spAutoFit/>
          </a:bodyPr>
          <a:lstStyle/>
          <a:p>
            <a:pPr defTabSz="1219170">
              <a:buClr>
                <a:srgbClr val="000000"/>
              </a:buClr>
            </a:pPr>
            <a:r>
              <a:rPr lang="en-BZ" sz="1867" kern="0" dirty="0">
                <a:solidFill>
                  <a:srgbClr val="000000"/>
                </a:solidFill>
                <a:latin typeface="Arial"/>
                <a:cs typeface="Arial"/>
                <a:sym typeface="Arial"/>
              </a:rPr>
              <a:t>Classifier</a:t>
            </a:r>
            <a:r>
              <a:rPr lang="de-DE" sz="1867" kern="0" dirty="0">
                <a:solidFill>
                  <a:srgbClr val="000000"/>
                </a:solidFill>
                <a:latin typeface="Arial"/>
                <a:cs typeface="Arial"/>
                <a:sym typeface="Arial"/>
              </a:rPr>
              <a:t> Phase</a:t>
            </a:r>
          </a:p>
        </p:txBody>
      </p:sp>
      <p:sp>
        <p:nvSpPr>
          <p:cNvPr id="13" name="Rechteck 12">
            <a:extLst>
              <a:ext uri="{FF2B5EF4-FFF2-40B4-BE49-F238E27FC236}">
                <a16:creationId xmlns:a16="http://schemas.microsoft.com/office/drawing/2014/main" id="{BBFB2761-5D6E-494A-ACD5-F31BDBD72D93}"/>
              </a:ext>
            </a:extLst>
          </p:cNvPr>
          <p:cNvSpPr/>
          <p:nvPr/>
        </p:nvSpPr>
        <p:spPr>
          <a:xfrm>
            <a:off x="541104" y="5920534"/>
            <a:ext cx="10849595" cy="534559"/>
          </a:xfrm>
          <a:prstGeom prst="rect">
            <a:avLst/>
          </a:prstGeom>
          <a:noFill/>
          <a:ln>
            <a:solidFill>
              <a:srgbClr val="607D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sp>
        <p:nvSpPr>
          <p:cNvPr id="108" name="Rechteck 107">
            <a:extLst>
              <a:ext uri="{FF2B5EF4-FFF2-40B4-BE49-F238E27FC236}">
                <a16:creationId xmlns:a16="http://schemas.microsoft.com/office/drawing/2014/main" id="{0F774C2A-F004-4787-8201-FD63F5208209}"/>
              </a:ext>
            </a:extLst>
          </p:cNvPr>
          <p:cNvSpPr/>
          <p:nvPr/>
        </p:nvSpPr>
        <p:spPr>
          <a:xfrm>
            <a:off x="5882383" y="4192603"/>
            <a:ext cx="742501" cy="101456"/>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b"/>
          <a:lstStyle/>
          <a:p>
            <a:pPr algn="ctr" defTabSz="1219170">
              <a:lnSpc>
                <a:spcPts val="2613"/>
              </a:lnSpc>
              <a:buClr>
                <a:srgbClr val="0091EA"/>
              </a:buClr>
            </a:pPr>
            <a:r>
              <a:rPr lang="de-DE" sz="1067" kern="0" dirty="0">
                <a:solidFill>
                  <a:srgbClr val="263238"/>
                </a:solidFill>
                <a:latin typeface="Times New Roman" panose="02020603050405020304" pitchFamily="18" charset="0"/>
                <a:cs typeface="Times New Roman" panose="02020603050405020304" pitchFamily="18" charset="0"/>
                <a:sym typeface="Arial"/>
              </a:rPr>
              <a:t>RGB</a:t>
            </a:r>
          </a:p>
        </p:txBody>
      </p:sp>
      <p:pic>
        <p:nvPicPr>
          <p:cNvPr id="109" name="Grafik 108" descr="Feuer">
            <a:extLst>
              <a:ext uri="{FF2B5EF4-FFF2-40B4-BE49-F238E27FC236}">
                <a16:creationId xmlns:a16="http://schemas.microsoft.com/office/drawing/2014/main" id="{585D4007-1616-4C0B-9C8B-5C82EFC189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761" y="6017729"/>
            <a:ext cx="285080" cy="321140"/>
          </a:xfrm>
          <a:prstGeom prst="rect">
            <a:avLst/>
          </a:prstGeom>
        </p:spPr>
      </p:pic>
      <p:pic>
        <p:nvPicPr>
          <p:cNvPr id="110" name="Grafik 109" descr="Schneeflocke">
            <a:extLst>
              <a:ext uri="{FF2B5EF4-FFF2-40B4-BE49-F238E27FC236}">
                <a16:creationId xmlns:a16="http://schemas.microsoft.com/office/drawing/2014/main" id="{A8AEDB55-4CD8-4A04-98AC-860F8A9E4C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72031" y="6017728"/>
            <a:ext cx="334272" cy="334272"/>
          </a:xfrm>
          <a:prstGeom prst="rect">
            <a:avLst/>
          </a:prstGeom>
        </p:spPr>
      </p:pic>
      <p:sp>
        <p:nvSpPr>
          <p:cNvPr id="14" name="Textfeld 13">
            <a:extLst>
              <a:ext uri="{FF2B5EF4-FFF2-40B4-BE49-F238E27FC236}">
                <a16:creationId xmlns:a16="http://schemas.microsoft.com/office/drawing/2014/main" id="{982E7A33-268E-4CB3-A7F2-878F356EB989}"/>
              </a:ext>
            </a:extLst>
          </p:cNvPr>
          <p:cNvSpPr txBox="1"/>
          <p:nvPr/>
        </p:nvSpPr>
        <p:spPr>
          <a:xfrm>
            <a:off x="885841" y="6003146"/>
            <a:ext cx="1789272"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Trainable weights</a:t>
            </a:r>
          </a:p>
        </p:txBody>
      </p:sp>
      <p:sp>
        <p:nvSpPr>
          <p:cNvPr id="112" name="Textfeld 111">
            <a:extLst>
              <a:ext uri="{FF2B5EF4-FFF2-40B4-BE49-F238E27FC236}">
                <a16:creationId xmlns:a16="http://schemas.microsoft.com/office/drawing/2014/main" id="{53D6C78C-4EDA-4502-84EE-6A9820F82293}"/>
              </a:ext>
            </a:extLst>
          </p:cNvPr>
          <p:cNvSpPr txBox="1"/>
          <p:nvPr/>
        </p:nvSpPr>
        <p:spPr>
          <a:xfrm>
            <a:off x="2995309" y="5992919"/>
            <a:ext cx="822661"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Frozen</a:t>
            </a:r>
          </a:p>
        </p:txBody>
      </p:sp>
      <p:pic>
        <p:nvPicPr>
          <p:cNvPr id="36" name="Grafik 35">
            <a:extLst>
              <a:ext uri="{FF2B5EF4-FFF2-40B4-BE49-F238E27FC236}">
                <a16:creationId xmlns:a16="http://schemas.microsoft.com/office/drawing/2014/main" id="{74E4C058-D8B6-410F-B6A2-AE23B2C9BFAE}"/>
              </a:ext>
            </a:extLst>
          </p:cNvPr>
          <p:cNvPicPr>
            <a:picLocks noChangeAspect="1"/>
          </p:cNvPicPr>
          <p:nvPr/>
        </p:nvPicPr>
        <p:blipFill>
          <a:blip r:embed="rId8"/>
          <a:stretch>
            <a:fillRect/>
          </a:stretch>
        </p:blipFill>
        <p:spPr>
          <a:xfrm>
            <a:off x="3887336" y="6085904"/>
            <a:ext cx="754397" cy="201173"/>
          </a:xfrm>
          <a:prstGeom prst="rect">
            <a:avLst/>
          </a:prstGeom>
        </p:spPr>
      </p:pic>
      <p:sp>
        <p:nvSpPr>
          <p:cNvPr id="117" name="Textfeld 116">
            <a:extLst>
              <a:ext uri="{FF2B5EF4-FFF2-40B4-BE49-F238E27FC236}">
                <a16:creationId xmlns:a16="http://schemas.microsoft.com/office/drawing/2014/main" id="{D8C2259C-2A4F-4296-BA41-8A64E3CD7A3E}"/>
              </a:ext>
            </a:extLst>
          </p:cNvPr>
          <p:cNvSpPr txBox="1"/>
          <p:nvPr/>
        </p:nvSpPr>
        <p:spPr>
          <a:xfrm>
            <a:off x="4693088" y="5982668"/>
            <a:ext cx="1574470"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Representation</a:t>
            </a:r>
          </a:p>
        </p:txBody>
      </p:sp>
      <p:pic>
        <p:nvPicPr>
          <p:cNvPr id="118" name="Grafik 117">
            <a:extLst>
              <a:ext uri="{FF2B5EF4-FFF2-40B4-BE49-F238E27FC236}">
                <a16:creationId xmlns:a16="http://schemas.microsoft.com/office/drawing/2014/main" id="{3993B616-297B-4EF5-86EF-3F6482EE8AE0}"/>
              </a:ext>
            </a:extLst>
          </p:cNvPr>
          <p:cNvPicPr>
            <a:picLocks noChangeAspect="1"/>
          </p:cNvPicPr>
          <p:nvPr/>
        </p:nvPicPr>
        <p:blipFill>
          <a:blip r:embed="rId2"/>
          <a:stretch>
            <a:fillRect/>
          </a:stretch>
        </p:blipFill>
        <p:spPr>
          <a:xfrm>
            <a:off x="6247602" y="5940195"/>
            <a:ext cx="394036" cy="435827"/>
          </a:xfrm>
          <a:prstGeom prst="rect">
            <a:avLst/>
          </a:prstGeom>
        </p:spPr>
      </p:pic>
      <p:pic>
        <p:nvPicPr>
          <p:cNvPr id="119" name="Grafik 118">
            <a:extLst>
              <a:ext uri="{FF2B5EF4-FFF2-40B4-BE49-F238E27FC236}">
                <a16:creationId xmlns:a16="http://schemas.microsoft.com/office/drawing/2014/main" id="{D52429B5-BDDD-4791-9E19-F9E8F7F585B3}"/>
              </a:ext>
            </a:extLst>
          </p:cNvPr>
          <p:cNvPicPr>
            <a:picLocks noChangeAspect="1"/>
          </p:cNvPicPr>
          <p:nvPr/>
        </p:nvPicPr>
        <p:blipFill>
          <a:blip r:embed="rId9"/>
          <a:stretch>
            <a:fillRect/>
          </a:stretch>
        </p:blipFill>
        <p:spPr>
          <a:xfrm>
            <a:off x="8073517" y="5939583"/>
            <a:ext cx="375785" cy="436575"/>
          </a:xfrm>
          <a:prstGeom prst="rect">
            <a:avLst/>
          </a:prstGeom>
        </p:spPr>
      </p:pic>
      <p:sp>
        <p:nvSpPr>
          <p:cNvPr id="120" name="Textfeld 119">
            <a:extLst>
              <a:ext uri="{FF2B5EF4-FFF2-40B4-BE49-F238E27FC236}">
                <a16:creationId xmlns:a16="http://schemas.microsoft.com/office/drawing/2014/main" id="{24A5489F-6EAA-4E1A-A97A-CCB895A50E2F}"/>
              </a:ext>
            </a:extLst>
          </p:cNvPr>
          <p:cNvSpPr txBox="1"/>
          <p:nvPr/>
        </p:nvSpPr>
        <p:spPr>
          <a:xfrm>
            <a:off x="6579967" y="5982667"/>
            <a:ext cx="1460656"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InfoNCE-Loss</a:t>
            </a:r>
          </a:p>
        </p:txBody>
      </p:sp>
      <p:sp>
        <p:nvSpPr>
          <p:cNvPr id="121" name="Textfeld 120">
            <a:extLst>
              <a:ext uri="{FF2B5EF4-FFF2-40B4-BE49-F238E27FC236}">
                <a16:creationId xmlns:a16="http://schemas.microsoft.com/office/drawing/2014/main" id="{4C49AF78-E15A-43D9-89FE-0A9EDF95F8F7}"/>
              </a:ext>
            </a:extLst>
          </p:cNvPr>
          <p:cNvSpPr txBox="1"/>
          <p:nvPr/>
        </p:nvSpPr>
        <p:spPr>
          <a:xfrm>
            <a:off x="8371033" y="5989107"/>
            <a:ext cx="2839239"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Balanced CrossEntropy-Loss</a:t>
            </a:r>
          </a:p>
        </p:txBody>
      </p:sp>
      <p:cxnSp>
        <p:nvCxnSpPr>
          <p:cNvPr id="39" name="Gerader Verbinder 38">
            <a:extLst>
              <a:ext uri="{FF2B5EF4-FFF2-40B4-BE49-F238E27FC236}">
                <a16:creationId xmlns:a16="http://schemas.microsoft.com/office/drawing/2014/main" id="{F0A8C590-A3BB-4D02-8FF6-FD49CD86A952}"/>
              </a:ext>
            </a:extLst>
          </p:cNvPr>
          <p:cNvCxnSpPr/>
          <p:nvPr/>
        </p:nvCxnSpPr>
        <p:spPr>
          <a:xfrm>
            <a:off x="2672031" y="5939583"/>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2" name="Gerader Verbinder 121">
            <a:extLst>
              <a:ext uri="{FF2B5EF4-FFF2-40B4-BE49-F238E27FC236}">
                <a16:creationId xmlns:a16="http://schemas.microsoft.com/office/drawing/2014/main" id="{E1301F8E-3CCA-48BF-929F-D22DFBD17C87}"/>
              </a:ext>
            </a:extLst>
          </p:cNvPr>
          <p:cNvCxnSpPr/>
          <p:nvPr/>
        </p:nvCxnSpPr>
        <p:spPr>
          <a:xfrm>
            <a:off x="3859369"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3" name="Gerader Verbinder 122">
            <a:extLst>
              <a:ext uri="{FF2B5EF4-FFF2-40B4-BE49-F238E27FC236}">
                <a16:creationId xmlns:a16="http://schemas.microsoft.com/office/drawing/2014/main" id="{BDEABF9B-1094-4B6C-8828-D2E9EA1EDCFF}"/>
              </a:ext>
            </a:extLst>
          </p:cNvPr>
          <p:cNvCxnSpPr/>
          <p:nvPr/>
        </p:nvCxnSpPr>
        <p:spPr>
          <a:xfrm>
            <a:off x="6247601" y="5948651"/>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6" name="Gerader Verbinder 125">
            <a:extLst>
              <a:ext uri="{FF2B5EF4-FFF2-40B4-BE49-F238E27FC236}">
                <a16:creationId xmlns:a16="http://schemas.microsoft.com/office/drawing/2014/main" id="{BFEAC2BA-D317-4295-A1F2-081649E3C4E6}"/>
              </a:ext>
            </a:extLst>
          </p:cNvPr>
          <p:cNvCxnSpPr/>
          <p:nvPr/>
        </p:nvCxnSpPr>
        <p:spPr>
          <a:xfrm>
            <a:off x="8073516"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pic>
        <p:nvPicPr>
          <p:cNvPr id="40" name="Grafik 39">
            <a:extLst>
              <a:ext uri="{FF2B5EF4-FFF2-40B4-BE49-F238E27FC236}">
                <a16:creationId xmlns:a16="http://schemas.microsoft.com/office/drawing/2014/main" id="{49CE00C8-2D7D-4614-AE66-B838E9D259F7}"/>
              </a:ext>
            </a:extLst>
          </p:cNvPr>
          <p:cNvPicPr>
            <a:picLocks noChangeAspect="1"/>
          </p:cNvPicPr>
          <p:nvPr/>
        </p:nvPicPr>
        <p:blipFill>
          <a:blip r:embed="rId10"/>
          <a:stretch>
            <a:fillRect/>
          </a:stretch>
        </p:blipFill>
        <p:spPr>
          <a:xfrm>
            <a:off x="727454" y="1895351"/>
            <a:ext cx="6263831" cy="3728071"/>
          </a:xfrm>
          <a:prstGeom prst="rect">
            <a:avLst/>
          </a:prstGeom>
        </p:spPr>
      </p:pic>
      <p:pic>
        <p:nvPicPr>
          <p:cNvPr id="127" name="Grafik 126" descr="Feuer">
            <a:extLst>
              <a:ext uri="{FF2B5EF4-FFF2-40B4-BE49-F238E27FC236}">
                <a16:creationId xmlns:a16="http://schemas.microsoft.com/office/drawing/2014/main" id="{739CC667-12FE-4055-8BCA-58BE6BD463A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7815" y="2296378"/>
            <a:ext cx="176344" cy="125989"/>
          </a:xfrm>
          <a:prstGeom prst="rect">
            <a:avLst/>
          </a:prstGeom>
        </p:spPr>
      </p:pic>
      <p:pic>
        <p:nvPicPr>
          <p:cNvPr id="128" name="Grafik 127" descr="Feuer">
            <a:extLst>
              <a:ext uri="{FF2B5EF4-FFF2-40B4-BE49-F238E27FC236}">
                <a16:creationId xmlns:a16="http://schemas.microsoft.com/office/drawing/2014/main" id="{D674D778-75A0-443A-A80B-7F10DF143A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7815" y="2639779"/>
            <a:ext cx="176344" cy="125989"/>
          </a:xfrm>
          <a:prstGeom prst="rect">
            <a:avLst/>
          </a:prstGeom>
        </p:spPr>
      </p:pic>
      <p:pic>
        <p:nvPicPr>
          <p:cNvPr id="129" name="Grafik 128" descr="Feuer">
            <a:extLst>
              <a:ext uri="{FF2B5EF4-FFF2-40B4-BE49-F238E27FC236}">
                <a16:creationId xmlns:a16="http://schemas.microsoft.com/office/drawing/2014/main" id="{2C387B09-C0E3-462D-950E-CAB43AF743A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7815" y="3265312"/>
            <a:ext cx="176344" cy="125989"/>
          </a:xfrm>
          <a:prstGeom prst="rect">
            <a:avLst/>
          </a:prstGeom>
        </p:spPr>
      </p:pic>
      <p:pic>
        <p:nvPicPr>
          <p:cNvPr id="130" name="Grafik 129" descr="Feuer">
            <a:extLst>
              <a:ext uri="{FF2B5EF4-FFF2-40B4-BE49-F238E27FC236}">
                <a16:creationId xmlns:a16="http://schemas.microsoft.com/office/drawing/2014/main" id="{3D0FA0A1-8737-4F03-8A36-13016CE5906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7815" y="3641218"/>
            <a:ext cx="176344" cy="125989"/>
          </a:xfrm>
          <a:prstGeom prst="rect">
            <a:avLst/>
          </a:prstGeom>
        </p:spPr>
      </p:pic>
      <p:pic>
        <p:nvPicPr>
          <p:cNvPr id="131" name="Grafik 130" descr="Feuer">
            <a:extLst>
              <a:ext uri="{FF2B5EF4-FFF2-40B4-BE49-F238E27FC236}">
                <a16:creationId xmlns:a16="http://schemas.microsoft.com/office/drawing/2014/main" id="{BCB89DE6-F08C-4B47-92E5-B2932FEB05F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5904" y="4510680"/>
            <a:ext cx="176344" cy="125989"/>
          </a:xfrm>
          <a:prstGeom prst="rect">
            <a:avLst/>
          </a:prstGeom>
        </p:spPr>
      </p:pic>
      <p:pic>
        <p:nvPicPr>
          <p:cNvPr id="132" name="Grafik 131" descr="Feuer">
            <a:extLst>
              <a:ext uri="{FF2B5EF4-FFF2-40B4-BE49-F238E27FC236}">
                <a16:creationId xmlns:a16="http://schemas.microsoft.com/office/drawing/2014/main" id="{C175B61B-A5E6-4CFF-90CA-DA784608B2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5904" y="4140679"/>
            <a:ext cx="176344" cy="125989"/>
          </a:xfrm>
          <a:prstGeom prst="rect">
            <a:avLst/>
          </a:prstGeom>
        </p:spPr>
      </p:pic>
      <p:sp>
        <p:nvSpPr>
          <p:cNvPr id="5" name="Rechteck 4">
            <a:extLst>
              <a:ext uri="{FF2B5EF4-FFF2-40B4-BE49-F238E27FC236}">
                <a16:creationId xmlns:a16="http://schemas.microsoft.com/office/drawing/2014/main" id="{5DE5C62B-9927-431A-8F7C-4C7E56209BBD}"/>
              </a:ext>
            </a:extLst>
          </p:cNvPr>
          <p:cNvSpPr/>
          <p:nvPr/>
        </p:nvSpPr>
        <p:spPr>
          <a:xfrm>
            <a:off x="3681242" y="3598824"/>
            <a:ext cx="187732" cy="1683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E9799CEE-43E4-4206-9507-49D371126D5B}"/>
              </a:ext>
            </a:extLst>
          </p:cNvPr>
          <p:cNvSpPr/>
          <p:nvPr/>
        </p:nvSpPr>
        <p:spPr>
          <a:xfrm>
            <a:off x="3094956" y="4183536"/>
            <a:ext cx="102918" cy="6069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6" name="Rechteck 45">
            <a:extLst>
              <a:ext uri="{FF2B5EF4-FFF2-40B4-BE49-F238E27FC236}">
                <a16:creationId xmlns:a16="http://schemas.microsoft.com/office/drawing/2014/main" id="{49A8DBE8-37CC-4321-89A4-C0E66BADEC71}"/>
              </a:ext>
            </a:extLst>
          </p:cNvPr>
          <p:cNvSpPr/>
          <p:nvPr/>
        </p:nvSpPr>
        <p:spPr>
          <a:xfrm>
            <a:off x="3439682" y="4628188"/>
            <a:ext cx="241560" cy="3199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Rechteck 46">
            <a:extLst>
              <a:ext uri="{FF2B5EF4-FFF2-40B4-BE49-F238E27FC236}">
                <a16:creationId xmlns:a16="http://schemas.microsoft.com/office/drawing/2014/main" id="{0A6D02E5-7BBC-4E51-9FF7-0D56521A7B54}"/>
              </a:ext>
            </a:extLst>
          </p:cNvPr>
          <p:cNvSpPr/>
          <p:nvPr/>
        </p:nvSpPr>
        <p:spPr>
          <a:xfrm>
            <a:off x="3172072" y="4106694"/>
            <a:ext cx="1122756" cy="3199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792134249"/>
      </p:ext>
    </p:extLst>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4. Generalizability (Cross-Dataset)</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26</a:t>
            </a:fld>
            <a:endParaRPr lang="en" kern="0">
              <a:solidFill>
                <a:srgbClr val="0091EA"/>
              </a:solidFill>
            </a:endParaRPr>
          </a:p>
        </p:txBody>
      </p:sp>
      <p:sp>
        <p:nvSpPr>
          <p:cNvPr id="6" name="Rechteck 5">
            <a:extLst>
              <a:ext uri="{FF2B5EF4-FFF2-40B4-BE49-F238E27FC236}">
                <a16:creationId xmlns:a16="http://schemas.microsoft.com/office/drawing/2014/main" id="{3F098895-526E-4279-ACD4-4A3EE9007BB6}"/>
              </a:ext>
            </a:extLst>
          </p:cNvPr>
          <p:cNvSpPr/>
          <p:nvPr/>
        </p:nvSpPr>
        <p:spPr>
          <a:xfrm>
            <a:off x="541105" y="1410984"/>
            <a:ext cx="6636532" cy="4375683"/>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sp>
        <p:nvSpPr>
          <p:cNvPr id="106" name="Rechteck 105">
            <a:extLst>
              <a:ext uri="{FF2B5EF4-FFF2-40B4-BE49-F238E27FC236}">
                <a16:creationId xmlns:a16="http://schemas.microsoft.com/office/drawing/2014/main" id="{48FAC706-6F77-4696-9D6B-D46EEF6BFE5E}"/>
              </a:ext>
            </a:extLst>
          </p:cNvPr>
          <p:cNvSpPr/>
          <p:nvPr/>
        </p:nvSpPr>
        <p:spPr>
          <a:xfrm>
            <a:off x="7274104" y="1410985"/>
            <a:ext cx="4116595" cy="437568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pic>
        <p:nvPicPr>
          <p:cNvPr id="11" name="Grafik 10">
            <a:extLst>
              <a:ext uri="{FF2B5EF4-FFF2-40B4-BE49-F238E27FC236}">
                <a16:creationId xmlns:a16="http://schemas.microsoft.com/office/drawing/2014/main" id="{265D1F05-BF08-492D-B728-DB5DD40A45F9}"/>
              </a:ext>
            </a:extLst>
          </p:cNvPr>
          <p:cNvPicPr>
            <a:picLocks noChangeAspect="1"/>
          </p:cNvPicPr>
          <p:nvPr/>
        </p:nvPicPr>
        <p:blipFill>
          <a:blip r:embed="rId2"/>
          <a:stretch>
            <a:fillRect/>
          </a:stretch>
        </p:blipFill>
        <p:spPr>
          <a:xfrm>
            <a:off x="7451548" y="2450016"/>
            <a:ext cx="3813867" cy="3067675"/>
          </a:xfrm>
          <a:prstGeom prst="rect">
            <a:avLst/>
          </a:prstGeom>
        </p:spPr>
      </p:pic>
      <p:sp>
        <p:nvSpPr>
          <p:cNvPr id="12" name="Textfeld 11">
            <a:extLst>
              <a:ext uri="{FF2B5EF4-FFF2-40B4-BE49-F238E27FC236}">
                <a16:creationId xmlns:a16="http://schemas.microsoft.com/office/drawing/2014/main" id="{7FFB2C87-D637-4D0F-9663-0C797F1D7E6D}"/>
              </a:ext>
            </a:extLst>
          </p:cNvPr>
          <p:cNvSpPr txBox="1"/>
          <p:nvPr/>
        </p:nvSpPr>
        <p:spPr>
          <a:xfrm>
            <a:off x="541106" y="1450965"/>
            <a:ext cx="2284600" cy="666977"/>
          </a:xfrm>
          <a:prstGeom prst="rect">
            <a:avLst/>
          </a:prstGeom>
          <a:noFill/>
        </p:spPr>
        <p:txBody>
          <a:bodyPr wrap="none" rtlCol="0">
            <a:spAutoFit/>
          </a:bodyPr>
          <a:lstStyle/>
          <a:p>
            <a:pPr defTabSz="1219170">
              <a:buClr>
                <a:srgbClr val="000000"/>
              </a:buClr>
            </a:pPr>
            <a:r>
              <a:rPr lang="de-DE" sz="1867" kern="0" dirty="0">
                <a:solidFill>
                  <a:srgbClr val="000000"/>
                </a:solidFill>
                <a:latin typeface="Arial"/>
                <a:cs typeface="Arial"/>
                <a:sym typeface="Arial"/>
              </a:rPr>
              <a:t>Alignment Phase A:</a:t>
            </a:r>
          </a:p>
          <a:p>
            <a:pPr defTabSz="1219170">
              <a:buClr>
                <a:srgbClr val="000000"/>
              </a:buClr>
            </a:pPr>
            <a:r>
              <a:rPr lang="de-DE" sz="1867" kern="0" dirty="0">
                <a:solidFill>
                  <a:srgbClr val="000000"/>
                </a:solidFill>
                <a:latin typeface="Arial"/>
                <a:cs typeface="Arial"/>
                <a:sym typeface="Arial"/>
              </a:rPr>
              <a:t>DAA</a:t>
            </a:r>
          </a:p>
        </p:txBody>
      </p:sp>
      <p:sp>
        <p:nvSpPr>
          <p:cNvPr id="107" name="Textfeld 106">
            <a:extLst>
              <a:ext uri="{FF2B5EF4-FFF2-40B4-BE49-F238E27FC236}">
                <a16:creationId xmlns:a16="http://schemas.microsoft.com/office/drawing/2014/main" id="{ED005D7E-D74B-4F33-9C26-093209DE967F}"/>
              </a:ext>
            </a:extLst>
          </p:cNvPr>
          <p:cNvSpPr txBox="1"/>
          <p:nvPr/>
        </p:nvSpPr>
        <p:spPr>
          <a:xfrm>
            <a:off x="7274105" y="1410985"/>
            <a:ext cx="3986989" cy="666977"/>
          </a:xfrm>
          <a:prstGeom prst="rect">
            <a:avLst/>
          </a:prstGeom>
          <a:noFill/>
        </p:spPr>
        <p:txBody>
          <a:bodyPr wrap="none" rtlCol="0">
            <a:spAutoFit/>
          </a:bodyPr>
          <a:lstStyle/>
          <a:p>
            <a:pPr defTabSz="1219170">
              <a:buClr>
                <a:srgbClr val="000000"/>
              </a:buClr>
            </a:pPr>
            <a:r>
              <a:rPr lang="en-BZ" sz="1867" kern="0" dirty="0">
                <a:solidFill>
                  <a:srgbClr val="000000"/>
                </a:solidFill>
                <a:latin typeface="Arial"/>
                <a:cs typeface="Arial"/>
                <a:sym typeface="Arial"/>
              </a:rPr>
              <a:t>Classifier</a:t>
            </a:r>
            <a:r>
              <a:rPr lang="de-DE" sz="1867" kern="0" dirty="0">
                <a:solidFill>
                  <a:srgbClr val="000000"/>
                </a:solidFill>
                <a:latin typeface="Arial"/>
                <a:cs typeface="Arial"/>
                <a:sym typeface="Arial"/>
              </a:rPr>
              <a:t> Phase on DAA </a:t>
            </a:r>
            <a:r>
              <a:rPr lang="en-AU" sz="1867" kern="0" dirty="0">
                <a:solidFill>
                  <a:srgbClr val="000000"/>
                </a:solidFill>
                <a:latin typeface="Arial"/>
                <a:cs typeface="Arial"/>
                <a:sym typeface="Arial"/>
              </a:rPr>
              <a:t>for</a:t>
            </a:r>
            <a:r>
              <a:rPr lang="de-DE" sz="1867" kern="0" dirty="0">
                <a:solidFill>
                  <a:srgbClr val="000000"/>
                </a:solidFill>
                <a:latin typeface="Arial"/>
                <a:cs typeface="Arial"/>
                <a:sym typeface="Arial"/>
              </a:rPr>
              <a:t> aligned</a:t>
            </a:r>
          </a:p>
          <a:p>
            <a:pPr defTabSz="1219170">
              <a:buClr>
                <a:srgbClr val="000000"/>
              </a:buClr>
            </a:pPr>
            <a:r>
              <a:rPr lang="de-DE" sz="1867" kern="0" dirty="0">
                <a:solidFill>
                  <a:srgbClr val="000000"/>
                </a:solidFill>
                <a:latin typeface="Arial"/>
                <a:cs typeface="Arial"/>
                <a:sym typeface="Arial"/>
              </a:rPr>
              <a:t>models from A and B</a:t>
            </a:r>
          </a:p>
        </p:txBody>
      </p:sp>
      <p:sp>
        <p:nvSpPr>
          <p:cNvPr id="13" name="Rechteck 12">
            <a:extLst>
              <a:ext uri="{FF2B5EF4-FFF2-40B4-BE49-F238E27FC236}">
                <a16:creationId xmlns:a16="http://schemas.microsoft.com/office/drawing/2014/main" id="{BBFB2761-5D6E-494A-ACD5-F31BDBD72D93}"/>
              </a:ext>
            </a:extLst>
          </p:cNvPr>
          <p:cNvSpPr/>
          <p:nvPr/>
        </p:nvSpPr>
        <p:spPr>
          <a:xfrm>
            <a:off x="541104" y="5920534"/>
            <a:ext cx="10849595" cy="534559"/>
          </a:xfrm>
          <a:prstGeom prst="rect">
            <a:avLst/>
          </a:prstGeom>
          <a:noFill/>
          <a:ln>
            <a:solidFill>
              <a:srgbClr val="607D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dirty="0">
              <a:solidFill>
                <a:srgbClr val="FFFFFF"/>
              </a:solidFill>
              <a:latin typeface="Arial"/>
              <a:sym typeface="Arial"/>
            </a:endParaRPr>
          </a:p>
        </p:txBody>
      </p:sp>
      <p:pic>
        <p:nvPicPr>
          <p:cNvPr id="109" name="Grafik 108" descr="Feuer">
            <a:extLst>
              <a:ext uri="{FF2B5EF4-FFF2-40B4-BE49-F238E27FC236}">
                <a16:creationId xmlns:a16="http://schemas.microsoft.com/office/drawing/2014/main" id="{585D4007-1616-4C0B-9C8B-5C82EFC189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8761" y="6017729"/>
            <a:ext cx="285080" cy="321140"/>
          </a:xfrm>
          <a:prstGeom prst="rect">
            <a:avLst/>
          </a:prstGeom>
        </p:spPr>
      </p:pic>
      <p:pic>
        <p:nvPicPr>
          <p:cNvPr id="110" name="Grafik 109" descr="Schneeflocke">
            <a:extLst>
              <a:ext uri="{FF2B5EF4-FFF2-40B4-BE49-F238E27FC236}">
                <a16:creationId xmlns:a16="http://schemas.microsoft.com/office/drawing/2014/main" id="{A8AEDB55-4CD8-4A04-98AC-860F8A9E4C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72031" y="6017728"/>
            <a:ext cx="334272" cy="334272"/>
          </a:xfrm>
          <a:prstGeom prst="rect">
            <a:avLst/>
          </a:prstGeom>
        </p:spPr>
      </p:pic>
      <p:sp>
        <p:nvSpPr>
          <p:cNvPr id="14" name="Textfeld 13">
            <a:extLst>
              <a:ext uri="{FF2B5EF4-FFF2-40B4-BE49-F238E27FC236}">
                <a16:creationId xmlns:a16="http://schemas.microsoft.com/office/drawing/2014/main" id="{982E7A33-268E-4CB3-A7F2-878F356EB989}"/>
              </a:ext>
            </a:extLst>
          </p:cNvPr>
          <p:cNvSpPr txBox="1"/>
          <p:nvPr/>
        </p:nvSpPr>
        <p:spPr>
          <a:xfrm>
            <a:off x="885841" y="6003146"/>
            <a:ext cx="1789272"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Trainable weights</a:t>
            </a:r>
          </a:p>
        </p:txBody>
      </p:sp>
      <p:sp>
        <p:nvSpPr>
          <p:cNvPr id="112" name="Textfeld 111">
            <a:extLst>
              <a:ext uri="{FF2B5EF4-FFF2-40B4-BE49-F238E27FC236}">
                <a16:creationId xmlns:a16="http://schemas.microsoft.com/office/drawing/2014/main" id="{53D6C78C-4EDA-4502-84EE-6A9820F82293}"/>
              </a:ext>
            </a:extLst>
          </p:cNvPr>
          <p:cNvSpPr txBox="1"/>
          <p:nvPr/>
        </p:nvSpPr>
        <p:spPr>
          <a:xfrm>
            <a:off x="2995309" y="5992919"/>
            <a:ext cx="822661"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Frozen</a:t>
            </a:r>
          </a:p>
        </p:txBody>
      </p:sp>
      <p:pic>
        <p:nvPicPr>
          <p:cNvPr id="36" name="Grafik 35">
            <a:extLst>
              <a:ext uri="{FF2B5EF4-FFF2-40B4-BE49-F238E27FC236}">
                <a16:creationId xmlns:a16="http://schemas.microsoft.com/office/drawing/2014/main" id="{74E4C058-D8B6-410F-B6A2-AE23B2C9BFAE}"/>
              </a:ext>
            </a:extLst>
          </p:cNvPr>
          <p:cNvPicPr>
            <a:picLocks noChangeAspect="1"/>
          </p:cNvPicPr>
          <p:nvPr/>
        </p:nvPicPr>
        <p:blipFill>
          <a:blip r:embed="rId7"/>
          <a:stretch>
            <a:fillRect/>
          </a:stretch>
        </p:blipFill>
        <p:spPr>
          <a:xfrm>
            <a:off x="3887336" y="6085904"/>
            <a:ext cx="754397" cy="201173"/>
          </a:xfrm>
          <a:prstGeom prst="rect">
            <a:avLst/>
          </a:prstGeom>
        </p:spPr>
      </p:pic>
      <p:sp>
        <p:nvSpPr>
          <p:cNvPr id="117" name="Textfeld 116">
            <a:extLst>
              <a:ext uri="{FF2B5EF4-FFF2-40B4-BE49-F238E27FC236}">
                <a16:creationId xmlns:a16="http://schemas.microsoft.com/office/drawing/2014/main" id="{D8C2259C-2A4F-4296-BA41-8A64E3CD7A3E}"/>
              </a:ext>
            </a:extLst>
          </p:cNvPr>
          <p:cNvSpPr txBox="1"/>
          <p:nvPr/>
        </p:nvSpPr>
        <p:spPr>
          <a:xfrm>
            <a:off x="4693088" y="5982668"/>
            <a:ext cx="1574470"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Representation</a:t>
            </a:r>
          </a:p>
        </p:txBody>
      </p:sp>
      <p:pic>
        <p:nvPicPr>
          <p:cNvPr id="118" name="Grafik 117">
            <a:extLst>
              <a:ext uri="{FF2B5EF4-FFF2-40B4-BE49-F238E27FC236}">
                <a16:creationId xmlns:a16="http://schemas.microsoft.com/office/drawing/2014/main" id="{3993B616-297B-4EF5-86EF-3F6482EE8AE0}"/>
              </a:ext>
            </a:extLst>
          </p:cNvPr>
          <p:cNvPicPr>
            <a:picLocks noChangeAspect="1"/>
          </p:cNvPicPr>
          <p:nvPr/>
        </p:nvPicPr>
        <p:blipFill>
          <a:blip r:embed="rId8"/>
          <a:stretch>
            <a:fillRect/>
          </a:stretch>
        </p:blipFill>
        <p:spPr>
          <a:xfrm>
            <a:off x="6247602" y="5940195"/>
            <a:ext cx="394036" cy="435827"/>
          </a:xfrm>
          <a:prstGeom prst="rect">
            <a:avLst/>
          </a:prstGeom>
        </p:spPr>
      </p:pic>
      <p:pic>
        <p:nvPicPr>
          <p:cNvPr id="119" name="Grafik 118">
            <a:extLst>
              <a:ext uri="{FF2B5EF4-FFF2-40B4-BE49-F238E27FC236}">
                <a16:creationId xmlns:a16="http://schemas.microsoft.com/office/drawing/2014/main" id="{D52429B5-BDDD-4791-9E19-F9E8F7F585B3}"/>
              </a:ext>
            </a:extLst>
          </p:cNvPr>
          <p:cNvPicPr>
            <a:picLocks noChangeAspect="1"/>
          </p:cNvPicPr>
          <p:nvPr/>
        </p:nvPicPr>
        <p:blipFill>
          <a:blip r:embed="rId9"/>
          <a:stretch>
            <a:fillRect/>
          </a:stretch>
        </p:blipFill>
        <p:spPr>
          <a:xfrm>
            <a:off x="8073517" y="5939583"/>
            <a:ext cx="375785" cy="436575"/>
          </a:xfrm>
          <a:prstGeom prst="rect">
            <a:avLst/>
          </a:prstGeom>
        </p:spPr>
      </p:pic>
      <p:sp>
        <p:nvSpPr>
          <p:cNvPr id="120" name="Textfeld 119">
            <a:extLst>
              <a:ext uri="{FF2B5EF4-FFF2-40B4-BE49-F238E27FC236}">
                <a16:creationId xmlns:a16="http://schemas.microsoft.com/office/drawing/2014/main" id="{24A5489F-6EAA-4E1A-A97A-CCB895A50E2F}"/>
              </a:ext>
            </a:extLst>
          </p:cNvPr>
          <p:cNvSpPr txBox="1"/>
          <p:nvPr/>
        </p:nvSpPr>
        <p:spPr>
          <a:xfrm>
            <a:off x="6579967" y="5982667"/>
            <a:ext cx="1460656"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InfoNCE-Loss</a:t>
            </a:r>
          </a:p>
        </p:txBody>
      </p:sp>
      <p:sp>
        <p:nvSpPr>
          <p:cNvPr id="121" name="Textfeld 120">
            <a:extLst>
              <a:ext uri="{FF2B5EF4-FFF2-40B4-BE49-F238E27FC236}">
                <a16:creationId xmlns:a16="http://schemas.microsoft.com/office/drawing/2014/main" id="{4C49AF78-E15A-43D9-89FE-0A9EDF95F8F7}"/>
              </a:ext>
            </a:extLst>
          </p:cNvPr>
          <p:cNvSpPr txBox="1"/>
          <p:nvPr/>
        </p:nvSpPr>
        <p:spPr>
          <a:xfrm>
            <a:off x="8371033" y="5989107"/>
            <a:ext cx="2839239"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Balanced CrossEntropy-Loss</a:t>
            </a:r>
          </a:p>
        </p:txBody>
      </p:sp>
      <p:cxnSp>
        <p:nvCxnSpPr>
          <p:cNvPr id="39" name="Gerader Verbinder 38">
            <a:extLst>
              <a:ext uri="{FF2B5EF4-FFF2-40B4-BE49-F238E27FC236}">
                <a16:creationId xmlns:a16="http://schemas.microsoft.com/office/drawing/2014/main" id="{F0A8C590-A3BB-4D02-8FF6-FD49CD86A952}"/>
              </a:ext>
            </a:extLst>
          </p:cNvPr>
          <p:cNvCxnSpPr/>
          <p:nvPr/>
        </p:nvCxnSpPr>
        <p:spPr>
          <a:xfrm>
            <a:off x="2672031" y="5939583"/>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2" name="Gerader Verbinder 121">
            <a:extLst>
              <a:ext uri="{FF2B5EF4-FFF2-40B4-BE49-F238E27FC236}">
                <a16:creationId xmlns:a16="http://schemas.microsoft.com/office/drawing/2014/main" id="{E1301F8E-3CCA-48BF-929F-D22DFBD17C87}"/>
              </a:ext>
            </a:extLst>
          </p:cNvPr>
          <p:cNvCxnSpPr/>
          <p:nvPr/>
        </p:nvCxnSpPr>
        <p:spPr>
          <a:xfrm>
            <a:off x="3859369"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3" name="Gerader Verbinder 122">
            <a:extLst>
              <a:ext uri="{FF2B5EF4-FFF2-40B4-BE49-F238E27FC236}">
                <a16:creationId xmlns:a16="http://schemas.microsoft.com/office/drawing/2014/main" id="{BDEABF9B-1094-4B6C-8828-D2E9EA1EDCFF}"/>
              </a:ext>
            </a:extLst>
          </p:cNvPr>
          <p:cNvCxnSpPr/>
          <p:nvPr/>
        </p:nvCxnSpPr>
        <p:spPr>
          <a:xfrm>
            <a:off x="6247601" y="5948651"/>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6" name="Gerader Verbinder 125">
            <a:extLst>
              <a:ext uri="{FF2B5EF4-FFF2-40B4-BE49-F238E27FC236}">
                <a16:creationId xmlns:a16="http://schemas.microsoft.com/office/drawing/2014/main" id="{BFEAC2BA-D317-4295-A1F2-081649E3C4E6}"/>
              </a:ext>
            </a:extLst>
          </p:cNvPr>
          <p:cNvCxnSpPr/>
          <p:nvPr/>
        </p:nvCxnSpPr>
        <p:spPr>
          <a:xfrm>
            <a:off x="8073516"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pic>
        <p:nvPicPr>
          <p:cNvPr id="3" name="Grafik 2">
            <a:extLst>
              <a:ext uri="{FF2B5EF4-FFF2-40B4-BE49-F238E27FC236}">
                <a16:creationId xmlns:a16="http://schemas.microsoft.com/office/drawing/2014/main" id="{B128C2E5-C10C-416F-8835-35A045CAAF4E}"/>
              </a:ext>
            </a:extLst>
          </p:cNvPr>
          <p:cNvPicPr>
            <a:picLocks noChangeAspect="1"/>
          </p:cNvPicPr>
          <p:nvPr/>
        </p:nvPicPr>
        <p:blipFill>
          <a:blip r:embed="rId10"/>
          <a:stretch>
            <a:fillRect/>
          </a:stretch>
        </p:blipFill>
        <p:spPr>
          <a:xfrm>
            <a:off x="3622312" y="1592237"/>
            <a:ext cx="3349673" cy="1970396"/>
          </a:xfrm>
          <a:prstGeom prst="rect">
            <a:avLst/>
          </a:prstGeom>
        </p:spPr>
      </p:pic>
      <p:cxnSp>
        <p:nvCxnSpPr>
          <p:cNvPr id="10" name="Gerader Verbinder 9">
            <a:extLst>
              <a:ext uri="{FF2B5EF4-FFF2-40B4-BE49-F238E27FC236}">
                <a16:creationId xmlns:a16="http://schemas.microsoft.com/office/drawing/2014/main" id="{214457A9-EACD-4749-8576-AD5FA66FFBE0}"/>
              </a:ext>
            </a:extLst>
          </p:cNvPr>
          <p:cNvCxnSpPr>
            <a:cxnSpLocks/>
          </p:cNvCxnSpPr>
          <p:nvPr/>
        </p:nvCxnSpPr>
        <p:spPr>
          <a:xfrm>
            <a:off x="541103" y="3623637"/>
            <a:ext cx="6636532"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9" name="Textfeld 48">
            <a:extLst>
              <a:ext uri="{FF2B5EF4-FFF2-40B4-BE49-F238E27FC236}">
                <a16:creationId xmlns:a16="http://schemas.microsoft.com/office/drawing/2014/main" id="{6F175037-1815-48E3-81E9-CFEC505E0E9E}"/>
              </a:ext>
            </a:extLst>
          </p:cNvPr>
          <p:cNvSpPr txBox="1"/>
          <p:nvPr/>
        </p:nvSpPr>
        <p:spPr>
          <a:xfrm>
            <a:off x="503258" y="3623637"/>
            <a:ext cx="2284600" cy="666977"/>
          </a:xfrm>
          <a:prstGeom prst="rect">
            <a:avLst/>
          </a:prstGeom>
          <a:noFill/>
        </p:spPr>
        <p:txBody>
          <a:bodyPr wrap="none" rtlCol="0">
            <a:spAutoFit/>
          </a:bodyPr>
          <a:lstStyle/>
          <a:p>
            <a:pPr defTabSz="1219170">
              <a:buClr>
                <a:srgbClr val="000000"/>
              </a:buClr>
            </a:pPr>
            <a:r>
              <a:rPr lang="de-DE" sz="1867" kern="0" dirty="0">
                <a:solidFill>
                  <a:srgbClr val="000000"/>
                </a:solidFill>
                <a:latin typeface="Arial"/>
                <a:cs typeface="Arial"/>
                <a:sym typeface="Arial"/>
              </a:rPr>
              <a:t>Alignment Phase B:</a:t>
            </a:r>
          </a:p>
          <a:p>
            <a:pPr defTabSz="1219170">
              <a:buClr>
                <a:srgbClr val="000000"/>
              </a:buClr>
            </a:pPr>
            <a:r>
              <a:rPr lang="de-DE" sz="1867" kern="0" dirty="0">
                <a:solidFill>
                  <a:srgbClr val="000000"/>
                </a:solidFill>
                <a:latin typeface="Arial"/>
                <a:cs typeface="Arial"/>
                <a:sym typeface="Arial"/>
              </a:rPr>
              <a:t>NTU</a:t>
            </a:r>
          </a:p>
        </p:txBody>
      </p:sp>
      <p:pic>
        <p:nvPicPr>
          <p:cNvPr id="16" name="Grafik 15">
            <a:extLst>
              <a:ext uri="{FF2B5EF4-FFF2-40B4-BE49-F238E27FC236}">
                <a16:creationId xmlns:a16="http://schemas.microsoft.com/office/drawing/2014/main" id="{9EAB8521-96A2-4C75-9D6C-01CF223BEA54}"/>
              </a:ext>
            </a:extLst>
          </p:cNvPr>
          <p:cNvPicPr>
            <a:picLocks noChangeAspect="1"/>
          </p:cNvPicPr>
          <p:nvPr/>
        </p:nvPicPr>
        <p:blipFill>
          <a:blip r:embed="rId11"/>
          <a:stretch>
            <a:fillRect/>
          </a:stretch>
        </p:blipFill>
        <p:spPr>
          <a:xfrm>
            <a:off x="3583924" y="3662184"/>
            <a:ext cx="3564896" cy="2079261"/>
          </a:xfrm>
          <a:prstGeom prst="rect">
            <a:avLst/>
          </a:prstGeom>
        </p:spPr>
      </p:pic>
    </p:spTree>
    <p:extLst>
      <p:ext uri="{BB962C8B-B14F-4D97-AF65-F5344CB8AC3E}">
        <p14:creationId xmlns:p14="http://schemas.microsoft.com/office/powerpoint/2010/main" val="642521584"/>
      </p:ext>
    </p:extLst>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Generalizability (Cross-Dataset)</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27</a:t>
            </a:fld>
            <a:endParaRPr lang="en" kern="0">
              <a:solidFill>
                <a:srgbClr val="0091EA"/>
              </a:solidFill>
            </a:endParaRPr>
          </a:p>
        </p:txBody>
      </p:sp>
      <p:graphicFrame>
        <p:nvGraphicFramePr>
          <p:cNvPr id="7" name="Diagramm 6">
            <a:extLst>
              <a:ext uri="{FF2B5EF4-FFF2-40B4-BE49-F238E27FC236}">
                <a16:creationId xmlns:a16="http://schemas.microsoft.com/office/drawing/2014/main" id="{2A6BD51E-EEE1-474B-A97E-F2112BD95750}"/>
              </a:ext>
            </a:extLst>
          </p:cNvPr>
          <p:cNvGraphicFramePr/>
          <p:nvPr/>
        </p:nvGraphicFramePr>
        <p:xfrm>
          <a:off x="7455878" y="280594"/>
          <a:ext cx="3521389" cy="21340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Placeholder 2">
            <a:extLst>
              <a:ext uri="{FF2B5EF4-FFF2-40B4-BE49-F238E27FC236}">
                <a16:creationId xmlns:a16="http://schemas.microsoft.com/office/drawing/2014/main" id="{495F0477-F2F4-48B2-BAF1-24E9B3E9E6B1}"/>
              </a:ext>
            </a:extLst>
          </p:cNvPr>
          <p:cNvSpPr>
            <a:spLocks noGrp="1"/>
          </p:cNvSpPr>
          <p:nvPr>
            <p:ph type="body" idx="1"/>
          </p:nvPr>
        </p:nvSpPr>
        <p:spPr>
          <a:xfrm>
            <a:off x="7755829" y="2778081"/>
            <a:ext cx="4481567" cy="3828756"/>
          </a:xfrm>
        </p:spPr>
        <p:txBody>
          <a:bodyPr/>
          <a:lstStyle/>
          <a:p>
            <a:pPr>
              <a:buFont typeface="Wingdings" panose="05000000000000000000" pitchFamily="2" charset="2"/>
              <a:buChar char="Ø"/>
            </a:pPr>
            <a:r>
              <a:rPr lang="en-US" sz="1800" dirty="0"/>
              <a:t>CLIP-VIP encoders aligned on NTU60 </a:t>
            </a:r>
            <a:r>
              <a:rPr lang="en-US" sz="1800" dirty="0">
                <a:solidFill>
                  <a:srgbClr val="FF0000"/>
                </a:solidFill>
              </a:rPr>
              <a:t>outperform</a:t>
            </a:r>
            <a:r>
              <a:rPr lang="en-US" sz="1800" dirty="0"/>
              <a:t> those aligned on DAA </a:t>
            </a:r>
          </a:p>
          <a:p>
            <a:pPr>
              <a:buFont typeface="Wingdings" panose="05000000000000000000" pitchFamily="2" charset="2"/>
              <a:buChar char="Ø"/>
            </a:pPr>
            <a:r>
              <a:rPr lang="en-US" sz="1800" dirty="0"/>
              <a:t>Marginal improvements achieved on NTU120 compared to NTU60</a:t>
            </a:r>
          </a:p>
          <a:p>
            <a:pPr>
              <a:buFont typeface="Wingdings" panose="05000000000000000000" pitchFamily="2" charset="2"/>
              <a:buChar char="Ø"/>
            </a:pPr>
            <a:r>
              <a:rPr lang="en-US" sz="1800" dirty="0">
                <a:solidFill>
                  <a:srgbClr val="FF0000"/>
                </a:solidFill>
              </a:rPr>
              <a:t>Fine-tuning</a:t>
            </a:r>
            <a:r>
              <a:rPr lang="en-US" sz="1800" dirty="0"/>
              <a:t> on NTU enhances RGB performance on DAA, however, this improvement </a:t>
            </a:r>
            <a:r>
              <a:rPr lang="en-US" sz="1800" dirty="0">
                <a:solidFill>
                  <a:srgbClr val="FF0000"/>
                </a:solidFill>
              </a:rPr>
              <a:t>does not generalize </a:t>
            </a:r>
            <a:r>
              <a:rPr lang="en-US" sz="1800" dirty="0"/>
              <a:t>to the aligned target modality</a:t>
            </a:r>
          </a:p>
        </p:txBody>
      </p:sp>
      <p:sp>
        <p:nvSpPr>
          <p:cNvPr id="9" name="Rechteck 8">
            <a:extLst>
              <a:ext uri="{FF2B5EF4-FFF2-40B4-BE49-F238E27FC236}">
                <a16:creationId xmlns:a16="http://schemas.microsoft.com/office/drawing/2014/main" id="{CCBCA45A-5C2E-42CE-8B62-B557C8901C2E}"/>
              </a:ext>
            </a:extLst>
          </p:cNvPr>
          <p:cNvSpPr/>
          <p:nvPr/>
        </p:nvSpPr>
        <p:spPr>
          <a:xfrm>
            <a:off x="596900" y="4128738"/>
            <a:ext cx="7294405" cy="8034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pic>
        <p:nvPicPr>
          <p:cNvPr id="10" name="Grafik 9">
            <a:extLst>
              <a:ext uri="{FF2B5EF4-FFF2-40B4-BE49-F238E27FC236}">
                <a16:creationId xmlns:a16="http://schemas.microsoft.com/office/drawing/2014/main" id="{DE049999-6D71-4938-A3EA-D9AD4E799373}"/>
              </a:ext>
            </a:extLst>
          </p:cNvPr>
          <p:cNvPicPr>
            <a:picLocks noChangeAspect="1"/>
          </p:cNvPicPr>
          <p:nvPr/>
        </p:nvPicPr>
        <p:blipFill>
          <a:blip r:embed="rId7"/>
          <a:stretch>
            <a:fillRect/>
          </a:stretch>
        </p:blipFill>
        <p:spPr>
          <a:xfrm>
            <a:off x="1201763" y="1347626"/>
            <a:ext cx="5475817" cy="5259211"/>
          </a:xfrm>
          <a:prstGeom prst="rect">
            <a:avLst/>
          </a:prstGeom>
        </p:spPr>
      </p:pic>
    </p:spTree>
    <p:extLst>
      <p:ext uri="{BB962C8B-B14F-4D97-AF65-F5344CB8AC3E}">
        <p14:creationId xmlns:p14="http://schemas.microsoft.com/office/powerpoint/2010/main" val="254155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Generalizability (Cross-View)</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28</a:t>
            </a:fld>
            <a:endParaRPr lang="en" kern="0">
              <a:solidFill>
                <a:srgbClr val="0091EA"/>
              </a:solidFill>
            </a:endParaRPr>
          </a:p>
        </p:txBody>
      </p:sp>
      <p:graphicFrame>
        <p:nvGraphicFramePr>
          <p:cNvPr id="7" name="Diagramm 6">
            <a:extLst>
              <a:ext uri="{FF2B5EF4-FFF2-40B4-BE49-F238E27FC236}">
                <a16:creationId xmlns:a16="http://schemas.microsoft.com/office/drawing/2014/main" id="{2A6BD51E-EEE1-474B-A97E-F2112BD95750}"/>
              </a:ext>
            </a:extLst>
          </p:cNvPr>
          <p:cNvGraphicFramePr/>
          <p:nvPr/>
        </p:nvGraphicFramePr>
        <p:xfrm>
          <a:off x="7455878" y="280594"/>
          <a:ext cx="3521389" cy="21340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Placeholder 2">
            <a:extLst>
              <a:ext uri="{FF2B5EF4-FFF2-40B4-BE49-F238E27FC236}">
                <a16:creationId xmlns:a16="http://schemas.microsoft.com/office/drawing/2014/main" id="{495F0477-F2F4-48B2-BAF1-24E9B3E9E6B1}"/>
              </a:ext>
            </a:extLst>
          </p:cNvPr>
          <p:cNvSpPr>
            <a:spLocks noGrp="1"/>
          </p:cNvSpPr>
          <p:nvPr>
            <p:ph type="body" idx="1"/>
          </p:nvPr>
        </p:nvSpPr>
        <p:spPr>
          <a:xfrm>
            <a:off x="712205" y="4263344"/>
            <a:ext cx="11028106" cy="2795440"/>
          </a:xfrm>
        </p:spPr>
        <p:txBody>
          <a:bodyPr/>
          <a:lstStyle/>
          <a:p>
            <a:pPr>
              <a:buFont typeface="Wingdings" panose="05000000000000000000" pitchFamily="2" charset="2"/>
              <a:buChar char="Ø"/>
            </a:pPr>
            <a:r>
              <a:rPr lang="en-US" sz="1800" dirty="0"/>
              <a:t>Cross View evaluations on DAA are </a:t>
            </a:r>
            <a:r>
              <a:rPr lang="en-US" sz="1800" dirty="0">
                <a:solidFill>
                  <a:srgbClr val="FF0000"/>
                </a:solidFill>
              </a:rPr>
              <a:t>competitive with SOTA</a:t>
            </a:r>
          </a:p>
          <a:p>
            <a:pPr>
              <a:buFont typeface="Wingdings" panose="05000000000000000000" pitchFamily="2" charset="2"/>
              <a:buChar char="Ø"/>
            </a:pPr>
            <a:endParaRPr lang="en-US" sz="1800" dirty="0"/>
          </a:p>
        </p:txBody>
      </p:sp>
      <p:pic>
        <p:nvPicPr>
          <p:cNvPr id="3" name="Grafik 2">
            <a:extLst>
              <a:ext uri="{FF2B5EF4-FFF2-40B4-BE49-F238E27FC236}">
                <a16:creationId xmlns:a16="http://schemas.microsoft.com/office/drawing/2014/main" id="{1924CC6A-5578-48C6-AC9A-C52755804FBA}"/>
              </a:ext>
            </a:extLst>
          </p:cNvPr>
          <p:cNvPicPr>
            <a:picLocks noChangeAspect="1"/>
          </p:cNvPicPr>
          <p:nvPr/>
        </p:nvPicPr>
        <p:blipFill>
          <a:blip r:embed="rId7"/>
          <a:stretch>
            <a:fillRect/>
          </a:stretch>
        </p:blipFill>
        <p:spPr>
          <a:xfrm>
            <a:off x="712204" y="2456591"/>
            <a:ext cx="10859441" cy="1508891"/>
          </a:xfrm>
          <a:prstGeom prst="rect">
            <a:avLst/>
          </a:prstGeom>
        </p:spPr>
      </p:pic>
      <p:sp>
        <p:nvSpPr>
          <p:cNvPr id="5" name="Textfeld 4">
            <a:extLst>
              <a:ext uri="{FF2B5EF4-FFF2-40B4-BE49-F238E27FC236}">
                <a16:creationId xmlns:a16="http://schemas.microsoft.com/office/drawing/2014/main" id="{B0EE946E-8E1F-4CE5-9FCC-5669C1030A62}"/>
              </a:ext>
            </a:extLst>
          </p:cNvPr>
          <p:cNvSpPr txBox="1"/>
          <p:nvPr/>
        </p:nvSpPr>
        <p:spPr>
          <a:xfrm>
            <a:off x="10417335" y="6503202"/>
            <a:ext cx="947695" cy="184666"/>
          </a:xfrm>
          <a:prstGeom prst="rect">
            <a:avLst/>
          </a:prstGeom>
          <a:noFill/>
        </p:spPr>
        <p:txBody>
          <a:bodyPr wrap="none" rtlCol="0">
            <a:spAutoFit/>
          </a:bodyPr>
          <a:lstStyle/>
          <a:p>
            <a:r>
              <a:rPr lang="de-DE" sz="600" dirty="0"/>
              <a:t>*unbalanced accuracy</a:t>
            </a:r>
          </a:p>
        </p:txBody>
      </p:sp>
    </p:spTree>
    <p:extLst>
      <p:ext uri="{BB962C8B-B14F-4D97-AF65-F5344CB8AC3E}">
        <p14:creationId xmlns:p14="http://schemas.microsoft.com/office/powerpoint/2010/main" val="39159432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5. Emergent Textual Alignment</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29</a:t>
            </a:fld>
            <a:endParaRPr lang="en" kern="0">
              <a:solidFill>
                <a:srgbClr val="0091EA"/>
              </a:solidFill>
            </a:endParaRPr>
          </a:p>
        </p:txBody>
      </p:sp>
      <p:sp>
        <p:nvSpPr>
          <p:cNvPr id="6" name="Rechteck 5">
            <a:extLst>
              <a:ext uri="{FF2B5EF4-FFF2-40B4-BE49-F238E27FC236}">
                <a16:creationId xmlns:a16="http://schemas.microsoft.com/office/drawing/2014/main" id="{3F098895-526E-4279-ACD4-4A3EE9007BB6}"/>
              </a:ext>
            </a:extLst>
          </p:cNvPr>
          <p:cNvSpPr/>
          <p:nvPr/>
        </p:nvSpPr>
        <p:spPr>
          <a:xfrm>
            <a:off x="4263831" y="1434971"/>
            <a:ext cx="3464917" cy="4375683"/>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sp>
        <p:nvSpPr>
          <p:cNvPr id="106" name="Rechteck 105">
            <a:extLst>
              <a:ext uri="{FF2B5EF4-FFF2-40B4-BE49-F238E27FC236}">
                <a16:creationId xmlns:a16="http://schemas.microsoft.com/office/drawing/2014/main" id="{48FAC706-6F77-4696-9D6B-D46EEF6BFE5E}"/>
              </a:ext>
            </a:extLst>
          </p:cNvPr>
          <p:cNvSpPr/>
          <p:nvPr/>
        </p:nvSpPr>
        <p:spPr>
          <a:xfrm>
            <a:off x="7925782" y="1434972"/>
            <a:ext cx="3464917" cy="437568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sp>
        <p:nvSpPr>
          <p:cNvPr id="12" name="Textfeld 11">
            <a:extLst>
              <a:ext uri="{FF2B5EF4-FFF2-40B4-BE49-F238E27FC236}">
                <a16:creationId xmlns:a16="http://schemas.microsoft.com/office/drawing/2014/main" id="{7FFB2C87-D637-4D0F-9663-0C797F1D7E6D}"/>
              </a:ext>
            </a:extLst>
          </p:cNvPr>
          <p:cNvSpPr txBox="1"/>
          <p:nvPr/>
        </p:nvSpPr>
        <p:spPr>
          <a:xfrm>
            <a:off x="4225310" y="1477011"/>
            <a:ext cx="1992853" cy="379656"/>
          </a:xfrm>
          <a:prstGeom prst="rect">
            <a:avLst/>
          </a:prstGeom>
          <a:noFill/>
        </p:spPr>
        <p:txBody>
          <a:bodyPr wrap="none" rtlCol="0">
            <a:spAutoFit/>
          </a:bodyPr>
          <a:lstStyle/>
          <a:p>
            <a:pPr defTabSz="1219170">
              <a:buClr>
                <a:srgbClr val="000000"/>
              </a:buClr>
            </a:pPr>
            <a:r>
              <a:rPr lang="de-DE" sz="1867" kern="0" dirty="0">
                <a:solidFill>
                  <a:srgbClr val="000000"/>
                </a:solidFill>
                <a:latin typeface="Arial"/>
                <a:cs typeface="Arial"/>
                <a:sym typeface="Arial"/>
              </a:rPr>
              <a:t>Alignment Phase</a:t>
            </a:r>
          </a:p>
        </p:txBody>
      </p:sp>
      <p:sp>
        <p:nvSpPr>
          <p:cNvPr id="107" name="Textfeld 106">
            <a:extLst>
              <a:ext uri="{FF2B5EF4-FFF2-40B4-BE49-F238E27FC236}">
                <a16:creationId xmlns:a16="http://schemas.microsoft.com/office/drawing/2014/main" id="{ED005D7E-D74B-4F33-9C26-093209DE967F}"/>
              </a:ext>
            </a:extLst>
          </p:cNvPr>
          <p:cNvSpPr txBox="1"/>
          <p:nvPr/>
        </p:nvSpPr>
        <p:spPr>
          <a:xfrm>
            <a:off x="7885642" y="1444820"/>
            <a:ext cx="1128835" cy="379656"/>
          </a:xfrm>
          <a:prstGeom prst="rect">
            <a:avLst/>
          </a:prstGeom>
          <a:noFill/>
        </p:spPr>
        <p:txBody>
          <a:bodyPr wrap="none" rtlCol="0">
            <a:spAutoFit/>
          </a:bodyPr>
          <a:lstStyle/>
          <a:p>
            <a:pPr defTabSz="1219170">
              <a:buClr>
                <a:srgbClr val="000000"/>
              </a:buClr>
            </a:pPr>
            <a:r>
              <a:rPr lang="en-BZ" sz="1867" kern="0" dirty="0">
                <a:solidFill>
                  <a:srgbClr val="000000"/>
                </a:solidFill>
                <a:latin typeface="Arial"/>
                <a:cs typeface="Arial"/>
                <a:sym typeface="Arial"/>
              </a:rPr>
              <a:t>Retrieval</a:t>
            </a:r>
            <a:endParaRPr lang="de-DE" sz="1867" kern="0" dirty="0">
              <a:solidFill>
                <a:srgbClr val="000000"/>
              </a:solidFill>
              <a:latin typeface="Arial"/>
              <a:cs typeface="Arial"/>
              <a:sym typeface="Arial"/>
            </a:endParaRPr>
          </a:p>
        </p:txBody>
      </p:sp>
      <p:sp>
        <p:nvSpPr>
          <p:cNvPr id="13" name="Rechteck 12">
            <a:extLst>
              <a:ext uri="{FF2B5EF4-FFF2-40B4-BE49-F238E27FC236}">
                <a16:creationId xmlns:a16="http://schemas.microsoft.com/office/drawing/2014/main" id="{BBFB2761-5D6E-494A-ACD5-F31BDBD72D93}"/>
              </a:ext>
            </a:extLst>
          </p:cNvPr>
          <p:cNvSpPr/>
          <p:nvPr/>
        </p:nvSpPr>
        <p:spPr>
          <a:xfrm>
            <a:off x="541104" y="5920534"/>
            <a:ext cx="10849595" cy="534559"/>
          </a:xfrm>
          <a:prstGeom prst="rect">
            <a:avLst/>
          </a:prstGeom>
          <a:noFill/>
          <a:ln>
            <a:solidFill>
              <a:srgbClr val="607D8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pic>
        <p:nvPicPr>
          <p:cNvPr id="109" name="Grafik 108" descr="Feuer">
            <a:extLst>
              <a:ext uri="{FF2B5EF4-FFF2-40B4-BE49-F238E27FC236}">
                <a16:creationId xmlns:a16="http://schemas.microsoft.com/office/drawing/2014/main" id="{585D4007-1616-4C0B-9C8B-5C82EFC189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761" y="6017729"/>
            <a:ext cx="285080" cy="321140"/>
          </a:xfrm>
          <a:prstGeom prst="rect">
            <a:avLst/>
          </a:prstGeom>
        </p:spPr>
      </p:pic>
      <p:pic>
        <p:nvPicPr>
          <p:cNvPr id="110" name="Grafik 109" descr="Schneeflocke">
            <a:extLst>
              <a:ext uri="{FF2B5EF4-FFF2-40B4-BE49-F238E27FC236}">
                <a16:creationId xmlns:a16="http://schemas.microsoft.com/office/drawing/2014/main" id="{A8AEDB55-4CD8-4A04-98AC-860F8A9E4C8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72031" y="6017728"/>
            <a:ext cx="334272" cy="334272"/>
          </a:xfrm>
          <a:prstGeom prst="rect">
            <a:avLst/>
          </a:prstGeom>
        </p:spPr>
      </p:pic>
      <p:sp>
        <p:nvSpPr>
          <p:cNvPr id="14" name="Textfeld 13">
            <a:extLst>
              <a:ext uri="{FF2B5EF4-FFF2-40B4-BE49-F238E27FC236}">
                <a16:creationId xmlns:a16="http://schemas.microsoft.com/office/drawing/2014/main" id="{982E7A33-268E-4CB3-A7F2-878F356EB989}"/>
              </a:ext>
            </a:extLst>
          </p:cNvPr>
          <p:cNvSpPr txBox="1"/>
          <p:nvPr/>
        </p:nvSpPr>
        <p:spPr>
          <a:xfrm>
            <a:off x="885841" y="6003146"/>
            <a:ext cx="1789272"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Trainable weights</a:t>
            </a:r>
          </a:p>
        </p:txBody>
      </p:sp>
      <p:sp>
        <p:nvSpPr>
          <p:cNvPr id="112" name="Textfeld 111">
            <a:extLst>
              <a:ext uri="{FF2B5EF4-FFF2-40B4-BE49-F238E27FC236}">
                <a16:creationId xmlns:a16="http://schemas.microsoft.com/office/drawing/2014/main" id="{53D6C78C-4EDA-4502-84EE-6A9820F82293}"/>
              </a:ext>
            </a:extLst>
          </p:cNvPr>
          <p:cNvSpPr txBox="1"/>
          <p:nvPr/>
        </p:nvSpPr>
        <p:spPr>
          <a:xfrm>
            <a:off x="2995309" y="5992919"/>
            <a:ext cx="822661"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Frozen</a:t>
            </a:r>
          </a:p>
        </p:txBody>
      </p:sp>
      <p:pic>
        <p:nvPicPr>
          <p:cNvPr id="36" name="Grafik 35">
            <a:extLst>
              <a:ext uri="{FF2B5EF4-FFF2-40B4-BE49-F238E27FC236}">
                <a16:creationId xmlns:a16="http://schemas.microsoft.com/office/drawing/2014/main" id="{74E4C058-D8B6-410F-B6A2-AE23B2C9BFAE}"/>
              </a:ext>
            </a:extLst>
          </p:cNvPr>
          <p:cNvPicPr>
            <a:picLocks noChangeAspect="1"/>
          </p:cNvPicPr>
          <p:nvPr/>
        </p:nvPicPr>
        <p:blipFill>
          <a:blip r:embed="rId6"/>
          <a:stretch>
            <a:fillRect/>
          </a:stretch>
        </p:blipFill>
        <p:spPr>
          <a:xfrm>
            <a:off x="3887336" y="6085904"/>
            <a:ext cx="754397" cy="201173"/>
          </a:xfrm>
          <a:prstGeom prst="rect">
            <a:avLst/>
          </a:prstGeom>
        </p:spPr>
      </p:pic>
      <p:sp>
        <p:nvSpPr>
          <p:cNvPr id="117" name="Textfeld 116">
            <a:extLst>
              <a:ext uri="{FF2B5EF4-FFF2-40B4-BE49-F238E27FC236}">
                <a16:creationId xmlns:a16="http://schemas.microsoft.com/office/drawing/2014/main" id="{D8C2259C-2A4F-4296-BA41-8A64E3CD7A3E}"/>
              </a:ext>
            </a:extLst>
          </p:cNvPr>
          <p:cNvSpPr txBox="1"/>
          <p:nvPr/>
        </p:nvSpPr>
        <p:spPr>
          <a:xfrm>
            <a:off x="4693088" y="5982668"/>
            <a:ext cx="1574470"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Representation</a:t>
            </a:r>
          </a:p>
        </p:txBody>
      </p:sp>
      <p:pic>
        <p:nvPicPr>
          <p:cNvPr id="118" name="Grafik 117">
            <a:extLst>
              <a:ext uri="{FF2B5EF4-FFF2-40B4-BE49-F238E27FC236}">
                <a16:creationId xmlns:a16="http://schemas.microsoft.com/office/drawing/2014/main" id="{3993B616-297B-4EF5-86EF-3F6482EE8AE0}"/>
              </a:ext>
            </a:extLst>
          </p:cNvPr>
          <p:cNvPicPr>
            <a:picLocks noChangeAspect="1"/>
          </p:cNvPicPr>
          <p:nvPr/>
        </p:nvPicPr>
        <p:blipFill>
          <a:blip r:embed="rId7"/>
          <a:stretch>
            <a:fillRect/>
          </a:stretch>
        </p:blipFill>
        <p:spPr>
          <a:xfrm>
            <a:off x="6247602" y="5940195"/>
            <a:ext cx="394036" cy="435827"/>
          </a:xfrm>
          <a:prstGeom prst="rect">
            <a:avLst/>
          </a:prstGeom>
        </p:spPr>
      </p:pic>
      <p:sp>
        <p:nvSpPr>
          <p:cNvPr id="120" name="Textfeld 119">
            <a:extLst>
              <a:ext uri="{FF2B5EF4-FFF2-40B4-BE49-F238E27FC236}">
                <a16:creationId xmlns:a16="http://schemas.microsoft.com/office/drawing/2014/main" id="{24A5489F-6EAA-4E1A-A97A-CCB895A50E2F}"/>
              </a:ext>
            </a:extLst>
          </p:cNvPr>
          <p:cNvSpPr txBox="1"/>
          <p:nvPr/>
        </p:nvSpPr>
        <p:spPr>
          <a:xfrm>
            <a:off x="6579967" y="5982667"/>
            <a:ext cx="1460656"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InfoNCE-Loss</a:t>
            </a:r>
          </a:p>
        </p:txBody>
      </p:sp>
      <p:sp>
        <p:nvSpPr>
          <p:cNvPr id="121" name="Textfeld 120">
            <a:extLst>
              <a:ext uri="{FF2B5EF4-FFF2-40B4-BE49-F238E27FC236}">
                <a16:creationId xmlns:a16="http://schemas.microsoft.com/office/drawing/2014/main" id="{4C49AF78-E15A-43D9-89FE-0A9EDF95F8F7}"/>
              </a:ext>
            </a:extLst>
          </p:cNvPr>
          <p:cNvSpPr txBox="1"/>
          <p:nvPr/>
        </p:nvSpPr>
        <p:spPr>
          <a:xfrm>
            <a:off x="8002252" y="5989177"/>
            <a:ext cx="1138795" cy="338554"/>
          </a:xfrm>
          <a:prstGeom prst="rect">
            <a:avLst/>
          </a:prstGeom>
          <a:noFill/>
        </p:spPr>
        <p:txBody>
          <a:bodyPr wrap="square" rtlCol="0">
            <a:spAutoFit/>
          </a:bodyPr>
          <a:lstStyle/>
          <a:p>
            <a:pPr defTabSz="1219170">
              <a:buClr>
                <a:srgbClr val="000000"/>
              </a:buClr>
            </a:pPr>
            <a:r>
              <a:rPr lang="en-AU" sz="1600" b="1" kern="0" dirty="0">
                <a:solidFill>
                  <a:srgbClr val="000000"/>
                </a:solidFill>
                <a:latin typeface="Arial"/>
                <a:cs typeface="Arial"/>
                <a:sym typeface="Arial"/>
              </a:rPr>
              <a:t>CosSim</a:t>
            </a:r>
          </a:p>
        </p:txBody>
      </p:sp>
      <p:cxnSp>
        <p:nvCxnSpPr>
          <p:cNvPr id="39" name="Gerader Verbinder 38">
            <a:extLst>
              <a:ext uri="{FF2B5EF4-FFF2-40B4-BE49-F238E27FC236}">
                <a16:creationId xmlns:a16="http://schemas.microsoft.com/office/drawing/2014/main" id="{F0A8C590-A3BB-4D02-8FF6-FD49CD86A952}"/>
              </a:ext>
            </a:extLst>
          </p:cNvPr>
          <p:cNvCxnSpPr/>
          <p:nvPr/>
        </p:nvCxnSpPr>
        <p:spPr>
          <a:xfrm>
            <a:off x="2672031" y="5939583"/>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2" name="Gerader Verbinder 121">
            <a:extLst>
              <a:ext uri="{FF2B5EF4-FFF2-40B4-BE49-F238E27FC236}">
                <a16:creationId xmlns:a16="http://schemas.microsoft.com/office/drawing/2014/main" id="{E1301F8E-3CCA-48BF-929F-D22DFBD17C87}"/>
              </a:ext>
            </a:extLst>
          </p:cNvPr>
          <p:cNvCxnSpPr/>
          <p:nvPr/>
        </p:nvCxnSpPr>
        <p:spPr>
          <a:xfrm>
            <a:off x="3859369"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3" name="Gerader Verbinder 122">
            <a:extLst>
              <a:ext uri="{FF2B5EF4-FFF2-40B4-BE49-F238E27FC236}">
                <a16:creationId xmlns:a16="http://schemas.microsoft.com/office/drawing/2014/main" id="{BDEABF9B-1094-4B6C-8828-D2E9EA1EDCFF}"/>
              </a:ext>
            </a:extLst>
          </p:cNvPr>
          <p:cNvCxnSpPr/>
          <p:nvPr/>
        </p:nvCxnSpPr>
        <p:spPr>
          <a:xfrm>
            <a:off x="6247601" y="5948651"/>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cxnSp>
        <p:nvCxnSpPr>
          <p:cNvPr id="126" name="Gerader Verbinder 125">
            <a:extLst>
              <a:ext uri="{FF2B5EF4-FFF2-40B4-BE49-F238E27FC236}">
                <a16:creationId xmlns:a16="http://schemas.microsoft.com/office/drawing/2014/main" id="{BFEAC2BA-D317-4295-A1F2-081649E3C4E6}"/>
              </a:ext>
            </a:extLst>
          </p:cNvPr>
          <p:cNvCxnSpPr/>
          <p:nvPr/>
        </p:nvCxnSpPr>
        <p:spPr>
          <a:xfrm>
            <a:off x="8073516" y="5948435"/>
            <a:ext cx="0" cy="515509"/>
          </a:xfrm>
          <a:prstGeom prst="line">
            <a:avLst/>
          </a:prstGeom>
          <a:ln>
            <a:solidFill>
              <a:srgbClr val="607D8B"/>
            </a:solidFill>
          </a:ln>
        </p:spPr>
        <p:style>
          <a:lnRef idx="1">
            <a:schemeClr val="accent1"/>
          </a:lnRef>
          <a:fillRef idx="0">
            <a:schemeClr val="accent1"/>
          </a:fillRef>
          <a:effectRef idx="0">
            <a:schemeClr val="accent1"/>
          </a:effectRef>
          <a:fontRef idx="minor">
            <a:schemeClr val="tx1"/>
          </a:fontRef>
        </p:style>
      </p:cxnSp>
      <p:sp>
        <p:nvSpPr>
          <p:cNvPr id="34" name="Rechteck 33">
            <a:extLst>
              <a:ext uri="{FF2B5EF4-FFF2-40B4-BE49-F238E27FC236}">
                <a16:creationId xmlns:a16="http://schemas.microsoft.com/office/drawing/2014/main" id="{B199E4B3-9EDD-4339-A337-548D48C984D1}"/>
              </a:ext>
            </a:extLst>
          </p:cNvPr>
          <p:cNvSpPr/>
          <p:nvPr/>
        </p:nvSpPr>
        <p:spPr>
          <a:xfrm>
            <a:off x="541105" y="1443457"/>
            <a:ext cx="3469852" cy="4375683"/>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buClr>
                <a:srgbClr val="000000"/>
              </a:buClr>
            </a:pPr>
            <a:endParaRPr lang="de-DE" sz="1867" kern="0">
              <a:solidFill>
                <a:srgbClr val="FFFFFF"/>
              </a:solidFill>
              <a:latin typeface="Arial"/>
              <a:sym typeface="Arial"/>
            </a:endParaRPr>
          </a:p>
        </p:txBody>
      </p:sp>
      <p:sp>
        <p:nvSpPr>
          <p:cNvPr id="35" name="Textfeld 34">
            <a:extLst>
              <a:ext uri="{FF2B5EF4-FFF2-40B4-BE49-F238E27FC236}">
                <a16:creationId xmlns:a16="http://schemas.microsoft.com/office/drawing/2014/main" id="{3674D4B8-64EA-4E9A-BB59-D54C7924A526}"/>
              </a:ext>
            </a:extLst>
          </p:cNvPr>
          <p:cNvSpPr txBox="1"/>
          <p:nvPr/>
        </p:nvSpPr>
        <p:spPr>
          <a:xfrm>
            <a:off x="541105" y="1444821"/>
            <a:ext cx="2125903" cy="379656"/>
          </a:xfrm>
          <a:prstGeom prst="rect">
            <a:avLst/>
          </a:prstGeom>
          <a:noFill/>
        </p:spPr>
        <p:txBody>
          <a:bodyPr wrap="none" rtlCol="0">
            <a:spAutoFit/>
          </a:bodyPr>
          <a:lstStyle/>
          <a:p>
            <a:pPr defTabSz="1219170">
              <a:buClr>
                <a:srgbClr val="000000"/>
              </a:buClr>
            </a:pPr>
            <a:r>
              <a:rPr lang="de-DE" sz="1867" kern="0" dirty="0">
                <a:solidFill>
                  <a:srgbClr val="000000"/>
                </a:solidFill>
                <a:latin typeface="Arial"/>
                <a:cs typeface="Arial"/>
                <a:sym typeface="Arial"/>
              </a:rPr>
              <a:t>Fine-tuning Phase</a:t>
            </a:r>
          </a:p>
        </p:txBody>
      </p:sp>
      <p:pic>
        <p:nvPicPr>
          <p:cNvPr id="20" name="Grafik 19">
            <a:extLst>
              <a:ext uri="{FF2B5EF4-FFF2-40B4-BE49-F238E27FC236}">
                <a16:creationId xmlns:a16="http://schemas.microsoft.com/office/drawing/2014/main" id="{5639C10D-9C3E-4850-B043-2DD0171D7677}"/>
              </a:ext>
            </a:extLst>
          </p:cNvPr>
          <p:cNvPicPr>
            <a:picLocks noChangeAspect="1"/>
          </p:cNvPicPr>
          <p:nvPr/>
        </p:nvPicPr>
        <p:blipFill>
          <a:blip r:embed="rId8"/>
          <a:stretch>
            <a:fillRect/>
          </a:stretch>
        </p:blipFill>
        <p:spPr>
          <a:xfrm>
            <a:off x="572685" y="2584971"/>
            <a:ext cx="3406689" cy="2167316"/>
          </a:xfrm>
          <a:prstGeom prst="rect">
            <a:avLst/>
          </a:prstGeom>
        </p:spPr>
      </p:pic>
      <p:pic>
        <p:nvPicPr>
          <p:cNvPr id="22" name="Grafik 21">
            <a:extLst>
              <a:ext uri="{FF2B5EF4-FFF2-40B4-BE49-F238E27FC236}">
                <a16:creationId xmlns:a16="http://schemas.microsoft.com/office/drawing/2014/main" id="{B5677306-2181-41B3-B8A4-4DA97F130817}"/>
              </a:ext>
            </a:extLst>
          </p:cNvPr>
          <p:cNvPicPr>
            <a:picLocks noChangeAspect="1"/>
          </p:cNvPicPr>
          <p:nvPr/>
        </p:nvPicPr>
        <p:blipFill>
          <a:blip r:embed="rId9"/>
          <a:stretch>
            <a:fillRect/>
          </a:stretch>
        </p:blipFill>
        <p:spPr>
          <a:xfrm>
            <a:off x="4306798" y="2577129"/>
            <a:ext cx="3318207" cy="2091360"/>
          </a:xfrm>
          <a:prstGeom prst="rect">
            <a:avLst/>
          </a:prstGeom>
        </p:spPr>
      </p:pic>
      <p:pic>
        <p:nvPicPr>
          <p:cNvPr id="23" name="Grafik 22">
            <a:extLst>
              <a:ext uri="{FF2B5EF4-FFF2-40B4-BE49-F238E27FC236}">
                <a16:creationId xmlns:a16="http://schemas.microsoft.com/office/drawing/2014/main" id="{F67A4584-06E0-4F61-9C9B-972FC7F185B1}"/>
              </a:ext>
            </a:extLst>
          </p:cNvPr>
          <p:cNvPicPr>
            <a:picLocks noChangeAspect="1"/>
          </p:cNvPicPr>
          <p:nvPr/>
        </p:nvPicPr>
        <p:blipFill>
          <a:blip r:embed="rId10"/>
          <a:stretch>
            <a:fillRect/>
          </a:stretch>
        </p:blipFill>
        <p:spPr>
          <a:xfrm>
            <a:off x="8214610" y="1486327"/>
            <a:ext cx="2751375" cy="4324325"/>
          </a:xfrm>
          <a:prstGeom prst="rect">
            <a:avLst/>
          </a:prstGeom>
        </p:spPr>
      </p:pic>
      <p:sp>
        <p:nvSpPr>
          <p:cNvPr id="24" name="Textfeld 23">
            <a:extLst>
              <a:ext uri="{FF2B5EF4-FFF2-40B4-BE49-F238E27FC236}">
                <a16:creationId xmlns:a16="http://schemas.microsoft.com/office/drawing/2014/main" id="{C1320843-5B76-42D0-B8FF-F5BF094D398B}"/>
              </a:ext>
            </a:extLst>
          </p:cNvPr>
          <p:cNvSpPr txBox="1"/>
          <p:nvPr/>
        </p:nvSpPr>
        <p:spPr>
          <a:xfrm>
            <a:off x="7983686" y="3622809"/>
            <a:ext cx="423514" cy="379656"/>
          </a:xfrm>
          <a:prstGeom prst="rect">
            <a:avLst/>
          </a:prstGeom>
          <a:noFill/>
        </p:spPr>
        <p:txBody>
          <a:bodyPr wrap="none" rtlCol="0">
            <a:spAutoFit/>
          </a:bodyPr>
          <a:lstStyle/>
          <a:p>
            <a:pPr defTabSz="1219170">
              <a:buClr>
                <a:srgbClr val="000000"/>
              </a:buClr>
            </a:pPr>
            <a:r>
              <a:rPr lang="de-DE" sz="1867" kern="0" dirty="0">
                <a:solidFill>
                  <a:srgbClr val="000000"/>
                </a:solidFill>
                <a:latin typeface="Arial"/>
                <a:cs typeface="Arial"/>
                <a:sym typeface="Arial"/>
              </a:rPr>
              <a:t>…</a:t>
            </a:r>
          </a:p>
        </p:txBody>
      </p:sp>
      <p:sp>
        <p:nvSpPr>
          <p:cNvPr id="73" name="Textfeld 72">
            <a:extLst>
              <a:ext uri="{FF2B5EF4-FFF2-40B4-BE49-F238E27FC236}">
                <a16:creationId xmlns:a16="http://schemas.microsoft.com/office/drawing/2014/main" id="{89FAB100-EA2D-4272-9EBD-2393DC9B8001}"/>
              </a:ext>
            </a:extLst>
          </p:cNvPr>
          <p:cNvSpPr txBox="1"/>
          <p:nvPr/>
        </p:nvSpPr>
        <p:spPr>
          <a:xfrm>
            <a:off x="10692739" y="3617527"/>
            <a:ext cx="423514" cy="379656"/>
          </a:xfrm>
          <a:prstGeom prst="rect">
            <a:avLst/>
          </a:prstGeom>
          <a:noFill/>
        </p:spPr>
        <p:txBody>
          <a:bodyPr wrap="none" rtlCol="0">
            <a:spAutoFit/>
          </a:bodyPr>
          <a:lstStyle/>
          <a:p>
            <a:pPr defTabSz="1219170">
              <a:buClr>
                <a:srgbClr val="000000"/>
              </a:buClr>
            </a:pPr>
            <a:r>
              <a:rPr lang="de-DE" sz="1867" kern="0" dirty="0">
                <a:solidFill>
                  <a:srgbClr val="000000"/>
                </a:solidFill>
                <a:latin typeface="Arial"/>
                <a:cs typeface="Arial"/>
                <a:sym typeface="Arial"/>
              </a:rPr>
              <a:t>…</a:t>
            </a:r>
          </a:p>
        </p:txBody>
      </p:sp>
      <p:sp>
        <p:nvSpPr>
          <p:cNvPr id="74" name="Textfeld 73">
            <a:extLst>
              <a:ext uri="{FF2B5EF4-FFF2-40B4-BE49-F238E27FC236}">
                <a16:creationId xmlns:a16="http://schemas.microsoft.com/office/drawing/2014/main" id="{EBBCC713-EE7B-4A3D-BF91-823EB25BCEC2}"/>
              </a:ext>
            </a:extLst>
          </p:cNvPr>
          <p:cNvSpPr txBox="1"/>
          <p:nvPr/>
        </p:nvSpPr>
        <p:spPr>
          <a:xfrm>
            <a:off x="10857470" y="5107321"/>
            <a:ext cx="423514" cy="379656"/>
          </a:xfrm>
          <a:prstGeom prst="rect">
            <a:avLst/>
          </a:prstGeom>
          <a:noFill/>
        </p:spPr>
        <p:txBody>
          <a:bodyPr wrap="none" rtlCol="0">
            <a:spAutoFit/>
          </a:bodyPr>
          <a:lstStyle/>
          <a:p>
            <a:pPr defTabSz="1219170">
              <a:buClr>
                <a:srgbClr val="000000"/>
              </a:buClr>
            </a:pPr>
            <a:r>
              <a:rPr lang="de-DE" sz="1867" kern="0" dirty="0">
                <a:solidFill>
                  <a:srgbClr val="000000"/>
                </a:solidFill>
                <a:latin typeface="Arial"/>
                <a:cs typeface="Arial"/>
                <a:sym typeface="Arial"/>
              </a:rPr>
              <a:t>…</a:t>
            </a:r>
          </a:p>
        </p:txBody>
      </p:sp>
      <p:sp>
        <p:nvSpPr>
          <p:cNvPr id="75" name="Textfeld 74">
            <a:extLst>
              <a:ext uri="{FF2B5EF4-FFF2-40B4-BE49-F238E27FC236}">
                <a16:creationId xmlns:a16="http://schemas.microsoft.com/office/drawing/2014/main" id="{F210716F-D17E-451B-88E8-1ECACE48B28E}"/>
              </a:ext>
            </a:extLst>
          </p:cNvPr>
          <p:cNvSpPr txBox="1"/>
          <p:nvPr/>
        </p:nvSpPr>
        <p:spPr>
          <a:xfrm>
            <a:off x="8002252" y="5058767"/>
            <a:ext cx="423514" cy="379656"/>
          </a:xfrm>
          <a:prstGeom prst="rect">
            <a:avLst/>
          </a:prstGeom>
          <a:noFill/>
        </p:spPr>
        <p:txBody>
          <a:bodyPr wrap="none" rtlCol="0">
            <a:spAutoFit/>
          </a:bodyPr>
          <a:lstStyle/>
          <a:p>
            <a:pPr defTabSz="1219170">
              <a:buClr>
                <a:srgbClr val="000000"/>
              </a:buClr>
            </a:pPr>
            <a:r>
              <a:rPr lang="de-DE" sz="1867" kern="0" dirty="0">
                <a:solidFill>
                  <a:srgbClr val="000000"/>
                </a:solidFill>
                <a:latin typeface="Arial"/>
                <a:cs typeface="Arial"/>
                <a:sym typeface="Arial"/>
              </a:rPr>
              <a:t>…</a:t>
            </a:r>
          </a:p>
        </p:txBody>
      </p:sp>
      <p:sp>
        <p:nvSpPr>
          <p:cNvPr id="76" name="Textfeld 75">
            <a:extLst>
              <a:ext uri="{FF2B5EF4-FFF2-40B4-BE49-F238E27FC236}">
                <a16:creationId xmlns:a16="http://schemas.microsoft.com/office/drawing/2014/main" id="{51479943-F115-4DF3-AA0F-24AF81220AAB}"/>
              </a:ext>
            </a:extLst>
          </p:cNvPr>
          <p:cNvSpPr txBox="1"/>
          <p:nvPr/>
        </p:nvSpPr>
        <p:spPr>
          <a:xfrm>
            <a:off x="9155550" y="5982667"/>
            <a:ext cx="1709122" cy="338554"/>
          </a:xfrm>
          <a:prstGeom prst="rect">
            <a:avLst/>
          </a:prstGeom>
          <a:noFill/>
        </p:spPr>
        <p:txBody>
          <a:bodyPr wrap="none" rtlCol="0">
            <a:spAutoFit/>
          </a:bodyPr>
          <a:lstStyle/>
          <a:p>
            <a:pPr defTabSz="1219170">
              <a:buClr>
                <a:srgbClr val="000000"/>
              </a:buClr>
            </a:pPr>
            <a:r>
              <a:rPr lang="en-AU" sz="1600" kern="0" dirty="0">
                <a:solidFill>
                  <a:srgbClr val="000000"/>
                </a:solidFill>
                <a:latin typeface="Arial"/>
                <a:cs typeface="Arial"/>
                <a:sym typeface="Arial"/>
              </a:rPr>
              <a:t>Cosine Similarity</a:t>
            </a:r>
          </a:p>
        </p:txBody>
      </p:sp>
    </p:spTree>
    <p:extLst>
      <p:ext uri="{BB962C8B-B14F-4D97-AF65-F5344CB8AC3E}">
        <p14:creationId xmlns:p14="http://schemas.microsoft.com/office/powerpoint/2010/main" val="1909622468"/>
      </p:ext>
    </p:extLst>
  </p:cSld>
  <p:clrMapOvr>
    <a:masterClrMapping/>
  </p:clrMapOvr>
  <p:transition>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br>
              <a:rPr lang="en-US" dirty="0"/>
            </a:br>
            <a:r>
              <a:rPr lang="en-US" b="1" dirty="0"/>
              <a:t>Emergent Textual Alignment</a:t>
            </a:r>
            <a:endParaRPr lang="en-US"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30</a:t>
            </a:fld>
            <a:endParaRPr lang="en" kern="0">
              <a:solidFill>
                <a:srgbClr val="0091EA"/>
              </a:solidFill>
            </a:endParaRPr>
          </a:p>
        </p:txBody>
      </p:sp>
      <p:graphicFrame>
        <p:nvGraphicFramePr>
          <p:cNvPr id="7" name="Diagramm 6">
            <a:extLst>
              <a:ext uri="{FF2B5EF4-FFF2-40B4-BE49-F238E27FC236}">
                <a16:creationId xmlns:a16="http://schemas.microsoft.com/office/drawing/2014/main" id="{2A6BD51E-EEE1-474B-A97E-F2112BD95750}"/>
              </a:ext>
            </a:extLst>
          </p:cNvPr>
          <p:cNvGraphicFramePr/>
          <p:nvPr/>
        </p:nvGraphicFramePr>
        <p:xfrm>
          <a:off x="7455878" y="280594"/>
          <a:ext cx="3521389" cy="21340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platzhalter 7">
            <a:extLst>
              <a:ext uri="{FF2B5EF4-FFF2-40B4-BE49-F238E27FC236}">
                <a16:creationId xmlns:a16="http://schemas.microsoft.com/office/drawing/2014/main" id="{D6B16879-B92B-41FD-9953-0B26D283092C}"/>
              </a:ext>
            </a:extLst>
          </p:cNvPr>
          <p:cNvSpPr>
            <a:spLocks noGrp="1"/>
          </p:cNvSpPr>
          <p:nvPr>
            <p:ph type="body" idx="1"/>
          </p:nvPr>
        </p:nvSpPr>
        <p:spPr>
          <a:xfrm>
            <a:off x="8476034" y="2522161"/>
            <a:ext cx="3390809" cy="3842361"/>
          </a:xfrm>
        </p:spPr>
        <p:txBody>
          <a:bodyPr/>
          <a:lstStyle/>
          <a:p>
            <a:pPr>
              <a:buFont typeface="Wingdings" panose="05000000000000000000" pitchFamily="2" charset="2"/>
              <a:buChar char="Ø"/>
            </a:pPr>
            <a:r>
              <a:rPr lang="en-US" sz="2000" dirty="0"/>
              <a:t>Retrieval does not match classifier performance</a:t>
            </a:r>
          </a:p>
          <a:p>
            <a:pPr>
              <a:buFont typeface="Wingdings" panose="05000000000000000000" pitchFamily="2" charset="2"/>
              <a:buChar char="Ø"/>
            </a:pPr>
            <a:r>
              <a:rPr lang="en-US" sz="2000" dirty="0"/>
              <a:t>Performance gap is smaller for RGB than for the target modality</a:t>
            </a:r>
          </a:p>
          <a:p>
            <a:pPr>
              <a:buFont typeface="Wingdings" panose="05000000000000000000" pitchFamily="2" charset="2"/>
              <a:buChar char="Ø"/>
            </a:pPr>
            <a:r>
              <a:rPr lang="en-US" sz="2000" dirty="0"/>
              <a:t>Nonetheless allows for the omission of the classifier training phase</a:t>
            </a:r>
            <a:endParaRPr lang="de-DE" sz="2000" dirty="0"/>
          </a:p>
        </p:txBody>
      </p:sp>
      <p:pic>
        <p:nvPicPr>
          <p:cNvPr id="6" name="Grafik 5">
            <a:extLst>
              <a:ext uri="{FF2B5EF4-FFF2-40B4-BE49-F238E27FC236}">
                <a16:creationId xmlns:a16="http://schemas.microsoft.com/office/drawing/2014/main" id="{59D36E1D-75BF-4610-91D6-6CA0EE177245}"/>
              </a:ext>
            </a:extLst>
          </p:cNvPr>
          <p:cNvPicPr>
            <a:picLocks noChangeAspect="1"/>
          </p:cNvPicPr>
          <p:nvPr/>
        </p:nvPicPr>
        <p:blipFill>
          <a:blip r:embed="rId8"/>
          <a:stretch>
            <a:fillRect/>
          </a:stretch>
        </p:blipFill>
        <p:spPr>
          <a:xfrm>
            <a:off x="394788" y="2141583"/>
            <a:ext cx="8130878" cy="3455063"/>
          </a:xfrm>
          <a:prstGeom prst="rect">
            <a:avLst/>
          </a:prstGeom>
        </p:spPr>
      </p:pic>
    </p:spTree>
    <p:extLst>
      <p:ext uri="{BB962C8B-B14F-4D97-AF65-F5344CB8AC3E}">
        <p14:creationId xmlns:p14="http://schemas.microsoft.com/office/powerpoint/2010/main" val="204908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a:xfrm>
            <a:off x="1048200" y="423797"/>
            <a:ext cx="10095600" cy="936800"/>
          </a:xfrm>
        </p:spPr>
        <p:txBody>
          <a:bodyPr/>
          <a:lstStyle/>
          <a:p>
            <a:r>
              <a:rPr lang="en-US" dirty="0"/>
              <a:t>Fusion</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31</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3950735"/>
            <a:ext cx="10095600" cy="4764800"/>
          </a:xfrm>
        </p:spPr>
        <p:txBody>
          <a:bodyPr/>
          <a:lstStyle/>
          <a:p>
            <a:endParaRPr lang="en-US" sz="2133" dirty="0"/>
          </a:p>
          <a:p>
            <a:endParaRPr lang="en-US" sz="2133" dirty="0"/>
          </a:p>
          <a:p>
            <a:endParaRPr lang="en-US" sz="2133" dirty="0"/>
          </a:p>
        </p:txBody>
      </p:sp>
      <p:sp>
        <p:nvSpPr>
          <p:cNvPr id="6" name="Textfeld 5">
            <a:extLst>
              <a:ext uri="{FF2B5EF4-FFF2-40B4-BE49-F238E27FC236}">
                <a16:creationId xmlns:a16="http://schemas.microsoft.com/office/drawing/2014/main" id="{704E87F7-3197-41A8-93D1-1096A1B0BC75}"/>
              </a:ext>
            </a:extLst>
          </p:cNvPr>
          <p:cNvSpPr txBox="1"/>
          <p:nvPr/>
        </p:nvSpPr>
        <p:spPr>
          <a:xfrm>
            <a:off x="1251626" y="4669277"/>
            <a:ext cx="184731" cy="369332"/>
          </a:xfrm>
          <a:prstGeom prst="rect">
            <a:avLst/>
          </a:prstGeom>
          <a:noFill/>
        </p:spPr>
        <p:txBody>
          <a:bodyPr wrap="none" rtlCol="0">
            <a:spAutoFit/>
          </a:bodyPr>
          <a:lstStyle/>
          <a:p>
            <a:endParaRPr lang="de-DE" dirty="0"/>
          </a:p>
        </p:txBody>
      </p:sp>
      <p:pic>
        <p:nvPicPr>
          <p:cNvPr id="5" name="Grafik 4">
            <a:extLst>
              <a:ext uri="{FF2B5EF4-FFF2-40B4-BE49-F238E27FC236}">
                <a16:creationId xmlns:a16="http://schemas.microsoft.com/office/drawing/2014/main" id="{288281A0-D504-4471-95D8-7AF72507998B}"/>
              </a:ext>
            </a:extLst>
          </p:cNvPr>
          <p:cNvPicPr>
            <a:picLocks noChangeAspect="1"/>
          </p:cNvPicPr>
          <p:nvPr/>
        </p:nvPicPr>
        <p:blipFill>
          <a:blip r:embed="rId2"/>
          <a:stretch>
            <a:fillRect/>
          </a:stretch>
        </p:blipFill>
        <p:spPr>
          <a:xfrm>
            <a:off x="293169" y="1560751"/>
            <a:ext cx="11721120" cy="4208453"/>
          </a:xfrm>
          <a:prstGeom prst="rect">
            <a:avLst/>
          </a:prstGeom>
        </p:spPr>
      </p:pic>
    </p:spTree>
    <p:extLst>
      <p:ext uri="{BB962C8B-B14F-4D97-AF65-F5344CB8AC3E}">
        <p14:creationId xmlns:p14="http://schemas.microsoft.com/office/powerpoint/2010/main" val="8569855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a:xfrm>
            <a:off x="1048200" y="423797"/>
            <a:ext cx="10095600" cy="936800"/>
          </a:xfrm>
        </p:spPr>
        <p:txBody>
          <a:bodyPr/>
          <a:lstStyle/>
          <a:p>
            <a:r>
              <a:rPr lang="en-US" dirty="0"/>
              <a:t>Analysis</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32</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3950735"/>
            <a:ext cx="10095600" cy="4764800"/>
          </a:xfrm>
        </p:spPr>
        <p:txBody>
          <a:bodyPr/>
          <a:lstStyle/>
          <a:p>
            <a:endParaRPr lang="en-US" sz="2133" dirty="0"/>
          </a:p>
          <a:p>
            <a:endParaRPr lang="en-US" sz="2133" dirty="0"/>
          </a:p>
          <a:p>
            <a:endParaRPr lang="en-US" sz="2133" dirty="0"/>
          </a:p>
        </p:txBody>
      </p:sp>
      <p:sp>
        <p:nvSpPr>
          <p:cNvPr id="6" name="Textfeld 5">
            <a:extLst>
              <a:ext uri="{FF2B5EF4-FFF2-40B4-BE49-F238E27FC236}">
                <a16:creationId xmlns:a16="http://schemas.microsoft.com/office/drawing/2014/main" id="{704E87F7-3197-41A8-93D1-1096A1B0BC75}"/>
              </a:ext>
            </a:extLst>
          </p:cNvPr>
          <p:cNvSpPr txBox="1"/>
          <p:nvPr/>
        </p:nvSpPr>
        <p:spPr>
          <a:xfrm>
            <a:off x="1251626" y="4669277"/>
            <a:ext cx="184731" cy="369332"/>
          </a:xfrm>
          <a:prstGeom prst="rect">
            <a:avLst/>
          </a:prstGeom>
          <a:noFill/>
        </p:spPr>
        <p:txBody>
          <a:bodyPr wrap="none" rtlCol="0">
            <a:spAutoFit/>
          </a:bodyPr>
          <a:lstStyle/>
          <a:p>
            <a:endParaRPr lang="de-DE" dirty="0"/>
          </a:p>
        </p:txBody>
      </p:sp>
      <p:pic>
        <p:nvPicPr>
          <p:cNvPr id="3" name="Grafik 2">
            <a:extLst>
              <a:ext uri="{FF2B5EF4-FFF2-40B4-BE49-F238E27FC236}">
                <a16:creationId xmlns:a16="http://schemas.microsoft.com/office/drawing/2014/main" id="{39FFC1CA-0257-4446-B7BB-46D775F761A6}"/>
              </a:ext>
            </a:extLst>
          </p:cNvPr>
          <p:cNvPicPr>
            <a:picLocks noChangeAspect="1"/>
          </p:cNvPicPr>
          <p:nvPr/>
        </p:nvPicPr>
        <p:blipFill>
          <a:blip r:embed="rId2"/>
          <a:stretch>
            <a:fillRect/>
          </a:stretch>
        </p:blipFill>
        <p:spPr>
          <a:xfrm>
            <a:off x="1048200" y="1389493"/>
            <a:ext cx="7921698" cy="3464450"/>
          </a:xfrm>
          <a:prstGeom prst="rect">
            <a:avLst/>
          </a:prstGeom>
        </p:spPr>
      </p:pic>
      <p:sp>
        <p:nvSpPr>
          <p:cNvPr id="5" name="Textfeld 4">
            <a:extLst>
              <a:ext uri="{FF2B5EF4-FFF2-40B4-BE49-F238E27FC236}">
                <a16:creationId xmlns:a16="http://schemas.microsoft.com/office/drawing/2014/main" id="{E4D840A9-9AF4-469B-8173-2796823C8AF1}"/>
              </a:ext>
            </a:extLst>
          </p:cNvPr>
          <p:cNvSpPr txBox="1"/>
          <p:nvPr/>
        </p:nvSpPr>
        <p:spPr>
          <a:xfrm>
            <a:off x="986155" y="4822176"/>
            <a:ext cx="9715160" cy="646331"/>
          </a:xfrm>
          <a:prstGeom prst="rect">
            <a:avLst/>
          </a:prstGeom>
          <a:noFill/>
        </p:spPr>
        <p:txBody>
          <a:bodyPr wrap="none" rtlCol="0">
            <a:spAutoFit/>
          </a:bodyPr>
          <a:lstStyle/>
          <a:p>
            <a:pPr marL="285750" indent="-285750">
              <a:buFont typeface="Wingdings" panose="05000000000000000000" pitchFamily="2" charset="2"/>
              <a:buChar char="Ø"/>
            </a:pPr>
            <a:r>
              <a:rPr lang="en-AU" dirty="0"/>
              <a:t>OMNIVORE weights are a big contribution to the gap</a:t>
            </a:r>
          </a:p>
          <a:p>
            <a:pPr marL="285750" indent="-285750">
              <a:buFont typeface="Wingdings" panose="05000000000000000000" pitchFamily="2" charset="2"/>
              <a:buChar char="Ø"/>
            </a:pPr>
            <a:r>
              <a:rPr lang="en-AU" dirty="0"/>
              <a:t>Off diagonal values in cosine similarity matrix seem to be the other main contributing factor</a:t>
            </a:r>
          </a:p>
        </p:txBody>
      </p:sp>
      <p:sp>
        <p:nvSpPr>
          <p:cNvPr id="7" name="Rechteck 6">
            <a:extLst>
              <a:ext uri="{FF2B5EF4-FFF2-40B4-BE49-F238E27FC236}">
                <a16:creationId xmlns:a16="http://schemas.microsoft.com/office/drawing/2014/main" id="{E6A3E9E9-EA90-4A13-8782-C805D93E4A1C}"/>
              </a:ext>
            </a:extLst>
          </p:cNvPr>
          <p:cNvSpPr/>
          <p:nvPr/>
        </p:nvSpPr>
        <p:spPr>
          <a:xfrm>
            <a:off x="4014281" y="4325568"/>
            <a:ext cx="4831404" cy="2399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4137490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a:xfrm>
            <a:off x="1048200" y="423797"/>
            <a:ext cx="10095600" cy="936800"/>
          </a:xfrm>
        </p:spPr>
        <p:txBody>
          <a:bodyPr/>
          <a:lstStyle/>
          <a:p>
            <a:r>
              <a:rPr lang="en-US" dirty="0"/>
              <a:t>Analysis</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33</a:t>
            </a:fld>
            <a:endParaRPr lang="en" kern="0">
              <a:solidFill>
                <a:srgbClr val="0091EA"/>
              </a:solidFill>
            </a:endParaRPr>
          </a:p>
        </p:txBody>
      </p:sp>
      <p:sp>
        <p:nvSpPr>
          <p:cNvPr id="6" name="Textfeld 5">
            <a:extLst>
              <a:ext uri="{FF2B5EF4-FFF2-40B4-BE49-F238E27FC236}">
                <a16:creationId xmlns:a16="http://schemas.microsoft.com/office/drawing/2014/main" id="{704E87F7-3197-41A8-93D1-1096A1B0BC75}"/>
              </a:ext>
            </a:extLst>
          </p:cNvPr>
          <p:cNvSpPr txBox="1"/>
          <p:nvPr/>
        </p:nvSpPr>
        <p:spPr>
          <a:xfrm>
            <a:off x="1251626" y="4669277"/>
            <a:ext cx="184731" cy="369332"/>
          </a:xfrm>
          <a:prstGeom prst="rect">
            <a:avLst/>
          </a:prstGeom>
          <a:noFill/>
        </p:spPr>
        <p:txBody>
          <a:bodyPr wrap="none" rtlCol="0">
            <a:spAutoFit/>
          </a:bodyPr>
          <a:lstStyle/>
          <a:p>
            <a:endParaRPr lang="de-DE" dirty="0"/>
          </a:p>
        </p:txBody>
      </p:sp>
      <p:pic>
        <p:nvPicPr>
          <p:cNvPr id="14" name="Grafik 13">
            <a:extLst>
              <a:ext uri="{FF2B5EF4-FFF2-40B4-BE49-F238E27FC236}">
                <a16:creationId xmlns:a16="http://schemas.microsoft.com/office/drawing/2014/main" id="{E9D5AC93-1D9C-4024-BC32-6696B7A40E5F}"/>
              </a:ext>
            </a:extLst>
          </p:cNvPr>
          <p:cNvPicPr>
            <a:picLocks noChangeAspect="1"/>
          </p:cNvPicPr>
          <p:nvPr/>
        </p:nvPicPr>
        <p:blipFill>
          <a:blip r:embed="rId2"/>
          <a:stretch>
            <a:fillRect/>
          </a:stretch>
        </p:blipFill>
        <p:spPr>
          <a:xfrm>
            <a:off x="854220" y="1885396"/>
            <a:ext cx="10483559" cy="3777011"/>
          </a:xfrm>
          <a:prstGeom prst="rect">
            <a:avLst/>
          </a:prstGeom>
        </p:spPr>
      </p:pic>
      <p:sp>
        <p:nvSpPr>
          <p:cNvPr id="3" name="Rechteck 2">
            <a:extLst>
              <a:ext uri="{FF2B5EF4-FFF2-40B4-BE49-F238E27FC236}">
                <a16:creationId xmlns:a16="http://schemas.microsoft.com/office/drawing/2014/main" id="{2B6EDE86-E972-4D1E-89D8-7FEF151C62FB}"/>
              </a:ext>
            </a:extLst>
          </p:cNvPr>
          <p:cNvSpPr/>
          <p:nvPr/>
        </p:nvSpPr>
        <p:spPr>
          <a:xfrm>
            <a:off x="791183" y="4156953"/>
            <a:ext cx="10642060" cy="15823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80521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a:xfrm>
            <a:off x="1048200" y="423797"/>
            <a:ext cx="10095600" cy="936800"/>
          </a:xfrm>
        </p:spPr>
        <p:txBody>
          <a:bodyPr/>
          <a:lstStyle/>
          <a:p>
            <a:r>
              <a:rPr lang="en-US" dirty="0"/>
              <a:t>Analysis</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34</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3950735"/>
            <a:ext cx="10095600" cy="4764800"/>
          </a:xfrm>
        </p:spPr>
        <p:txBody>
          <a:bodyPr/>
          <a:lstStyle/>
          <a:p>
            <a:endParaRPr lang="en-US" sz="2133" dirty="0"/>
          </a:p>
          <a:p>
            <a:endParaRPr lang="en-US" sz="2133" dirty="0"/>
          </a:p>
          <a:p>
            <a:endParaRPr lang="en-US" sz="2133" dirty="0"/>
          </a:p>
        </p:txBody>
      </p:sp>
      <p:sp>
        <p:nvSpPr>
          <p:cNvPr id="6" name="Textfeld 5">
            <a:extLst>
              <a:ext uri="{FF2B5EF4-FFF2-40B4-BE49-F238E27FC236}">
                <a16:creationId xmlns:a16="http://schemas.microsoft.com/office/drawing/2014/main" id="{704E87F7-3197-41A8-93D1-1096A1B0BC75}"/>
              </a:ext>
            </a:extLst>
          </p:cNvPr>
          <p:cNvSpPr txBox="1"/>
          <p:nvPr/>
        </p:nvSpPr>
        <p:spPr>
          <a:xfrm>
            <a:off x="1251626" y="4669277"/>
            <a:ext cx="184731" cy="369332"/>
          </a:xfrm>
          <a:prstGeom prst="rect">
            <a:avLst/>
          </a:prstGeom>
          <a:noFill/>
        </p:spPr>
        <p:txBody>
          <a:bodyPr wrap="none" rtlCol="0">
            <a:spAutoFit/>
          </a:bodyPr>
          <a:lstStyle/>
          <a:p>
            <a:endParaRPr lang="de-DE" dirty="0"/>
          </a:p>
        </p:txBody>
      </p:sp>
      <p:sp>
        <p:nvSpPr>
          <p:cNvPr id="7" name="Textfeld 6">
            <a:extLst>
              <a:ext uri="{FF2B5EF4-FFF2-40B4-BE49-F238E27FC236}">
                <a16:creationId xmlns:a16="http://schemas.microsoft.com/office/drawing/2014/main" id="{717A6911-A171-45E7-A2B9-9821155578C3}"/>
              </a:ext>
            </a:extLst>
          </p:cNvPr>
          <p:cNvSpPr txBox="1"/>
          <p:nvPr/>
        </p:nvSpPr>
        <p:spPr>
          <a:xfrm>
            <a:off x="849549" y="1679643"/>
            <a:ext cx="2044149" cy="369332"/>
          </a:xfrm>
          <a:prstGeom prst="rect">
            <a:avLst/>
          </a:prstGeom>
          <a:noFill/>
        </p:spPr>
        <p:txBody>
          <a:bodyPr wrap="none" rtlCol="0">
            <a:spAutoFit/>
          </a:bodyPr>
          <a:lstStyle/>
          <a:p>
            <a:r>
              <a:rPr lang="en-AU" dirty="0"/>
              <a:t>Cosine Distances </a:t>
            </a:r>
          </a:p>
        </p:txBody>
      </p:sp>
      <p:sp>
        <p:nvSpPr>
          <p:cNvPr id="11" name="Textfeld 10">
            <a:extLst>
              <a:ext uri="{FF2B5EF4-FFF2-40B4-BE49-F238E27FC236}">
                <a16:creationId xmlns:a16="http://schemas.microsoft.com/office/drawing/2014/main" id="{22FC73C0-D56B-4B28-8B06-C2672E64FE31}"/>
              </a:ext>
            </a:extLst>
          </p:cNvPr>
          <p:cNvSpPr txBox="1"/>
          <p:nvPr/>
        </p:nvSpPr>
        <p:spPr>
          <a:xfrm>
            <a:off x="6413222" y="1404791"/>
            <a:ext cx="4305409" cy="646331"/>
          </a:xfrm>
          <a:prstGeom prst="rect">
            <a:avLst/>
          </a:prstGeom>
          <a:noFill/>
        </p:spPr>
        <p:txBody>
          <a:bodyPr wrap="none" rtlCol="0">
            <a:spAutoFit/>
          </a:bodyPr>
          <a:lstStyle/>
          <a:p>
            <a:r>
              <a:rPr lang="en-AU" dirty="0"/>
              <a:t>True class cosine distance compared to </a:t>
            </a:r>
          </a:p>
          <a:p>
            <a:r>
              <a:rPr lang="en-AU" dirty="0"/>
              <a:t>average false class cosine distance</a:t>
            </a:r>
          </a:p>
        </p:txBody>
      </p:sp>
      <p:pic>
        <p:nvPicPr>
          <p:cNvPr id="8" name="Grafik 7">
            <a:extLst>
              <a:ext uri="{FF2B5EF4-FFF2-40B4-BE49-F238E27FC236}">
                <a16:creationId xmlns:a16="http://schemas.microsoft.com/office/drawing/2014/main" id="{05783600-BF98-461F-BBD9-0D0D562DFF2C}"/>
              </a:ext>
            </a:extLst>
          </p:cNvPr>
          <p:cNvPicPr>
            <a:picLocks noChangeAspect="1"/>
          </p:cNvPicPr>
          <p:nvPr/>
        </p:nvPicPr>
        <p:blipFill>
          <a:blip r:embed="rId2"/>
          <a:stretch>
            <a:fillRect/>
          </a:stretch>
        </p:blipFill>
        <p:spPr>
          <a:xfrm>
            <a:off x="198607" y="2422778"/>
            <a:ext cx="5787039" cy="3452728"/>
          </a:xfrm>
          <a:prstGeom prst="rect">
            <a:avLst/>
          </a:prstGeom>
        </p:spPr>
      </p:pic>
      <p:pic>
        <p:nvPicPr>
          <p:cNvPr id="9" name="Grafik 8">
            <a:extLst>
              <a:ext uri="{FF2B5EF4-FFF2-40B4-BE49-F238E27FC236}">
                <a16:creationId xmlns:a16="http://schemas.microsoft.com/office/drawing/2014/main" id="{51E85AD1-F7E8-4DF1-AB9E-49C41BDE633B}"/>
              </a:ext>
            </a:extLst>
          </p:cNvPr>
          <p:cNvPicPr>
            <a:picLocks noChangeAspect="1"/>
          </p:cNvPicPr>
          <p:nvPr/>
        </p:nvPicPr>
        <p:blipFill>
          <a:blip r:embed="rId3"/>
          <a:stretch>
            <a:fillRect/>
          </a:stretch>
        </p:blipFill>
        <p:spPr>
          <a:xfrm>
            <a:off x="5749534" y="2340359"/>
            <a:ext cx="5867507" cy="3535147"/>
          </a:xfrm>
          <a:prstGeom prst="rect">
            <a:avLst/>
          </a:prstGeom>
        </p:spPr>
      </p:pic>
    </p:spTree>
    <p:extLst>
      <p:ext uri="{BB962C8B-B14F-4D97-AF65-F5344CB8AC3E}">
        <p14:creationId xmlns:p14="http://schemas.microsoft.com/office/powerpoint/2010/main" val="984719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71BDB34-736B-466C-B885-ED66EDA8CCEE}"/>
              </a:ext>
            </a:extLst>
          </p:cNvPr>
          <p:cNvSpPr>
            <a:spLocks noGrp="1"/>
          </p:cNvSpPr>
          <p:nvPr>
            <p:ph type="sldNum" idx="12"/>
          </p:nvPr>
        </p:nvSpPr>
        <p:spPr/>
        <p:txBody>
          <a:bodyPr/>
          <a:lstStyle/>
          <a:p>
            <a:fld id="{00000000-1234-1234-1234-123412341234}" type="slidenum">
              <a:rPr lang="de-DE" smtClean="0"/>
              <a:pPr/>
              <a:t>35</a:t>
            </a:fld>
            <a:endParaRPr lang="de-DE"/>
          </a:p>
        </p:txBody>
      </p:sp>
      <p:pic>
        <p:nvPicPr>
          <p:cNvPr id="3" name="Grafik 2">
            <a:extLst>
              <a:ext uri="{FF2B5EF4-FFF2-40B4-BE49-F238E27FC236}">
                <a16:creationId xmlns:a16="http://schemas.microsoft.com/office/drawing/2014/main" id="{722FA061-1F3C-49B5-A4AE-1BE0F1712681}"/>
              </a:ext>
            </a:extLst>
          </p:cNvPr>
          <p:cNvPicPr>
            <a:picLocks noChangeAspect="1"/>
          </p:cNvPicPr>
          <p:nvPr/>
        </p:nvPicPr>
        <p:blipFill>
          <a:blip r:embed="rId2"/>
          <a:stretch>
            <a:fillRect/>
          </a:stretch>
        </p:blipFill>
        <p:spPr>
          <a:xfrm>
            <a:off x="1457325" y="638175"/>
            <a:ext cx="9277350" cy="5581650"/>
          </a:xfrm>
          <a:prstGeom prst="rect">
            <a:avLst/>
          </a:prstGeom>
        </p:spPr>
      </p:pic>
      <p:sp>
        <p:nvSpPr>
          <p:cNvPr id="4" name="Textfeld 3">
            <a:extLst>
              <a:ext uri="{FF2B5EF4-FFF2-40B4-BE49-F238E27FC236}">
                <a16:creationId xmlns:a16="http://schemas.microsoft.com/office/drawing/2014/main" id="{3E4437DA-D16C-48D2-81C1-88385EECC8E6}"/>
              </a:ext>
            </a:extLst>
          </p:cNvPr>
          <p:cNvSpPr txBox="1"/>
          <p:nvPr/>
        </p:nvSpPr>
        <p:spPr>
          <a:xfrm>
            <a:off x="1913106" y="3171217"/>
            <a:ext cx="1582484" cy="369332"/>
          </a:xfrm>
          <a:prstGeom prst="rect">
            <a:avLst/>
          </a:prstGeom>
          <a:noFill/>
        </p:spPr>
        <p:txBody>
          <a:bodyPr wrap="none" rtlCol="0">
            <a:spAutoFit/>
          </a:bodyPr>
          <a:lstStyle/>
          <a:p>
            <a:r>
              <a:rPr lang="de-DE" dirty="0"/>
              <a:t>Closing </a:t>
            </a:r>
            <a:r>
              <a:rPr lang="de-DE" dirty="0" err="1"/>
              <a:t>bottle</a:t>
            </a:r>
            <a:endParaRPr lang="de-DE" dirty="0"/>
          </a:p>
        </p:txBody>
      </p:sp>
      <p:sp>
        <p:nvSpPr>
          <p:cNvPr id="5" name="Textfeld 4">
            <a:extLst>
              <a:ext uri="{FF2B5EF4-FFF2-40B4-BE49-F238E27FC236}">
                <a16:creationId xmlns:a16="http://schemas.microsoft.com/office/drawing/2014/main" id="{C7027D2E-FECD-4414-BC5D-4236A6B62528}"/>
              </a:ext>
            </a:extLst>
          </p:cNvPr>
          <p:cNvSpPr txBox="1"/>
          <p:nvPr/>
        </p:nvSpPr>
        <p:spPr>
          <a:xfrm>
            <a:off x="3330102" y="2720503"/>
            <a:ext cx="1749197" cy="369332"/>
          </a:xfrm>
          <a:prstGeom prst="rect">
            <a:avLst/>
          </a:prstGeom>
          <a:noFill/>
        </p:spPr>
        <p:txBody>
          <a:bodyPr wrap="none" rtlCol="0">
            <a:spAutoFit/>
          </a:bodyPr>
          <a:lstStyle/>
          <a:p>
            <a:r>
              <a:rPr lang="de-DE" dirty="0"/>
              <a:t>Opening </a:t>
            </a:r>
            <a:r>
              <a:rPr lang="de-DE" dirty="0" err="1"/>
              <a:t>bottle</a:t>
            </a:r>
            <a:endParaRPr lang="de-DE" dirty="0"/>
          </a:p>
        </p:txBody>
      </p:sp>
      <p:sp>
        <p:nvSpPr>
          <p:cNvPr id="6" name="Textfeld 5">
            <a:extLst>
              <a:ext uri="{FF2B5EF4-FFF2-40B4-BE49-F238E27FC236}">
                <a16:creationId xmlns:a16="http://schemas.microsoft.com/office/drawing/2014/main" id="{D27B45FD-5039-4713-9290-BA6AC12AEC49}"/>
              </a:ext>
            </a:extLst>
          </p:cNvPr>
          <p:cNvSpPr txBox="1"/>
          <p:nvPr/>
        </p:nvSpPr>
        <p:spPr>
          <a:xfrm>
            <a:off x="6316494" y="1880682"/>
            <a:ext cx="1749197" cy="369332"/>
          </a:xfrm>
          <a:prstGeom prst="rect">
            <a:avLst/>
          </a:prstGeom>
          <a:noFill/>
        </p:spPr>
        <p:txBody>
          <a:bodyPr wrap="none" rtlCol="0">
            <a:spAutoFit/>
          </a:bodyPr>
          <a:lstStyle/>
          <a:p>
            <a:r>
              <a:rPr lang="de-DE" dirty="0"/>
              <a:t>Opening </a:t>
            </a:r>
            <a:r>
              <a:rPr lang="de-DE" dirty="0" err="1"/>
              <a:t>laptop</a:t>
            </a:r>
            <a:endParaRPr lang="de-DE" dirty="0"/>
          </a:p>
        </p:txBody>
      </p:sp>
      <p:sp>
        <p:nvSpPr>
          <p:cNvPr id="7" name="Textfeld 6">
            <a:extLst>
              <a:ext uri="{FF2B5EF4-FFF2-40B4-BE49-F238E27FC236}">
                <a16:creationId xmlns:a16="http://schemas.microsoft.com/office/drawing/2014/main" id="{AB4F7AB1-1508-4A26-8F97-2C1A55AE6586}"/>
              </a:ext>
            </a:extLst>
          </p:cNvPr>
          <p:cNvSpPr txBox="1"/>
          <p:nvPr/>
        </p:nvSpPr>
        <p:spPr>
          <a:xfrm>
            <a:off x="8878111" y="2250014"/>
            <a:ext cx="1646605" cy="646331"/>
          </a:xfrm>
          <a:prstGeom prst="rect">
            <a:avLst/>
          </a:prstGeom>
          <a:noFill/>
        </p:spPr>
        <p:txBody>
          <a:bodyPr wrap="none" rtlCol="0">
            <a:spAutoFit/>
          </a:bodyPr>
          <a:lstStyle/>
          <a:p>
            <a:r>
              <a:rPr lang="de-DE" dirty="0"/>
              <a:t>Closing </a:t>
            </a:r>
            <a:r>
              <a:rPr lang="de-DE" dirty="0" err="1"/>
              <a:t>laptop</a:t>
            </a:r>
            <a:endParaRPr lang="de-DE" dirty="0"/>
          </a:p>
          <a:p>
            <a:endParaRPr lang="de-DE" dirty="0"/>
          </a:p>
        </p:txBody>
      </p:sp>
      <p:sp>
        <p:nvSpPr>
          <p:cNvPr id="8" name="Textfeld 7">
            <a:extLst>
              <a:ext uri="{FF2B5EF4-FFF2-40B4-BE49-F238E27FC236}">
                <a16:creationId xmlns:a16="http://schemas.microsoft.com/office/drawing/2014/main" id="{A6963570-9672-451B-95F7-4341F744ECB8}"/>
              </a:ext>
            </a:extLst>
          </p:cNvPr>
          <p:cNvSpPr txBox="1"/>
          <p:nvPr/>
        </p:nvSpPr>
        <p:spPr>
          <a:xfrm>
            <a:off x="5583677" y="5226996"/>
            <a:ext cx="1223412" cy="369332"/>
          </a:xfrm>
          <a:prstGeom prst="rect">
            <a:avLst/>
          </a:prstGeom>
          <a:noFill/>
        </p:spPr>
        <p:txBody>
          <a:bodyPr wrap="none" rtlCol="0">
            <a:spAutoFit/>
          </a:bodyPr>
          <a:lstStyle/>
          <a:p>
            <a:r>
              <a:rPr lang="de-DE" dirty="0" err="1"/>
              <a:t>Sitting</a:t>
            </a:r>
            <a:r>
              <a:rPr lang="de-DE" dirty="0"/>
              <a:t> still</a:t>
            </a:r>
          </a:p>
        </p:txBody>
      </p:sp>
    </p:spTree>
    <p:extLst>
      <p:ext uri="{BB962C8B-B14F-4D97-AF65-F5344CB8AC3E}">
        <p14:creationId xmlns:p14="http://schemas.microsoft.com/office/powerpoint/2010/main" val="402758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Main Hypothesis</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36</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1443561"/>
            <a:ext cx="10095600" cy="4764800"/>
          </a:xfrm>
        </p:spPr>
        <p:txBody>
          <a:bodyPr/>
          <a:lstStyle/>
          <a:p>
            <a:pPr>
              <a:buFont typeface="+mj-lt"/>
              <a:buAutoNum type="arabicPeriod"/>
            </a:pPr>
            <a:r>
              <a:rPr lang="en-US" sz="2133" b="1" dirty="0"/>
              <a:t>Generalizability (Cross-Dataset)</a:t>
            </a:r>
            <a:r>
              <a:rPr lang="en-US" sz="2133" dirty="0"/>
              <a:t>: Encoders aligned on NTU outperform those aligned on DAA in a LEP</a:t>
            </a:r>
          </a:p>
          <a:p>
            <a:pPr>
              <a:buFont typeface="+mj-lt"/>
              <a:buAutoNum type="arabicPeriod"/>
            </a:pPr>
            <a:r>
              <a:rPr lang="en-US" sz="2133" b="1" dirty="0"/>
              <a:t>Convergence Improvements</a:t>
            </a:r>
            <a:r>
              <a:rPr lang="en-US" sz="2133" dirty="0"/>
              <a:t>: Initializing alignment with modality specific pretrained encoders improves loss convergence (and subsequently LEP performance)</a:t>
            </a:r>
          </a:p>
          <a:p>
            <a:pPr>
              <a:buFont typeface="+mj-lt"/>
              <a:buAutoNum type="arabicPeriod"/>
            </a:pPr>
            <a:r>
              <a:rPr lang="en-US" sz="2133" b="1" dirty="0"/>
              <a:t>Pairwise vs. Fully Integrated Alignment (to RGB) </a:t>
            </a:r>
            <a:r>
              <a:rPr lang="en-US" sz="2133" dirty="0"/>
              <a:t>: Fully integrated alignment outperforms pairwise alignment in a LEP</a:t>
            </a:r>
          </a:p>
          <a:p>
            <a:pPr>
              <a:buFont typeface="+mj-lt"/>
              <a:buAutoNum type="arabicPeriod"/>
            </a:pPr>
            <a:r>
              <a:rPr lang="en-US" sz="2133" b="1" dirty="0"/>
              <a:t>Emergent Textual Alignment: </a:t>
            </a:r>
            <a:r>
              <a:rPr lang="en-US" sz="2133" dirty="0"/>
              <a:t>Aligning multimodal and textual data may reach the effectiveness of linear classifiers</a:t>
            </a:r>
            <a:endParaRPr lang="en-US" sz="2133" b="1" dirty="0"/>
          </a:p>
          <a:p>
            <a:pPr>
              <a:buFont typeface="+mj-lt"/>
              <a:buAutoNum type="arabicPeriod"/>
            </a:pPr>
            <a:r>
              <a:rPr lang="en-US" sz="2133" b="1" dirty="0"/>
              <a:t>One-Way vs Mutual Adaptability: </a:t>
            </a:r>
            <a:r>
              <a:rPr lang="en-US" sz="2133" dirty="0"/>
              <a:t>Aligning a basic modality encoder to a more sophisticated, pretrained one may improve downstream task results compared to allowing two pretrained encoders to adapt to each other</a:t>
            </a:r>
            <a:endParaRPr lang="en-US" sz="2133" b="1" dirty="0"/>
          </a:p>
        </p:txBody>
      </p:sp>
    </p:spTree>
    <p:extLst>
      <p:ext uri="{BB962C8B-B14F-4D97-AF65-F5344CB8AC3E}">
        <p14:creationId xmlns:p14="http://schemas.microsoft.com/office/powerpoint/2010/main" val="3474426308"/>
      </p:ext>
    </p:extLst>
  </p:cSld>
  <p:clrMapOvr>
    <a:masterClrMapping/>
  </p:clrMapOvr>
  <p:transition>
    <p:fade thruBlk="1"/>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Generalizability (Cross-Dataset)</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37</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1347628"/>
            <a:ext cx="9994555" cy="4751514"/>
          </a:xfrm>
        </p:spPr>
        <p:txBody>
          <a:bodyPr/>
          <a:lstStyle/>
          <a:p>
            <a:pPr marL="101598" indent="0">
              <a:buNone/>
            </a:pPr>
            <a:r>
              <a:rPr lang="en-US" sz="1400" b="1" dirty="0"/>
              <a:t>Results:</a:t>
            </a:r>
          </a:p>
          <a:p>
            <a:r>
              <a:rPr lang="en-US" sz="1400" dirty="0"/>
              <a:t>The encoders aligned to the "base" version of the CLIP-VIP model shows better generalizability across datasets compared to fine-tuned versions. Because they outperform the encoders aligned on DAA while the ones aligned to the fine tuned version do not</a:t>
            </a:r>
          </a:p>
          <a:p>
            <a:r>
              <a:rPr lang="en-US" sz="1400" dirty="0"/>
              <a:t>Fine-tuning on NTU </a:t>
            </a:r>
            <a:r>
              <a:rPr lang="en-US" sz="1400" b="1" dirty="0"/>
              <a:t>only </a:t>
            </a:r>
            <a:r>
              <a:rPr lang="en-US" sz="1400" dirty="0"/>
              <a:t>improved RGB encoder performance by approximately 11 percentage points over the base model, while fine-tuning on DAA led to a 16 percentage point improvement. </a:t>
            </a:r>
          </a:p>
          <a:p>
            <a:r>
              <a:rPr lang="en-US" sz="1400" dirty="0"/>
              <a:t>Encoders for modalities other than RGB, when aligned against fine-tuned versions, exhibited poor generalizability.</a:t>
            </a:r>
          </a:p>
          <a:p>
            <a:pPr marL="101598" indent="0">
              <a:buNone/>
            </a:pPr>
            <a:r>
              <a:rPr lang="en-US" sz="1400" b="1" dirty="0"/>
              <a:t>Interpretation:</a:t>
            </a:r>
          </a:p>
          <a:p>
            <a:r>
              <a:rPr lang="en-US" sz="1400" dirty="0"/>
              <a:t>The experiment demonstrates that the generalizability inherent in the CLIP-VIP base model, thanks to its diverse pretraining, can be partially transferred to other modalities aligned with it. This suggests that aligning new modality encoders to the base CLIP-VIP representations not only utilizes its robust feature representations but also imparts some of its capacity to generalize across datasets to these new modalities. However, this transfer of generalizability is less effective with fine-tuned versions</a:t>
            </a:r>
          </a:p>
          <a:p>
            <a:r>
              <a:rPr lang="en-US" sz="1400" dirty="0"/>
              <a:t>The diminished generalizability of fine-tuned models indicates that fine-tuning either lacks diversity in screen descriptions or does not have a sufficient size, thereby reducing its applicability to other datasets. This effect is particularly pronounced in modalities other than RGB.</a:t>
            </a:r>
          </a:p>
        </p:txBody>
      </p:sp>
    </p:spTree>
    <p:extLst>
      <p:ext uri="{BB962C8B-B14F-4D97-AF65-F5344CB8AC3E}">
        <p14:creationId xmlns:p14="http://schemas.microsoft.com/office/powerpoint/2010/main" val="3010663969"/>
      </p:ext>
    </p:extLst>
  </p:cSld>
  <p:clrMapOvr>
    <a:masterClrMapping/>
  </p:clrMapOvr>
  <p:transition>
    <p:fade thruBlk="1"/>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de-DE" b="1" dirty="0" err="1"/>
              <a:t>Convergence</a:t>
            </a:r>
            <a:r>
              <a:rPr lang="de-DE" b="1" dirty="0"/>
              <a:t> </a:t>
            </a:r>
            <a:r>
              <a:rPr lang="de-DE" b="1" dirty="0" err="1"/>
              <a:t>Improvements</a:t>
            </a:r>
            <a:br>
              <a:rPr lang="de-DE" b="1" dirty="0"/>
            </a:br>
            <a:endParaRPr lang="de-DE"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38</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1347628"/>
            <a:ext cx="9994555" cy="4552505"/>
          </a:xfrm>
        </p:spPr>
        <p:txBody>
          <a:bodyPr/>
          <a:lstStyle/>
          <a:p>
            <a:pPr marL="101598" indent="0">
              <a:buNone/>
            </a:pPr>
            <a:r>
              <a:rPr lang="en-US" sz="1867" b="1" dirty="0"/>
              <a:t>Results:</a:t>
            </a:r>
          </a:p>
          <a:p>
            <a:r>
              <a:rPr lang="en-US" sz="1400" dirty="0"/>
              <a:t>Using modality-specific pretrained encoders for alignment improves the efficiency of the alignment process, particularly for infrared and depth modalities.</a:t>
            </a:r>
          </a:p>
          <a:p>
            <a:r>
              <a:rPr lang="en-US" sz="1400" dirty="0"/>
              <a:t>The pretrained skeleton model shows limitations due to dataset-specific variations in joint configurations, impacting the effectiveness of using these weights for alignment.</a:t>
            </a:r>
          </a:p>
          <a:p>
            <a:r>
              <a:rPr lang="en-US" sz="1400" dirty="0"/>
              <a:t>Modality-specific Masked-Auto-Encoders(MAEs) are better than using a generic CLIP-VIP model but fall short of more advanced models like Omnivore.</a:t>
            </a:r>
          </a:p>
          <a:p>
            <a:r>
              <a:rPr lang="en-US" sz="1400" dirty="0"/>
              <a:t>Performance parity between IR, depth, and RGB is achieved on NTU, but a performance gap remains on DAA.</a:t>
            </a:r>
          </a:p>
          <a:p>
            <a:pPr marL="101598" indent="0">
              <a:buNone/>
            </a:pPr>
            <a:r>
              <a:rPr lang="en-US" sz="1870" b="1" dirty="0"/>
              <a:t>Interpretation:</a:t>
            </a:r>
          </a:p>
          <a:p>
            <a:r>
              <a:rPr lang="en-US" sz="1400" dirty="0"/>
              <a:t>The weights of the Omnivore model are quite adaptable and work well in the alignment context</a:t>
            </a:r>
          </a:p>
          <a:p>
            <a:r>
              <a:rPr lang="en-US" sz="1400" dirty="0"/>
              <a:t>CLIP-VIP weights are efficient for learning skeleton data (on NTU)</a:t>
            </a:r>
          </a:p>
        </p:txBody>
      </p:sp>
    </p:spTree>
    <p:extLst>
      <p:ext uri="{BB962C8B-B14F-4D97-AF65-F5344CB8AC3E}">
        <p14:creationId xmlns:p14="http://schemas.microsoft.com/office/powerpoint/2010/main" val="4207061704"/>
      </p:ext>
    </p:extLst>
  </p:cSld>
  <p:clrMapOvr>
    <a:masterClrMapping/>
  </p:clrMapOvr>
  <p:transition>
    <p:fade thruBlk="1"/>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b="1" dirty="0"/>
              <a:t>Pairwise vs. Fully Integrated Alignment (to RGB)</a:t>
            </a:r>
            <a:endParaRPr lang="de-DE"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39</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1347628"/>
            <a:ext cx="9994555" cy="4552505"/>
          </a:xfrm>
        </p:spPr>
        <p:txBody>
          <a:bodyPr/>
          <a:lstStyle/>
          <a:p>
            <a:pPr marL="101598" indent="0">
              <a:buNone/>
            </a:pPr>
            <a:r>
              <a:rPr lang="en-US" sz="1867" b="1" dirty="0"/>
              <a:t>Results:</a:t>
            </a:r>
          </a:p>
          <a:p>
            <a:r>
              <a:rPr lang="en-US" sz="1400" dirty="0"/>
              <a:t>Fully integrated alignment outperforms pairwise alignment in terms of LEP performance, but this advantage is primarily observed with the base model representations rather than fine-tuned versions on NTU.</a:t>
            </a:r>
          </a:p>
          <a:p>
            <a:r>
              <a:rPr lang="en-US" sz="1400" dirty="0"/>
              <a:t>The advantages of fully integrated alignment were not observed on DAA</a:t>
            </a:r>
          </a:p>
          <a:p>
            <a:pPr marL="101598" indent="0">
              <a:buNone/>
            </a:pPr>
            <a:r>
              <a:rPr lang="en-US" sz="1870" b="1" dirty="0"/>
              <a:t>Interpretation:</a:t>
            </a:r>
          </a:p>
          <a:p>
            <a:r>
              <a:rPr lang="en-US" sz="1400" dirty="0"/>
              <a:t>The differences on DAA are possibly  due to lower data quality or the complexity of skeleton data.</a:t>
            </a:r>
          </a:p>
          <a:p>
            <a:r>
              <a:rPr lang="en-US" sz="1400" dirty="0"/>
              <a:t>The benefit of fully integrated alignment suggests that a holistic approach to learning from multiple modalities simultaneously can lead to richer, more generalizable representations. But this depends on having a model that is able to extract such representations that you can align to.</a:t>
            </a:r>
          </a:p>
          <a:p>
            <a:r>
              <a:rPr lang="en-US" sz="1400" dirty="0"/>
              <a:t>The success in dealing with missing sensor data scenarios largely relies on the quality of the basic representations used for alignment.</a:t>
            </a:r>
            <a:endParaRPr lang="en-US" sz="1870" dirty="0"/>
          </a:p>
        </p:txBody>
      </p:sp>
    </p:spTree>
    <p:extLst>
      <p:ext uri="{BB962C8B-B14F-4D97-AF65-F5344CB8AC3E}">
        <p14:creationId xmlns:p14="http://schemas.microsoft.com/office/powerpoint/2010/main" val="1767097237"/>
      </p:ext>
    </p:extLst>
  </p:cSld>
  <p:clrMapOvr>
    <a:masterClrMapping/>
  </p:clrMapOvr>
  <p:transition>
    <p:fade thruBlk="1"/>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de-DE" b="1" dirty="0"/>
              <a:t>Emergent </a:t>
            </a:r>
            <a:r>
              <a:rPr lang="de-DE" b="1" dirty="0" err="1"/>
              <a:t>Textual</a:t>
            </a:r>
            <a:r>
              <a:rPr lang="de-DE" b="1" dirty="0"/>
              <a:t> Alignment</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40</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1347628"/>
            <a:ext cx="9994555" cy="4552505"/>
          </a:xfrm>
        </p:spPr>
        <p:txBody>
          <a:bodyPr/>
          <a:lstStyle/>
          <a:p>
            <a:pPr marL="101598" indent="0">
              <a:buNone/>
            </a:pPr>
            <a:r>
              <a:rPr lang="en-US" sz="1867" b="1" dirty="0"/>
              <a:t>Results:</a:t>
            </a:r>
          </a:p>
          <a:p>
            <a:r>
              <a:rPr lang="en-US" sz="1867" b="1" dirty="0"/>
              <a:t>j</a:t>
            </a:r>
          </a:p>
          <a:p>
            <a:pPr marL="101598" indent="0">
              <a:buNone/>
            </a:pPr>
            <a:r>
              <a:rPr lang="en-US" sz="1870" b="1" dirty="0"/>
              <a:t>Interpretation:</a:t>
            </a:r>
          </a:p>
          <a:p>
            <a:r>
              <a:rPr lang="en-US" sz="1400" dirty="0"/>
              <a:t>The weights of the Omnivore model are quite adaptable and work well in the alignment context</a:t>
            </a:r>
          </a:p>
        </p:txBody>
      </p:sp>
    </p:spTree>
    <p:extLst>
      <p:ext uri="{BB962C8B-B14F-4D97-AF65-F5344CB8AC3E}">
        <p14:creationId xmlns:p14="http://schemas.microsoft.com/office/powerpoint/2010/main" val="340751205"/>
      </p:ext>
    </p:extLst>
  </p:cSld>
  <p:clrMapOvr>
    <a:masterClrMapping/>
  </p:clrMapOvr>
  <p:transition>
    <p:fade thruBlk="1"/>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de-DE" b="1" dirty="0" err="1"/>
              <a:t>One</a:t>
            </a:r>
            <a:r>
              <a:rPr lang="de-DE" b="1" dirty="0"/>
              <a:t>-Way </a:t>
            </a:r>
            <a:r>
              <a:rPr lang="de-DE" b="1" dirty="0" err="1"/>
              <a:t>vs</a:t>
            </a:r>
            <a:r>
              <a:rPr lang="de-DE" b="1" dirty="0"/>
              <a:t> Mutual </a:t>
            </a:r>
            <a:r>
              <a:rPr lang="de-DE" b="1" dirty="0" err="1"/>
              <a:t>Adaptability</a:t>
            </a:r>
            <a:endParaRPr lang="de-DE" b="1" dirty="0"/>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41</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1347628"/>
            <a:ext cx="9994555" cy="4552505"/>
          </a:xfrm>
        </p:spPr>
        <p:txBody>
          <a:bodyPr/>
          <a:lstStyle/>
          <a:p>
            <a:pPr marL="101598" indent="0">
              <a:buNone/>
            </a:pPr>
            <a:r>
              <a:rPr lang="en-US" sz="1867" b="1" dirty="0"/>
              <a:t>Results:</a:t>
            </a:r>
          </a:p>
          <a:p>
            <a:r>
              <a:rPr lang="en-US" sz="1400" dirty="0"/>
              <a:t>Aligning a basic modality encoder (RGB) to a more sophisticated, pretrained one (Omnivore) improved target modality performance but worsened RGB performance.</a:t>
            </a:r>
          </a:p>
          <a:p>
            <a:pPr marL="101598" indent="0">
              <a:buNone/>
            </a:pPr>
            <a:r>
              <a:rPr lang="en-US" sz="1870" b="1" dirty="0"/>
              <a:t>Interpretation:</a:t>
            </a:r>
          </a:p>
          <a:p>
            <a:r>
              <a:rPr lang="en-US" sz="1400" dirty="0"/>
              <a:t>This experiment highlights the challenges and considerations in balancing the adaptability and specialization of models in multimodal learning scenarios.</a:t>
            </a:r>
          </a:p>
          <a:p>
            <a:r>
              <a:rPr lang="en-US" sz="1400" dirty="0"/>
              <a:t>The improvement in target modality performance at the expense of RGB performance suggests a need for careful calibration of learning objectives and alignment strategies to optimize overall system performance.</a:t>
            </a:r>
          </a:p>
        </p:txBody>
      </p:sp>
    </p:spTree>
    <p:extLst>
      <p:ext uri="{BB962C8B-B14F-4D97-AF65-F5344CB8AC3E}">
        <p14:creationId xmlns:p14="http://schemas.microsoft.com/office/powerpoint/2010/main" val="4026603011"/>
      </p:ext>
    </p:extLst>
  </p:cSld>
  <p:clrMapOvr>
    <a:masterClrMapping/>
  </p:clrMapOvr>
  <p:transition>
    <p:fade thruBlk="1"/>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42</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1347628"/>
            <a:ext cx="9994555" cy="4552505"/>
          </a:xfrm>
        </p:spPr>
        <p:txBody>
          <a:bodyPr/>
          <a:lstStyle/>
          <a:p>
            <a:r>
              <a:rPr lang="en-US" sz="1867" b="1" dirty="0"/>
              <a:t>Pairwise vs. Fully Integrated Alignment (to RGB) </a:t>
            </a:r>
            <a:r>
              <a:rPr lang="en-US" sz="1867" dirty="0"/>
              <a:t>:</a:t>
            </a:r>
          </a:p>
          <a:p>
            <a:pPr marL="101598" indent="0">
              <a:buNone/>
            </a:pPr>
            <a:r>
              <a:rPr lang="en-US" sz="2000" dirty="0"/>
              <a:t>Fully Integrated alignment yields benefits primarily when oriented towards rich, foundational representations rather than those refined through fine-tuning on NTU.</a:t>
            </a:r>
            <a:br>
              <a:rPr lang="en-US" sz="2000" dirty="0"/>
            </a:br>
            <a:r>
              <a:rPr lang="en-US" sz="2000" dirty="0"/>
              <a:t>The same cannot be </a:t>
            </a:r>
            <a:r>
              <a:rPr lang="en-US" sz="2000" dirty="0" err="1"/>
              <a:t>oberserved</a:t>
            </a:r>
            <a:r>
              <a:rPr lang="en-US" sz="2000" dirty="0"/>
              <a:t> for DAA most likely because the skeleton data is to hard or has to low data quality.</a:t>
            </a:r>
          </a:p>
          <a:p>
            <a:pPr marL="101598" indent="0">
              <a:buNone/>
            </a:pPr>
            <a:endParaRPr lang="en-US" sz="2000" dirty="0"/>
          </a:p>
          <a:p>
            <a:pPr marL="101598" indent="0">
              <a:buNone/>
            </a:pPr>
            <a:r>
              <a:rPr lang="en-US" sz="2000" dirty="0"/>
              <a:t>This is an requirement for improved  missing sensor performance. Since it only works to extract information from modalities during training when you have at least one very strong and general  encoder to bind to it is rather difficult to </a:t>
            </a:r>
            <a:r>
              <a:rPr lang="en-US" sz="2000" dirty="0" err="1"/>
              <a:t>extact</a:t>
            </a:r>
            <a:r>
              <a:rPr lang="en-US" sz="2000" dirty="0"/>
              <a:t> something that has a chance to beat </a:t>
            </a:r>
            <a:r>
              <a:rPr lang="en-US" sz="2000" dirty="0" err="1"/>
              <a:t>sota</a:t>
            </a:r>
            <a:r>
              <a:rPr lang="en-US" sz="2000" dirty="0"/>
              <a:t> approaches or end to end trained modality specific models</a:t>
            </a:r>
          </a:p>
          <a:p>
            <a:pPr marL="101598" indent="0">
              <a:buNone/>
            </a:pPr>
            <a:endParaRPr lang="en-US" sz="1867" dirty="0"/>
          </a:p>
          <a:p>
            <a:pPr marL="101598" indent="0">
              <a:buNone/>
            </a:pPr>
            <a:endParaRPr lang="en-US" sz="1867" dirty="0"/>
          </a:p>
        </p:txBody>
      </p:sp>
    </p:spTree>
    <p:extLst>
      <p:ext uri="{BB962C8B-B14F-4D97-AF65-F5344CB8AC3E}">
        <p14:creationId xmlns:p14="http://schemas.microsoft.com/office/powerpoint/2010/main" val="1158006434"/>
      </p:ext>
    </p:extLst>
  </p:cSld>
  <p:clrMapOvr>
    <a:masterClrMapping/>
  </p:clrMapOvr>
  <p:transition>
    <p:fade thruBlk="1"/>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43</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1347628"/>
            <a:ext cx="9994555" cy="4552505"/>
          </a:xfrm>
        </p:spPr>
        <p:txBody>
          <a:bodyPr/>
          <a:lstStyle/>
          <a:p>
            <a:r>
              <a:rPr lang="en-US" sz="1867" b="1" dirty="0"/>
              <a:t>Emergent Textual Alignment:</a:t>
            </a:r>
          </a:p>
          <a:p>
            <a:pPr marL="101598" indent="0">
              <a:buNone/>
            </a:pPr>
            <a:r>
              <a:rPr lang="en-US" sz="1867" b="1" dirty="0"/>
              <a:t>	</a:t>
            </a:r>
            <a:r>
              <a:rPr lang="en-US" sz="1867" dirty="0"/>
              <a:t>Relies on having a fine tuned text encoder.</a:t>
            </a:r>
          </a:p>
          <a:p>
            <a:pPr marL="101598" indent="0">
              <a:buNone/>
            </a:pPr>
            <a:r>
              <a:rPr lang="en-US" sz="1867" b="1" dirty="0"/>
              <a:t>	</a:t>
            </a:r>
            <a:r>
              <a:rPr lang="en-US" sz="1867" dirty="0"/>
              <a:t>Is roughly 10-20% behind modality specific trained classifiers.</a:t>
            </a:r>
          </a:p>
        </p:txBody>
      </p:sp>
    </p:spTree>
    <p:extLst>
      <p:ext uri="{BB962C8B-B14F-4D97-AF65-F5344CB8AC3E}">
        <p14:creationId xmlns:p14="http://schemas.microsoft.com/office/powerpoint/2010/main" val="108354718"/>
      </p:ext>
    </p:extLst>
  </p:cSld>
  <p:clrMapOvr>
    <a:masterClrMapping/>
  </p:clrMapOvr>
  <p:transition>
    <p:fade thruBlk="1"/>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C056-BEDF-36C2-BFB4-3952D0FA9526}"/>
              </a:ext>
            </a:extLst>
          </p:cNvPr>
          <p:cNvSpPr>
            <a:spLocks noGrp="1"/>
          </p:cNvSpPr>
          <p:nvPr>
            <p:ph type="title"/>
          </p:nvPr>
        </p:nvSpPr>
        <p:spPr/>
        <p:txBody>
          <a:bodyPr/>
          <a:lstStyle/>
          <a:p>
            <a:r>
              <a:rPr lang="en-US" dirty="0"/>
              <a:t>Results</a:t>
            </a:r>
          </a:p>
        </p:txBody>
      </p:sp>
      <p:sp>
        <p:nvSpPr>
          <p:cNvPr id="4" name="Slide Number Placeholder 3">
            <a:extLst>
              <a:ext uri="{FF2B5EF4-FFF2-40B4-BE49-F238E27FC236}">
                <a16:creationId xmlns:a16="http://schemas.microsoft.com/office/drawing/2014/main" id="{47DF9535-1E5A-7DC3-7FB5-6DA075BBEF84}"/>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91EA"/>
                </a:solidFill>
              </a:rPr>
              <a:pPr defTabSz="1219170">
                <a:buClr>
                  <a:srgbClr val="000000"/>
                </a:buClr>
              </a:pPr>
              <a:t>44</a:t>
            </a:fld>
            <a:endParaRPr lang="en" kern="0">
              <a:solidFill>
                <a:srgbClr val="0091EA"/>
              </a:solidFill>
            </a:endParaRPr>
          </a:p>
        </p:txBody>
      </p:sp>
      <p:sp>
        <p:nvSpPr>
          <p:cNvPr id="36" name="Text Placeholder 2">
            <a:extLst>
              <a:ext uri="{FF2B5EF4-FFF2-40B4-BE49-F238E27FC236}">
                <a16:creationId xmlns:a16="http://schemas.microsoft.com/office/drawing/2014/main" id="{EFC00D43-D197-43D2-8860-41DFBFDFF0C1}"/>
              </a:ext>
            </a:extLst>
          </p:cNvPr>
          <p:cNvSpPr>
            <a:spLocks noGrp="1"/>
          </p:cNvSpPr>
          <p:nvPr>
            <p:ph type="body" idx="1"/>
          </p:nvPr>
        </p:nvSpPr>
        <p:spPr>
          <a:xfrm>
            <a:off x="1048200" y="1347628"/>
            <a:ext cx="9994555" cy="4552505"/>
          </a:xfrm>
        </p:spPr>
        <p:txBody>
          <a:bodyPr/>
          <a:lstStyle/>
          <a:p>
            <a:r>
              <a:rPr lang="en-US" sz="1867" b="1" dirty="0"/>
              <a:t>One-Way vs Mutual Adaptability:</a:t>
            </a:r>
          </a:p>
          <a:p>
            <a:pPr marL="711182" lvl="1" indent="0">
              <a:buNone/>
            </a:pPr>
            <a:r>
              <a:rPr lang="en-US" sz="1867" b="1" dirty="0"/>
              <a:t>Done </a:t>
            </a:r>
            <a:r>
              <a:rPr lang="en-US" sz="1867" dirty="0"/>
              <a:t>1 weird sample run</a:t>
            </a:r>
            <a:endParaRPr lang="en-US" sz="1867" b="1" dirty="0"/>
          </a:p>
          <a:p>
            <a:pPr marL="711182" lvl="1" indent="0">
              <a:buNone/>
            </a:pPr>
            <a:r>
              <a:rPr lang="en-US" sz="1867" b="1" dirty="0"/>
              <a:t>Open </a:t>
            </a:r>
            <a:r>
              <a:rPr lang="en-US" sz="1867" dirty="0"/>
              <a:t>everything</a:t>
            </a:r>
            <a:endParaRPr lang="en-US" sz="1867" b="1" dirty="0"/>
          </a:p>
        </p:txBody>
      </p:sp>
    </p:spTree>
    <p:extLst>
      <p:ext uri="{BB962C8B-B14F-4D97-AF65-F5344CB8AC3E}">
        <p14:creationId xmlns:p14="http://schemas.microsoft.com/office/powerpoint/2010/main" val="1418425169"/>
      </p:ext>
    </p:extLst>
  </p:cSld>
  <p:clrMapOvr>
    <a:masterClrMapping/>
  </p:clrMapOvr>
  <p:transition>
    <p:fade thruBlk="1"/>
  </p:transition>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2243</Words>
  <Application>Microsoft Office PowerPoint</Application>
  <PresentationFormat>Breitbild</PresentationFormat>
  <Paragraphs>337</Paragraphs>
  <Slides>44</Slides>
  <Notes>12</Notes>
  <HiddenSlides>12</HiddenSlides>
  <MMClips>0</MMClips>
  <ScaleCrop>false</ScaleCrop>
  <HeadingPairs>
    <vt:vector size="6" baseType="variant">
      <vt:variant>
        <vt:lpstr>Verwendete Schriftarten</vt:lpstr>
      </vt:variant>
      <vt:variant>
        <vt:i4>7</vt:i4>
      </vt:variant>
      <vt:variant>
        <vt:lpstr>Design</vt:lpstr>
      </vt:variant>
      <vt:variant>
        <vt:i4>3</vt:i4>
      </vt:variant>
      <vt:variant>
        <vt:lpstr>Folientitel</vt:lpstr>
      </vt:variant>
      <vt:variant>
        <vt:i4>44</vt:i4>
      </vt:variant>
    </vt:vector>
  </HeadingPairs>
  <TitlesOfParts>
    <vt:vector size="54" baseType="lpstr">
      <vt:lpstr>Arial</vt:lpstr>
      <vt:lpstr>Calibri</vt:lpstr>
      <vt:lpstr>Calibri Light</vt:lpstr>
      <vt:lpstr>Roboto Slab</vt:lpstr>
      <vt:lpstr>Source Sans Pro</vt:lpstr>
      <vt:lpstr>Times New Roman</vt:lpstr>
      <vt:lpstr>Wingdings</vt:lpstr>
      <vt:lpstr>Office</vt:lpstr>
      <vt:lpstr>Cordelia template</vt:lpstr>
      <vt:lpstr>1_Cordelia template</vt:lpstr>
      <vt:lpstr>Cross-Modal Video Representation Alignment for Robust Action Recognition</vt:lpstr>
      <vt:lpstr>PowerPoint-Präsentation</vt:lpstr>
      <vt:lpstr>Introduction</vt:lpstr>
      <vt:lpstr>Representation Learning</vt:lpstr>
      <vt:lpstr>Representation Learning- Choosing a Suitable Model</vt:lpstr>
      <vt:lpstr>Datasets</vt:lpstr>
      <vt:lpstr>Approach  CMVRA</vt:lpstr>
      <vt:lpstr>Approach  CMVRA</vt:lpstr>
      <vt:lpstr>CMVRA Hypotheses </vt:lpstr>
      <vt:lpstr>CMVRA Hypotheses </vt:lpstr>
      <vt:lpstr>Results Effective alignment strategies</vt:lpstr>
      <vt:lpstr>Pairwise vs. Fully Integrated Alignment (to RGB)</vt:lpstr>
      <vt:lpstr>Results Pairwise vs. Fully Integrated Alignment </vt:lpstr>
      <vt:lpstr>Results Successful self alignment improves alignment towards text</vt:lpstr>
      <vt:lpstr>Results Self Alignment and LLaVa generated captions</vt:lpstr>
      <vt:lpstr>Results Fusion</vt:lpstr>
      <vt:lpstr>Results  Conclusions</vt:lpstr>
      <vt:lpstr>Thanks!</vt:lpstr>
      <vt:lpstr>Results Beating sota on DAA ZS benchmark</vt:lpstr>
      <vt:lpstr>Results Fusion</vt:lpstr>
      <vt:lpstr>1. Convergence Improvements</vt:lpstr>
      <vt:lpstr>Results Improving Alignment Convergence</vt:lpstr>
      <vt:lpstr>2. One-Way vs Mutual Adaptability</vt:lpstr>
      <vt:lpstr>Results One-Way outperforms Mutual Adaptability</vt:lpstr>
      <vt:lpstr>3. Pairwise vs. Fully Integrated Alignment (to RGB)</vt:lpstr>
      <vt:lpstr>4. Generalizability (Cross-Dataset)</vt:lpstr>
      <vt:lpstr>Results Generalizability (Cross-Dataset)</vt:lpstr>
      <vt:lpstr>Results Generalizability (Cross-View)</vt:lpstr>
      <vt:lpstr>5. Emergent Textual Alignment</vt:lpstr>
      <vt:lpstr>Results Emergent Textual Alignment</vt:lpstr>
      <vt:lpstr>Fusion</vt:lpstr>
      <vt:lpstr>Analysis</vt:lpstr>
      <vt:lpstr>Analysis</vt:lpstr>
      <vt:lpstr>Analysis</vt:lpstr>
      <vt:lpstr>PowerPoint-Präsentation</vt:lpstr>
      <vt:lpstr>Main Hypothesis</vt:lpstr>
      <vt:lpstr>Generalizability (Cross-Dataset)</vt:lpstr>
      <vt:lpstr>Convergence Improvements </vt:lpstr>
      <vt:lpstr>Pairwise vs. Fully Integrated Alignment (to RGB)</vt:lpstr>
      <vt:lpstr>Emergent Textual Alignment</vt:lpstr>
      <vt:lpstr>One-Way vs Mutual Adaptability</vt:lpstr>
      <vt:lpstr>Results</vt:lpstr>
      <vt:lpstr>Results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Robust Aligned Representations Across Multiple Visual Modalities in Human Action Recognition</dc:title>
  <dc:creator>Rothenburger, Bastian</dc:creator>
  <cp:lastModifiedBy>Rothenburger, Bastian</cp:lastModifiedBy>
  <cp:revision>134</cp:revision>
  <dcterms:created xsi:type="dcterms:W3CDTF">2024-03-05T12:10:06Z</dcterms:created>
  <dcterms:modified xsi:type="dcterms:W3CDTF">2024-07-31T10:49:15Z</dcterms:modified>
</cp:coreProperties>
</file>